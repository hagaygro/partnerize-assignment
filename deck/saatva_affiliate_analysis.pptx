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for Saatva: how its US affiliate program compares with Nectar, Helix, DreamCloud and Walmart; how to grow it; and how to control attribution hijacking. The data is a one-day clickstream panel.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Saatva's affiliate channel is already its strongest: 16% of visits start with an affiliate click, the highest of the four mattress brands, and Similarweb independently ranks affiliate as Saatva's #1 channel. The volume estimate (~16.7K US clicks a day) has a wide interval because it rests on six panel clicks. The bigger lever is click quality: at Walmart, where the volume allows a test, a minority of flagged clicks takes most of the credited orders, and Saatva's own clicks already show cookie stuffing and undeclared paid search.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pass selects the users who touched any of the five brands; everything after that runs on 3.4% of the rows, so the whole pipeline takes about 30 seconds on a laptop. The definitions come from what is visible in the URLs: Partnerize and Impact tracking parameters, network redirect hops, and order-confirmation paths.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issues mattered. 14.7% of rows are double-recorded, and some people appear under two user ids, one a partial copy of the other. Without merging them, brand visits were inflated by 14–28% and orders by 20%. The other checks set how the data can be used: one day only, no country field, and per-tab sessions.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walmart.com-calibrated factor recovers only 35–50% of the mattress sites' traffic, because the panel under-covers that audience. Calibrating on the mattress sites themselves reproduces each brand within 0.89–1.27x. The Walmart factor is kept as the conservative low end. Similarweb's latest public month is August, the Labor Day sale season, so the mattress factor may overstate an ordinary May day somewhat.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Saatva's estimate is about 16.7K US affiliate clicks a day, with a 95% interval of 6.1K to 36.4K. The mattress intervals overlap, so one day can't rank the brands by volume. No mattress order, registration or financing application followed an affiliate click within the day, which is expected for a considered purchase, so the conversion range uses a 0.5–2% category benchmark. Walmart's volume is large enough to measure: 1.74% of its affiliate clicks led to an order.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 of visits that start with an affiliate click is the more robust comparison: 16% for Saatva against 3.9–10.5% for the other mattress brands. Nectar and DreamCloud lean on paid search, which Similarweb confirms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examples, not statistics: one day of panel data. Saatva's six clicks come from four publishers. Competitors get traffic from a review site, a buyer's guide and an HSA/FSA payment partner that don't appear in Saatva's traffic. Publisher names are inferred from the tracking ids, hence 'likely'.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actions, each tied to evidence in the data. The principle behind 3 and 4: pay for the click that created the sale, not for the one that touched it last.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Walmart has the volume to test the indicators. Clicks fired after the shopper was already in the cart convert at 13%, against 0.4% for clicks with no indicator, and the order follows a median 2.3 minutes later: these clicks close sales that were already happening. The result holds when the look-back shrinks from 30 to 2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cases from Saatva's own clicks. The first is direct evidence of cookie stuffing: the network registered a click, but the site never loaded. The second is a policy question. The third looked like stuffing, but the user's later behaviour cleared it. That is why the indicators should trigger a review, not an automatic penalty.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per publisher first, then rules that remove the incentive. The cheapest and most decisive control is to reconcile Partnerize click logs with landings on saatva.com: a click that never lands needs no threshold to tune.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panel day sets direction, not size. The same pipeline can run on 30–90 days of panel data and on Saatva's own Partnerize click and order logs, which cover every click.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SQL file documents its own logic at the top. The runner prints row counts after each step as a sanity check.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Tiers: strong indicators are the ones a publisher would struggle to explain; medium ones are legitimate for some partner types; review ones need a person to look at the journey.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is assigned its first-ranked signal, so the rows add up to all clicks.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external figures are public pages, retrieved on 4 October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p:spPr>
        <p:txBody>
          <a:bodyPr rtlCol="0" anchor="ctr"/>
          <a:lstStyle/>
          <a:p>
            <a:pPr algn="ctr"/>
          </a:p>
        </p:txBody>
      </p:sp>
      <p:sp>
        <p:nvSpPr>
          <p:cNvPr id="3" name="Oval 2"/>
          <p:cNvSpPr/>
          <p:nvPr/>
        </p:nvSpPr>
        <p:spPr>
          <a:xfrm>
            <a:off x="8321040" y="777240"/>
            <a:ext cx="3383280" cy="3383280"/>
          </a:xfrm>
          <a:prstGeom prst="ellipse">
            <a:avLst/>
          </a:prstGeom>
          <a:solidFill>
            <a:srgbClr val="FF9438"/>
          </a:solidFill>
          <a:ln>
            <a:noFill/>
          </a:ln>
        </p:spPr>
        <p:txBody>
          <a:bodyPr rtlCol="0" anchor="ctr"/>
          <a:lstStyle/>
          <a:p>
            <a:pPr algn="ctr"/>
          </a:p>
        </p:txBody>
      </p:sp>
      <p:sp>
        <p:nvSpPr>
          <p:cNvPr id="4" name="Oval 3"/>
          <p:cNvSpPr/>
          <p:nvPr/>
        </p:nvSpPr>
        <p:spPr>
          <a:xfrm>
            <a:off x="9875520" y="2148840"/>
            <a:ext cx="3383280" cy="3383280"/>
          </a:xfrm>
          <a:prstGeom prst="ellipse">
            <a:avLst/>
          </a:prstGeom>
          <a:solidFill>
            <a:srgbClr val="368EF8"/>
          </a:solidFill>
          <a:ln>
            <a:noFill/>
          </a:ln>
        </p:spPr>
        <p:txBody>
          <a:bodyPr rtlCol="0" anchor="ctr"/>
          <a:lstStyle/>
          <a:p>
            <a:pPr algn="ctr"/>
          </a:p>
        </p:txBody>
      </p:sp>
      <p:sp>
        <p:nvSpPr>
          <p:cNvPr id="5" name="Freeform 4"/>
          <p:cNvSpPr/>
          <p:nvPr/>
        </p:nvSpPr>
        <p:spPr>
          <a:xfrm>
            <a:off x="9875522" y="2148971"/>
            <a:ext cx="1828795" cy="2011417"/>
          </a:xfrm>
          <a:custGeom>
            <a:avLst/>
            <a:gdLst/>
            <a:ahLst/>
            <a:cxnLst/>
            <a:rect l="l" t="t" r="r" b="b"/>
            <a:pathLst>
              <a:path w="1828795" h="2011417">
                <a:moveTo>
                  <a:pt x="1798900" y="3273"/>
                </a:moveTo>
                <a:lnTo>
                  <a:pt x="1809722" y="66581"/>
                </a:lnTo>
                <a:lnTo>
                  <a:pt x="1818133" y="130255"/>
                </a:lnTo>
                <a:lnTo>
                  <a:pt x="1824120" y="194202"/>
                </a:lnTo>
                <a:lnTo>
                  <a:pt x="1827676" y="258330"/>
                </a:lnTo>
                <a:lnTo>
                  <a:pt x="1828795" y="322547"/>
                </a:lnTo>
                <a:lnTo>
                  <a:pt x="1827476" y="386760"/>
                </a:lnTo>
                <a:lnTo>
                  <a:pt x="1823720" y="450877"/>
                </a:lnTo>
                <a:lnTo>
                  <a:pt x="1817533" y="514805"/>
                </a:lnTo>
                <a:lnTo>
                  <a:pt x="1808923" y="578452"/>
                </a:lnTo>
                <a:lnTo>
                  <a:pt x="1797904" y="641727"/>
                </a:lnTo>
                <a:lnTo>
                  <a:pt x="1784491" y="704537"/>
                </a:lnTo>
                <a:lnTo>
                  <a:pt x="1768703" y="766793"/>
                </a:lnTo>
                <a:lnTo>
                  <a:pt x="1750563" y="828405"/>
                </a:lnTo>
                <a:lnTo>
                  <a:pt x="1730097" y="889284"/>
                </a:lnTo>
                <a:lnTo>
                  <a:pt x="1707335" y="949342"/>
                </a:lnTo>
                <a:lnTo>
                  <a:pt x="1682310" y="1008493"/>
                </a:lnTo>
                <a:lnTo>
                  <a:pt x="1655058" y="1066651"/>
                </a:lnTo>
                <a:lnTo>
                  <a:pt x="1625617" y="1123733"/>
                </a:lnTo>
                <a:lnTo>
                  <a:pt x="1594031" y="1179656"/>
                </a:lnTo>
                <a:lnTo>
                  <a:pt x="1560344" y="1234340"/>
                </a:lnTo>
                <a:lnTo>
                  <a:pt x="1524607" y="1287705"/>
                </a:lnTo>
                <a:lnTo>
                  <a:pt x="1486869" y="1339676"/>
                </a:lnTo>
                <a:lnTo>
                  <a:pt x="1447185" y="1390176"/>
                </a:lnTo>
                <a:lnTo>
                  <a:pt x="1405613" y="1439134"/>
                </a:lnTo>
                <a:lnTo>
                  <a:pt x="1362213" y="1486478"/>
                </a:lnTo>
                <a:lnTo>
                  <a:pt x="1317046" y="1532141"/>
                </a:lnTo>
                <a:lnTo>
                  <a:pt x="1270179" y="1576056"/>
                </a:lnTo>
                <a:lnTo>
                  <a:pt x="1221679" y="1618161"/>
                </a:lnTo>
                <a:lnTo>
                  <a:pt x="1171615" y="1658394"/>
                </a:lnTo>
                <a:lnTo>
                  <a:pt x="1120060" y="1696698"/>
                </a:lnTo>
                <a:lnTo>
                  <a:pt x="1067088" y="1733017"/>
                </a:lnTo>
                <a:lnTo>
                  <a:pt x="1012776" y="1767299"/>
                </a:lnTo>
                <a:lnTo>
                  <a:pt x="957202" y="1799494"/>
                </a:lnTo>
                <a:lnTo>
                  <a:pt x="900445" y="1829557"/>
                </a:lnTo>
                <a:lnTo>
                  <a:pt x="842588" y="1857443"/>
                </a:lnTo>
                <a:lnTo>
                  <a:pt x="783714" y="1883114"/>
                </a:lnTo>
                <a:lnTo>
                  <a:pt x="723909" y="1906530"/>
                </a:lnTo>
                <a:lnTo>
                  <a:pt x="663257" y="1927660"/>
                </a:lnTo>
                <a:lnTo>
                  <a:pt x="601847" y="1946472"/>
                </a:lnTo>
                <a:lnTo>
                  <a:pt x="539767" y="1962940"/>
                </a:lnTo>
                <a:lnTo>
                  <a:pt x="477107" y="1977039"/>
                </a:lnTo>
                <a:lnTo>
                  <a:pt x="413957" y="1988749"/>
                </a:lnTo>
                <a:lnTo>
                  <a:pt x="350408" y="1998053"/>
                </a:lnTo>
                <a:lnTo>
                  <a:pt x="286551" y="2004939"/>
                </a:lnTo>
                <a:lnTo>
                  <a:pt x="222479" y="2009395"/>
                </a:lnTo>
                <a:lnTo>
                  <a:pt x="158284" y="2011417"/>
                </a:lnTo>
                <a:lnTo>
                  <a:pt x="94058" y="2010999"/>
                </a:lnTo>
                <a:lnTo>
                  <a:pt x="29895" y="2008144"/>
                </a:lnTo>
                <a:lnTo>
                  <a:pt x="29895" y="2008144"/>
                </a:lnTo>
                <a:lnTo>
                  <a:pt x="19073" y="1944836"/>
                </a:lnTo>
                <a:lnTo>
                  <a:pt x="10662" y="1881162"/>
                </a:lnTo>
                <a:lnTo>
                  <a:pt x="4675" y="1817215"/>
                </a:lnTo>
                <a:lnTo>
                  <a:pt x="1119" y="1753087"/>
                </a:lnTo>
                <a:lnTo>
                  <a:pt x="0" y="1688870"/>
                </a:lnTo>
                <a:lnTo>
                  <a:pt x="1319" y="1624657"/>
                </a:lnTo>
                <a:lnTo>
                  <a:pt x="5075" y="1560540"/>
                </a:lnTo>
                <a:lnTo>
                  <a:pt x="11262" y="1496612"/>
                </a:lnTo>
                <a:lnTo>
                  <a:pt x="19872" y="1432965"/>
                </a:lnTo>
                <a:lnTo>
                  <a:pt x="30891" y="1369690"/>
                </a:lnTo>
                <a:lnTo>
                  <a:pt x="44304" y="1306880"/>
                </a:lnTo>
                <a:lnTo>
                  <a:pt x="60092" y="1244624"/>
                </a:lnTo>
                <a:lnTo>
                  <a:pt x="78232" y="1183012"/>
                </a:lnTo>
                <a:lnTo>
                  <a:pt x="98698" y="1122133"/>
                </a:lnTo>
                <a:lnTo>
                  <a:pt x="121460" y="1062075"/>
                </a:lnTo>
                <a:lnTo>
                  <a:pt x="146485" y="1002924"/>
                </a:lnTo>
                <a:lnTo>
                  <a:pt x="173737" y="944766"/>
                </a:lnTo>
                <a:lnTo>
                  <a:pt x="203178" y="887684"/>
                </a:lnTo>
                <a:lnTo>
                  <a:pt x="234764" y="831761"/>
                </a:lnTo>
                <a:lnTo>
                  <a:pt x="268451" y="777077"/>
                </a:lnTo>
                <a:lnTo>
                  <a:pt x="304188" y="723712"/>
                </a:lnTo>
                <a:lnTo>
                  <a:pt x="341926" y="671741"/>
                </a:lnTo>
                <a:lnTo>
                  <a:pt x="381610" y="621241"/>
                </a:lnTo>
                <a:lnTo>
                  <a:pt x="423182" y="572283"/>
                </a:lnTo>
                <a:lnTo>
                  <a:pt x="466582" y="524939"/>
                </a:lnTo>
                <a:lnTo>
                  <a:pt x="511749" y="479276"/>
                </a:lnTo>
                <a:lnTo>
                  <a:pt x="558616" y="435361"/>
                </a:lnTo>
                <a:lnTo>
                  <a:pt x="607116" y="393256"/>
                </a:lnTo>
                <a:lnTo>
                  <a:pt x="657180" y="353023"/>
                </a:lnTo>
                <a:lnTo>
                  <a:pt x="708735" y="314719"/>
                </a:lnTo>
                <a:lnTo>
                  <a:pt x="761707" y="278400"/>
                </a:lnTo>
                <a:lnTo>
                  <a:pt x="816019" y="244118"/>
                </a:lnTo>
                <a:lnTo>
                  <a:pt x="871593" y="211923"/>
                </a:lnTo>
                <a:lnTo>
                  <a:pt x="928350" y="181860"/>
                </a:lnTo>
                <a:lnTo>
                  <a:pt x="986207" y="153974"/>
                </a:lnTo>
                <a:lnTo>
                  <a:pt x="1045081" y="128303"/>
                </a:lnTo>
                <a:lnTo>
                  <a:pt x="1104886" y="104887"/>
                </a:lnTo>
                <a:lnTo>
                  <a:pt x="1165538" y="83757"/>
                </a:lnTo>
                <a:lnTo>
                  <a:pt x="1226948" y="64945"/>
                </a:lnTo>
                <a:lnTo>
                  <a:pt x="1289028" y="48477"/>
                </a:lnTo>
                <a:lnTo>
                  <a:pt x="1351688" y="34378"/>
                </a:lnTo>
                <a:lnTo>
                  <a:pt x="1414838" y="22668"/>
                </a:lnTo>
                <a:lnTo>
                  <a:pt x="1478387" y="13364"/>
                </a:lnTo>
                <a:lnTo>
                  <a:pt x="1542244" y="6478"/>
                </a:lnTo>
                <a:lnTo>
                  <a:pt x="1606316" y="2022"/>
                </a:lnTo>
                <a:lnTo>
                  <a:pt x="1670511" y="0"/>
                </a:lnTo>
                <a:lnTo>
                  <a:pt x="1734737" y="418"/>
                </a:lnTo>
                <a:lnTo>
                  <a:pt x="1798900" y="3273"/>
                </a:lnTo>
                <a:close/>
              </a:path>
            </a:pathLst>
          </a:custGeom>
          <a:solidFill>
            <a:srgbClr val="C19678"/>
          </a:solidFill>
          <a:ln>
            <a:noFill/>
          </a:ln>
        </p:spPr>
        <p:txBody>
          <a:bodyPr rtlCol="0" anchor="ctr"/>
          <a:lstStyle/>
          <a:p>
            <a:pPr algn="ctr"/>
          </a:p>
        </p:txBody>
      </p:sp>
      <p:sp>
        <p:nvSpPr>
          <p:cNvPr id="6" name="TextBox 5"/>
          <p:cNvSpPr txBox="1"/>
          <p:nvPr/>
        </p:nvSpPr>
        <p:spPr>
          <a:xfrm>
            <a:off x="731520" y="1325880"/>
            <a:ext cx="7680960" cy="274320"/>
          </a:xfrm>
          <a:prstGeom prst="rect">
            <a:avLst/>
          </a:prstGeom>
          <a:noFill/>
        </p:spPr>
        <p:txBody>
          <a:bodyPr wrap="square" lIns="0" rIns="0" tIns="0" bIns="0" anchor="t">
            <a:noAutofit/>
          </a:bodyPr>
          <a:lstStyle/>
          <a:p>
            <a:pPr algn="l">
              <a:lnSpc>
                <a:spcPct val="110000"/>
              </a:lnSpc>
              <a:spcAft>
                <a:spcPts val="0"/>
              </a:spcAft>
            </a:pPr>
            <a:r>
              <a:rPr sz="1200" i="0" b="1" spc="200">
                <a:solidFill>
                  <a:srgbClr val="FF9438"/>
                </a:solidFill>
                <a:latin typeface="Arial"/>
              </a:rPr>
              <a:t>PARTNERIZE  ·  SENIOR DATA ANALYST HOME ASSIGNMENT</a:t>
            </a:r>
          </a:p>
        </p:txBody>
      </p:sp>
      <p:sp>
        <p:nvSpPr>
          <p:cNvPr id="7" name="TextBox 6"/>
          <p:cNvSpPr txBox="1"/>
          <p:nvPr/>
        </p:nvSpPr>
        <p:spPr>
          <a:xfrm>
            <a:off x="731520" y="1783080"/>
            <a:ext cx="7223760" cy="1600200"/>
          </a:xfrm>
          <a:prstGeom prst="rect">
            <a:avLst/>
          </a:prstGeom>
          <a:noFill/>
        </p:spPr>
        <p:txBody>
          <a:bodyPr wrap="square" lIns="0" rIns="0" tIns="0" bIns="0" anchor="t">
            <a:noAutofit/>
          </a:bodyPr>
          <a:lstStyle/>
          <a:p>
            <a:pPr algn="l">
              <a:lnSpc>
                <a:spcPct val="100000"/>
              </a:lnSpc>
              <a:spcAft>
                <a:spcPts val="0"/>
              </a:spcAft>
            </a:pPr>
            <a:r>
              <a:rPr sz="4200" i="0" b="0">
                <a:solidFill>
                  <a:srgbClr val="C19678"/>
                </a:solidFill>
                <a:latin typeface="Georgia"/>
              </a:rPr>
              <a:t>Saatva's</a:t>
            </a:r>
            <a:r>
              <a:rPr sz="4200" i="0" b="0">
                <a:solidFill>
                  <a:srgbClr val="FFFFFF"/>
                </a:solidFill>
                <a:latin typeface="Georgia"/>
              </a:rPr>
              <a:t> affiliate program vs. US mattress competitors</a:t>
            </a:r>
          </a:p>
        </p:txBody>
      </p:sp>
      <p:sp>
        <p:nvSpPr>
          <p:cNvPr id="8" name="TextBox 7"/>
          <p:cNvSpPr txBox="1"/>
          <p:nvPr/>
        </p:nvSpPr>
        <p:spPr>
          <a:xfrm>
            <a:off x="731520" y="3520440"/>
            <a:ext cx="7315200" cy="685800"/>
          </a:xfrm>
          <a:prstGeom prst="rect">
            <a:avLst/>
          </a:prstGeom>
          <a:noFill/>
        </p:spPr>
        <p:txBody>
          <a:bodyPr wrap="square" lIns="0" rIns="0" tIns="0" bIns="0" anchor="t">
            <a:noAutofit/>
          </a:bodyPr>
          <a:lstStyle/>
          <a:p>
            <a:pPr algn="l">
              <a:lnSpc>
                <a:spcPct val="115000"/>
              </a:lnSpc>
              <a:spcAft>
                <a:spcPts val="0"/>
              </a:spcAft>
            </a:pPr>
            <a:r>
              <a:rPr sz="1700" i="0" b="0">
                <a:solidFill>
                  <a:srgbClr val="C9D6E3"/>
                </a:solidFill>
                <a:latin typeface="Arial"/>
              </a:rPr>
              <a:t>US clicks and conversions  ·  Growth levers  ·  Attribution hijacking</a:t>
            </a:r>
          </a:p>
        </p:txBody>
      </p:sp>
      <p:sp>
        <p:nvSpPr>
          <p:cNvPr id="9" name="Rectangle 8"/>
          <p:cNvSpPr/>
          <p:nvPr/>
        </p:nvSpPr>
        <p:spPr>
          <a:xfrm>
            <a:off x="731520" y="5029200"/>
            <a:ext cx="822960" cy="45720"/>
          </a:xfrm>
          <a:prstGeom prst="rect">
            <a:avLst/>
          </a:prstGeom>
          <a:solidFill>
            <a:srgbClr val="FF9438"/>
          </a:solidFill>
          <a:ln>
            <a:noFill/>
          </a:ln>
        </p:spPr>
        <p:txBody>
          <a:bodyPr rtlCol="0" anchor="ctr"/>
          <a:lstStyle/>
          <a:p>
            <a:pPr algn="ctr"/>
          </a:p>
        </p:txBody>
      </p:sp>
      <p:sp>
        <p:nvSpPr>
          <p:cNvPr id="10" name="TextBox 9"/>
          <p:cNvSpPr txBox="1"/>
          <p:nvPr/>
        </p:nvSpPr>
        <p:spPr>
          <a:xfrm>
            <a:off x="731520" y="5230368"/>
            <a:ext cx="7315200" cy="292608"/>
          </a:xfrm>
          <a:prstGeom prst="rect">
            <a:avLst/>
          </a:prstGeom>
          <a:noFill/>
        </p:spPr>
        <p:txBody>
          <a:bodyPr wrap="square" lIns="0" rIns="0" tIns="0" bIns="0" anchor="t">
            <a:noAutofit/>
          </a:bodyPr>
          <a:lstStyle/>
          <a:p>
            <a:pPr algn="l">
              <a:lnSpc>
                <a:spcPct val="110000"/>
              </a:lnSpc>
              <a:spcAft>
                <a:spcPts val="0"/>
              </a:spcAft>
            </a:pPr>
            <a:r>
              <a:rPr sz="1600" i="0" b="1">
                <a:solidFill>
                  <a:srgbClr val="FFFFFF"/>
                </a:solidFill>
                <a:latin typeface="Arial"/>
              </a:rPr>
              <a:t>Hagay Gross</a:t>
            </a:r>
          </a:p>
        </p:txBody>
      </p:sp>
      <p:sp>
        <p:nvSpPr>
          <p:cNvPr id="11" name="TextBox 10"/>
          <p:cNvSpPr txBox="1"/>
          <p:nvPr/>
        </p:nvSpPr>
        <p:spPr>
          <a:xfrm>
            <a:off x="731520" y="5559552"/>
            <a:ext cx="8229600" cy="274320"/>
          </a:xfrm>
          <a:prstGeom prst="rect">
            <a:avLst/>
          </a:prstGeom>
          <a:noFill/>
        </p:spPr>
        <p:txBody>
          <a:bodyPr wrap="square" lIns="0" rIns="0" tIns="0" bIns="0" anchor="t">
            <a:noAutofit/>
          </a:bodyPr>
          <a:lstStyle/>
          <a:p>
            <a:pPr algn="l">
              <a:lnSpc>
                <a:spcPct val="110000"/>
              </a:lnSpc>
              <a:spcAft>
                <a:spcPts val="0"/>
              </a:spcAft>
            </a:pPr>
            <a:r>
              <a:rPr sz="1150" i="0" b="0">
                <a:solidFill>
                  <a:srgbClr val="9FB3C8"/>
                </a:solidFill>
                <a:latin typeface="Arial"/>
              </a:rPr>
              <a:t>October 2026  ·  Data: US clickstream panel, 1 May 2026 (48.4M events, 784K users)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EXECUTIVE SUMMARY</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Affiliate is already Saatva's edge; the next lever is click quality, not volume</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2</a:t>
            </a:r>
          </a:p>
        </p:txBody>
      </p:sp>
      <p:sp>
        <p:nvSpPr>
          <p:cNvPr id="11" name="Rectangle 10"/>
          <p:cNvSpPr/>
          <p:nvPr/>
        </p:nvSpPr>
        <p:spPr>
          <a:xfrm>
            <a:off x="548640" y="1691640"/>
            <a:ext cx="2633472" cy="1810512"/>
          </a:xfrm>
          <a:prstGeom prst="rect">
            <a:avLst/>
          </a:prstGeom>
          <a:solidFill>
            <a:srgbClr val="F3F6F9"/>
          </a:solidFill>
          <a:ln>
            <a:noFill/>
          </a:ln>
        </p:spPr>
        <p:txBody>
          <a:bodyPr rtlCol="0" anchor="ctr"/>
          <a:lstStyle/>
          <a:p>
            <a:pPr algn="ctr"/>
          </a:p>
        </p:txBody>
      </p:sp>
      <p:sp>
        <p:nvSpPr>
          <p:cNvPr id="12" name="Rectangle 11"/>
          <p:cNvSpPr/>
          <p:nvPr/>
        </p:nvSpPr>
        <p:spPr>
          <a:xfrm>
            <a:off x="548640" y="1691640"/>
            <a:ext cx="2633472" cy="54864"/>
          </a:xfrm>
          <a:prstGeom prst="rect">
            <a:avLst/>
          </a:prstGeom>
          <a:solidFill>
            <a:srgbClr val="C19678"/>
          </a:solidFill>
          <a:ln>
            <a:noFill/>
          </a:ln>
        </p:spPr>
        <p:txBody>
          <a:bodyPr rtlCol="0" anchor="ctr"/>
          <a:lstStyle/>
          <a:p>
            <a:pPr algn="ctr"/>
          </a:p>
        </p:txBody>
      </p:sp>
      <p:sp>
        <p:nvSpPr>
          <p:cNvPr id="13" name="TextBox 12"/>
          <p:cNvSpPr txBox="1"/>
          <p:nvPr/>
        </p:nvSpPr>
        <p:spPr>
          <a:xfrm>
            <a:off x="731520" y="1874520"/>
            <a:ext cx="2267712" cy="548640"/>
          </a:xfrm>
          <a:prstGeom prst="rect">
            <a:avLst/>
          </a:prstGeom>
          <a:noFill/>
        </p:spPr>
        <p:txBody>
          <a:bodyPr wrap="square" lIns="0" rIns="0" tIns="0" bIns="0" anchor="t">
            <a:noAutofit/>
          </a:bodyPr>
          <a:lstStyle/>
          <a:p>
            <a:pPr algn="l">
              <a:lnSpc>
                <a:spcPct val="110000"/>
              </a:lnSpc>
              <a:spcAft>
                <a:spcPts val="0"/>
              </a:spcAft>
            </a:pPr>
            <a:r>
              <a:rPr sz="3200" i="0" b="0">
                <a:solidFill>
                  <a:srgbClr val="9A7152"/>
                </a:solidFill>
                <a:latin typeface="Georgia"/>
              </a:rPr>
              <a:t>16%</a:t>
            </a:r>
          </a:p>
        </p:txBody>
      </p:sp>
      <p:sp>
        <p:nvSpPr>
          <p:cNvPr id="14" name="TextBox 13"/>
          <p:cNvSpPr txBox="1"/>
          <p:nvPr/>
        </p:nvSpPr>
        <p:spPr>
          <a:xfrm>
            <a:off x="731520" y="2459736"/>
            <a:ext cx="2267712" cy="420624"/>
          </a:xfrm>
          <a:prstGeom prst="rect">
            <a:avLst/>
          </a:prstGeom>
          <a:noFill/>
        </p:spPr>
        <p:txBody>
          <a:bodyPr wrap="square" lIns="0" rIns="0" tIns="0" bIns="0" anchor="t">
            <a:noAutofit/>
          </a:bodyPr>
          <a:lstStyle/>
          <a:p>
            <a:pPr algn="l">
              <a:lnSpc>
                <a:spcPct val="100000"/>
              </a:lnSpc>
              <a:spcAft>
                <a:spcPts val="0"/>
              </a:spcAft>
            </a:pPr>
            <a:r>
              <a:rPr sz="1200" i="0" b="1">
                <a:solidFill>
                  <a:srgbClr val="1E2833"/>
                </a:solidFill>
                <a:latin typeface="Arial"/>
              </a:rPr>
              <a:t>of Saatva's visits start with an affiliate click</a:t>
            </a:r>
          </a:p>
        </p:txBody>
      </p:sp>
      <p:sp>
        <p:nvSpPr>
          <p:cNvPr id="15" name="TextBox 14"/>
          <p:cNvSpPr txBox="1"/>
          <p:nvPr/>
        </p:nvSpPr>
        <p:spPr>
          <a:xfrm>
            <a:off x="731520" y="2898648"/>
            <a:ext cx="2267712" cy="566928"/>
          </a:xfrm>
          <a:prstGeom prst="rect">
            <a:avLst/>
          </a:prstGeom>
          <a:noFill/>
        </p:spPr>
        <p:txBody>
          <a:bodyPr wrap="square" lIns="0" rIns="0" tIns="0" bIns="0" anchor="t">
            <a:noAutofit/>
          </a:bodyPr>
          <a:lstStyle/>
          <a:p>
            <a:pPr algn="l">
              <a:lnSpc>
                <a:spcPct val="105000"/>
              </a:lnSpc>
              <a:spcAft>
                <a:spcPts val="0"/>
              </a:spcAft>
            </a:pPr>
            <a:r>
              <a:rPr sz="950" i="0" b="0">
                <a:solidFill>
                  <a:srgbClr val="647282"/>
                </a:solidFill>
                <a:latin typeface="Arial"/>
              </a:rPr>
              <a:t>vs 3.9–10.5% at Nectar, DreamCloud and Helix. Similarweb also ranks affiliate as Saatva's #1 traffic channel.</a:t>
            </a:r>
          </a:p>
        </p:txBody>
      </p:sp>
      <p:sp>
        <p:nvSpPr>
          <p:cNvPr id="16" name="Rectangle 15"/>
          <p:cNvSpPr/>
          <p:nvPr/>
        </p:nvSpPr>
        <p:spPr>
          <a:xfrm>
            <a:off x="3369564" y="1691640"/>
            <a:ext cx="2633472" cy="1810512"/>
          </a:xfrm>
          <a:prstGeom prst="rect">
            <a:avLst/>
          </a:prstGeom>
          <a:solidFill>
            <a:srgbClr val="F3F6F9"/>
          </a:solidFill>
          <a:ln>
            <a:noFill/>
          </a:ln>
        </p:spPr>
        <p:txBody>
          <a:bodyPr rtlCol="0" anchor="ctr"/>
          <a:lstStyle/>
          <a:p>
            <a:pPr algn="ctr"/>
          </a:p>
        </p:txBody>
      </p:sp>
      <p:sp>
        <p:nvSpPr>
          <p:cNvPr id="17" name="Rectangle 16"/>
          <p:cNvSpPr/>
          <p:nvPr/>
        </p:nvSpPr>
        <p:spPr>
          <a:xfrm>
            <a:off x="3369564" y="1691640"/>
            <a:ext cx="2633472" cy="54864"/>
          </a:xfrm>
          <a:prstGeom prst="rect">
            <a:avLst/>
          </a:prstGeom>
          <a:solidFill>
            <a:srgbClr val="C19678"/>
          </a:solidFill>
          <a:ln>
            <a:noFill/>
          </a:ln>
        </p:spPr>
        <p:txBody>
          <a:bodyPr rtlCol="0" anchor="ctr"/>
          <a:lstStyle/>
          <a:p>
            <a:pPr algn="ctr"/>
          </a:p>
        </p:txBody>
      </p:sp>
      <p:sp>
        <p:nvSpPr>
          <p:cNvPr id="18" name="TextBox 17"/>
          <p:cNvSpPr txBox="1"/>
          <p:nvPr/>
        </p:nvSpPr>
        <p:spPr>
          <a:xfrm>
            <a:off x="3552444" y="1874520"/>
            <a:ext cx="2267712" cy="548640"/>
          </a:xfrm>
          <a:prstGeom prst="rect">
            <a:avLst/>
          </a:prstGeom>
          <a:noFill/>
        </p:spPr>
        <p:txBody>
          <a:bodyPr wrap="square" lIns="0" rIns="0" tIns="0" bIns="0" anchor="t">
            <a:noAutofit/>
          </a:bodyPr>
          <a:lstStyle/>
          <a:p>
            <a:pPr algn="l">
              <a:lnSpc>
                <a:spcPct val="110000"/>
              </a:lnSpc>
              <a:spcAft>
                <a:spcPts val="0"/>
              </a:spcAft>
            </a:pPr>
            <a:r>
              <a:rPr sz="3200" i="0" b="0">
                <a:solidFill>
                  <a:srgbClr val="9A7152"/>
                </a:solidFill>
                <a:latin typeface="Georgia"/>
              </a:rPr>
              <a:t>~16.7K</a:t>
            </a:r>
          </a:p>
        </p:txBody>
      </p:sp>
      <p:sp>
        <p:nvSpPr>
          <p:cNvPr id="19" name="TextBox 18"/>
          <p:cNvSpPr txBox="1"/>
          <p:nvPr/>
        </p:nvSpPr>
        <p:spPr>
          <a:xfrm>
            <a:off x="3552444" y="2459736"/>
            <a:ext cx="2267712" cy="420624"/>
          </a:xfrm>
          <a:prstGeom prst="rect">
            <a:avLst/>
          </a:prstGeom>
          <a:noFill/>
        </p:spPr>
        <p:txBody>
          <a:bodyPr wrap="square" lIns="0" rIns="0" tIns="0" bIns="0" anchor="t">
            <a:noAutofit/>
          </a:bodyPr>
          <a:lstStyle/>
          <a:p>
            <a:pPr algn="l">
              <a:lnSpc>
                <a:spcPct val="100000"/>
              </a:lnSpc>
              <a:spcAft>
                <a:spcPts val="0"/>
              </a:spcAft>
            </a:pPr>
            <a:r>
              <a:rPr sz="1200" i="0" b="1">
                <a:solidFill>
                  <a:srgbClr val="1E2833"/>
                </a:solidFill>
                <a:latin typeface="Arial"/>
              </a:rPr>
              <a:t>US affiliate clicks a day (estimate)</a:t>
            </a:r>
          </a:p>
        </p:txBody>
      </p:sp>
      <p:sp>
        <p:nvSpPr>
          <p:cNvPr id="20" name="TextBox 19"/>
          <p:cNvSpPr txBox="1"/>
          <p:nvPr/>
        </p:nvSpPr>
        <p:spPr>
          <a:xfrm>
            <a:off x="3552444" y="2898648"/>
            <a:ext cx="2267712" cy="566928"/>
          </a:xfrm>
          <a:prstGeom prst="rect">
            <a:avLst/>
          </a:prstGeom>
          <a:noFill/>
        </p:spPr>
        <p:txBody>
          <a:bodyPr wrap="square" lIns="0" rIns="0" tIns="0" bIns="0" anchor="t">
            <a:noAutofit/>
          </a:bodyPr>
          <a:lstStyle/>
          <a:p>
            <a:pPr algn="l">
              <a:lnSpc>
                <a:spcPct val="105000"/>
              </a:lnSpc>
              <a:spcAft>
                <a:spcPts val="0"/>
              </a:spcAft>
            </a:pPr>
            <a:r>
              <a:rPr sz="950" i="0" b="0">
                <a:solidFill>
                  <a:srgbClr val="647282"/>
                </a:solidFill>
                <a:latin typeface="Arial"/>
              </a:rPr>
              <a:t>95% CI 6.1K–36.4K; conservative 6.5K. Scaled from 6 clicks in the panel.</a:t>
            </a:r>
          </a:p>
        </p:txBody>
      </p:sp>
      <p:sp>
        <p:nvSpPr>
          <p:cNvPr id="21" name="Rectangle 20"/>
          <p:cNvSpPr/>
          <p:nvPr/>
        </p:nvSpPr>
        <p:spPr>
          <a:xfrm>
            <a:off x="6190488" y="1691640"/>
            <a:ext cx="2633472" cy="1810512"/>
          </a:xfrm>
          <a:prstGeom prst="rect">
            <a:avLst/>
          </a:prstGeom>
          <a:solidFill>
            <a:srgbClr val="F3F6F9"/>
          </a:solidFill>
          <a:ln>
            <a:noFill/>
          </a:ln>
        </p:spPr>
        <p:txBody>
          <a:bodyPr rtlCol="0" anchor="ctr"/>
          <a:lstStyle/>
          <a:p>
            <a:pPr algn="ctr"/>
          </a:p>
        </p:txBody>
      </p:sp>
      <p:sp>
        <p:nvSpPr>
          <p:cNvPr id="22" name="Rectangle 21"/>
          <p:cNvSpPr/>
          <p:nvPr/>
        </p:nvSpPr>
        <p:spPr>
          <a:xfrm>
            <a:off x="6190488" y="1691640"/>
            <a:ext cx="2633472" cy="54864"/>
          </a:xfrm>
          <a:prstGeom prst="rect">
            <a:avLst/>
          </a:prstGeom>
          <a:solidFill>
            <a:srgbClr val="C19678"/>
          </a:solidFill>
          <a:ln>
            <a:noFill/>
          </a:ln>
        </p:spPr>
        <p:txBody>
          <a:bodyPr rtlCol="0" anchor="ctr"/>
          <a:lstStyle/>
          <a:p>
            <a:pPr algn="ctr"/>
          </a:p>
        </p:txBody>
      </p:sp>
      <p:sp>
        <p:nvSpPr>
          <p:cNvPr id="23" name="TextBox 22"/>
          <p:cNvSpPr txBox="1"/>
          <p:nvPr/>
        </p:nvSpPr>
        <p:spPr>
          <a:xfrm>
            <a:off x="6373368" y="1874520"/>
            <a:ext cx="2267712" cy="548640"/>
          </a:xfrm>
          <a:prstGeom prst="rect">
            <a:avLst/>
          </a:prstGeom>
          <a:noFill/>
        </p:spPr>
        <p:txBody>
          <a:bodyPr wrap="square" lIns="0" rIns="0" tIns="0" bIns="0" anchor="t">
            <a:noAutofit/>
          </a:bodyPr>
          <a:lstStyle/>
          <a:p>
            <a:pPr algn="l">
              <a:lnSpc>
                <a:spcPct val="110000"/>
              </a:lnSpc>
              <a:spcAft>
                <a:spcPts val="0"/>
              </a:spcAft>
            </a:pPr>
            <a:r>
              <a:rPr sz="3200" i="0" b="0">
                <a:solidFill>
                  <a:srgbClr val="9A7152"/>
                </a:solidFill>
                <a:latin typeface="Georgia"/>
              </a:rPr>
              <a:t>84–334</a:t>
            </a:r>
          </a:p>
        </p:txBody>
      </p:sp>
      <p:sp>
        <p:nvSpPr>
          <p:cNvPr id="24" name="TextBox 23"/>
          <p:cNvSpPr txBox="1"/>
          <p:nvPr/>
        </p:nvSpPr>
        <p:spPr>
          <a:xfrm>
            <a:off x="6373368" y="2459736"/>
            <a:ext cx="2267712" cy="420624"/>
          </a:xfrm>
          <a:prstGeom prst="rect">
            <a:avLst/>
          </a:prstGeom>
          <a:noFill/>
        </p:spPr>
        <p:txBody>
          <a:bodyPr wrap="square" lIns="0" rIns="0" tIns="0" bIns="0" anchor="t">
            <a:noAutofit/>
          </a:bodyPr>
          <a:lstStyle/>
          <a:p>
            <a:pPr algn="l">
              <a:lnSpc>
                <a:spcPct val="100000"/>
              </a:lnSpc>
              <a:spcAft>
                <a:spcPts val="0"/>
              </a:spcAft>
            </a:pPr>
            <a:r>
              <a:rPr sz="1200" i="0" b="1">
                <a:solidFill>
                  <a:srgbClr val="1E2833"/>
                </a:solidFill>
                <a:latin typeface="Arial"/>
              </a:rPr>
              <a:t>converting clicks a day (estimate)</a:t>
            </a:r>
          </a:p>
        </p:txBody>
      </p:sp>
      <p:sp>
        <p:nvSpPr>
          <p:cNvPr id="25" name="TextBox 24"/>
          <p:cNvSpPr txBox="1"/>
          <p:nvPr/>
        </p:nvSpPr>
        <p:spPr>
          <a:xfrm>
            <a:off x="6373368" y="2898648"/>
            <a:ext cx="2267712" cy="566928"/>
          </a:xfrm>
          <a:prstGeom prst="rect">
            <a:avLst/>
          </a:prstGeom>
          <a:noFill/>
        </p:spPr>
        <p:txBody>
          <a:bodyPr wrap="square" lIns="0" rIns="0" tIns="0" bIns="0" anchor="t">
            <a:noAutofit/>
          </a:bodyPr>
          <a:lstStyle/>
          <a:p>
            <a:pPr algn="l">
              <a:lnSpc>
                <a:spcPct val="105000"/>
              </a:lnSpc>
              <a:spcAft>
                <a:spcPts val="0"/>
              </a:spcAft>
            </a:pPr>
            <a:r>
              <a:rPr sz="950" i="0" b="0">
                <a:solidFill>
                  <a:srgbClr val="647282"/>
                </a:solidFill>
                <a:latin typeface="Arial"/>
              </a:rPr>
              <a:t>At a 0.5–2% category conversion rate: no mattress order followed an affiliate click in the panel day.</a:t>
            </a:r>
          </a:p>
        </p:txBody>
      </p:sp>
      <p:sp>
        <p:nvSpPr>
          <p:cNvPr id="26" name="Rectangle 25"/>
          <p:cNvSpPr/>
          <p:nvPr/>
        </p:nvSpPr>
        <p:spPr>
          <a:xfrm>
            <a:off x="9011411" y="1691640"/>
            <a:ext cx="2633472" cy="1810512"/>
          </a:xfrm>
          <a:prstGeom prst="rect">
            <a:avLst/>
          </a:prstGeom>
          <a:solidFill>
            <a:srgbClr val="F3F6F9"/>
          </a:solidFill>
          <a:ln>
            <a:noFill/>
          </a:ln>
        </p:spPr>
        <p:txBody>
          <a:bodyPr rtlCol="0" anchor="ctr"/>
          <a:lstStyle/>
          <a:p>
            <a:pPr algn="ctr"/>
          </a:p>
        </p:txBody>
      </p:sp>
      <p:sp>
        <p:nvSpPr>
          <p:cNvPr id="27" name="Rectangle 26"/>
          <p:cNvSpPr/>
          <p:nvPr/>
        </p:nvSpPr>
        <p:spPr>
          <a:xfrm>
            <a:off x="9011411" y="1691640"/>
            <a:ext cx="2633472" cy="54864"/>
          </a:xfrm>
          <a:prstGeom prst="rect">
            <a:avLst/>
          </a:prstGeom>
          <a:solidFill>
            <a:srgbClr val="FF9438"/>
          </a:solidFill>
          <a:ln>
            <a:noFill/>
          </a:ln>
        </p:spPr>
        <p:txBody>
          <a:bodyPr rtlCol="0" anchor="ctr"/>
          <a:lstStyle/>
          <a:p>
            <a:pPr algn="ctr"/>
          </a:p>
        </p:txBody>
      </p:sp>
      <p:sp>
        <p:nvSpPr>
          <p:cNvPr id="28" name="TextBox 27"/>
          <p:cNvSpPr txBox="1"/>
          <p:nvPr/>
        </p:nvSpPr>
        <p:spPr>
          <a:xfrm>
            <a:off x="9194291" y="1874520"/>
            <a:ext cx="2267712" cy="548640"/>
          </a:xfrm>
          <a:prstGeom prst="rect">
            <a:avLst/>
          </a:prstGeom>
          <a:noFill/>
        </p:spPr>
        <p:txBody>
          <a:bodyPr wrap="square" lIns="0" rIns="0" tIns="0" bIns="0" anchor="t">
            <a:noAutofit/>
          </a:bodyPr>
          <a:lstStyle/>
          <a:p>
            <a:pPr algn="l">
              <a:lnSpc>
                <a:spcPct val="110000"/>
              </a:lnSpc>
              <a:spcAft>
                <a:spcPts val="0"/>
              </a:spcAft>
            </a:pPr>
            <a:r>
              <a:rPr sz="3200" i="0" b="0">
                <a:solidFill>
                  <a:srgbClr val="C9620E"/>
                </a:solidFill>
                <a:latin typeface="Georgia"/>
              </a:rPr>
              <a:t>52–79%</a:t>
            </a:r>
          </a:p>
        </p:txBody>
      </p:sp>
      <p:sp>
        <p:nvSpPr>
          <p:cNvPr id="29" name="TextBox 28"/>
          <p:cNvSpPr txBox="1"/>
          <p:nvPr/>
        </p:nvSpPr>
        <p:spPr>
          <a:xfrm>
            <a:off x="9194291" y="2459736"/>
            <a:ext cx="2267712" cy="420624"/>
          </a:xfrm>
          <a:prstGeom prst="rect">
            <a:avLst/>
          </a:prstGeom>
          <a:noFill/>
        </p:spPr>
        <p:txBody>
          <a:bodyPr wrap="square" lIns="0" rIns="0" tIns="0" bIns="0" anchor="t">
            <a:noAutofit/>
          </a:bodyPr>
          <a:lstStyle/>
          <a:p>
            <a:pPr algn="l">
              <a:lnSpc>
                <a:spcPct val="100000"/>
              </a:lnSpc>
              <a:spcAft>
                <a:spcPts val="0"/>
              </a:spcAft>
            </a:pPr>
            <a:r>
              <a:rPr sz="1200" i="0" b="1">
                <a:solidFill>
                  <a:srgbClr val="1E2833"/>
                </a:solidFill>
                <a:latin typeface="Arial"/>
              </a:rPr>
              <a:t>of Walmart's affiliate-credited orders</a:t>
            </a:r>
          </a:p>
        </p:txBody>
      </p:sp>
      <p:sp>
        <p:nvSpPr>
          <p:cNvPr id="30" name="TextBox 29"/>
          <p:cNvSpPr txBox="1"/>
          <p:nvPr/>
        </p:nvSpPr>
        <p:spPr>
          <a:xfrm>
            <a:off x="9194291" y="2898648"/>
            <a:ext cx="2267712" cy="566928"/>
          </a:xfrm>
          <a:prstGeom prst="rect">
            <a:avLst/>
          </a:prstGeom>
          <a:noFill/>
        </p:spPr>
        <p:txBody>
          <a:bodyPr wrap="square" lIns="0" rIns="0" tIns="0" bIns="0" anchor="t">
            <a:noAutofit/>
          </a:bodyPr>
          <a:lstStyle/>
          <a:p>
            <a:pPr algn="l">
              <a:lnSpc>
                <a:spcPct val="105000"/>
              </a:lnSpc>
              <a:spcAft>
                <a:spcPts val="0"/>
              </a:spcAft>
            </a:pPr>
            <a:r>
              <a:rPr sz="950" i="0" b="0">
                <a:solidFill>
                  <a:srgbClr val="647282"/>
                </a:solidFill>
                <a:latin typeface="Arial"/>
              </a:rPr>
              <a:t>come from the 13–23% of clicks that carry a hijack signal.</a:t>
            </a:r>
          </a:p>
        </p:txBody>
      </p:sp>
      <p:sp>
        <p:nvSpPr>
          <p:cNvPr id="31" name="TextBox 30"/>
          <p:cNvSpPr txBox="1"/>
          <p:nvPr/>
        </p:nvSpPr>
        <p:spPr>
          <a:xfrm>
            <a:off x="548640" y="3703320"/>
            <a:ext cx="11094415" cy="274320"/>
          </a:xfrm>
          <a:prstGeom prst="rect">
            <a:avLst/>
          </a:prstGeom>
          <a:noFill/>
        </p:spPr>
        <p:txBody>
          <a:bodyPr wrap="square" lIns="0" rIns="0" tIns="0" bIns="0" anchor="t">
            <a:noAutofit/>
          </a:bodyPr>
          <a:lstStyle/>
          <a:p>
            <a:pPr algn="l">
              <a:lnSpc>
                <a:spcPct val="110000"/>
              </a:lnSpc>
              <a:spcAft>
                <a:spcPts val="0"/>
              </a:spcAft>
            </a:pPr>
            <a:r>
              <a:rPr sz="1050" i="1" b="0">
                <a:solidFill>
                  <a:srgbClr val="647282"/>
                </a:solidFill>
                <a:latin typeface="Arial"/>
              </a:rPr>
              <a:t>One panel day cannot rank the mattress brands by volume (2–6 clicks each, overlapping intervals), so they are compared on traffic share and publisher mix.</a:t>
            </a:r>
          </a:p>
        </p:txBody>
      </p:sp>
      <p:sp>
        <p:nvSpPr>
          <p:cNvPr id="32" name="Rectangle 31"/>
          <p:cNvSpPr/>
          <p:nvPr/>
        </p:nvSpPr>
        <p:spPr>
          <a:xfrm>
            <a:off x="548640" y="4197096"/>
            <a:ext cx="64008" cy="219456"/>
          </a:xfrm>
          <a:prstGeom prst="rect">
            <a:avLst/>
          </a:prstGeom>
          <a:solidFill>
            <a:srgbClr val="C19678"/>
          </a:solidFill>
          <a:ln>
            <a:noFill/>
          </a:ln>
        </p:spPr>
        <p:txBody>
          <a:bodyPr rtlCol="0" anchor="ctr"/>
          <a:lstStyle/>
          <a:p>
            <a:pPr algn="ctr"/>
          </a:p>
        </p:txBody>
      </p:sp>
      <p:sp>
        <p:nvSpPr>
          <p:cNvPr id="33" name="TextBox 32"/>
          <p:cNvSpPr txBox="1"/>
          <p:nvPr/>
        </p:nvSpPr>
        <p:spPr>
          <a:xfrm>
            <a:off x="704088" y="4160520"/>
            <a:ext cx="5231739" cy="292608"/>
          </a:xfrm>
          <a:prstGeom prst="rect">
            <a:avLst/>
          </a:prstGeom>
          <a:noFill/>
        </p:spPr>
        <p:txBody>
          <a:bodyPr wrap="square" lIns="0" rIns="0" tIns="0" bIns="0" anchor="t">
            <a:noAutofit/>
          </a:bodyPr>
          <a:lstStyle/>
          <a:p>
            <a:pPr algn="l">
              <a:lnSpc>
                <a:spcPct val="110000"/>
              </a:lnSpc>
              <a:spcAft>
                <a:spcPts val="0"/>
              </a:spcAft>
            </a:pPr>
            <a:r>
              <a:rPr sz="1400" i="0" b="1">
                <a:solidFill>
                  <a:srgbClr val="0B2A4A"/>
                </a:solidFill>
                <a:latin typeface="Arial"/>
              </a:rPr>
              <a:t>Grow the program</a:t>
            </a:r>
          </a:p>
        </p:txBody>
      </p:sp>
      <p:sp>
        <p:nvSpPr>
          <p:cNvPr id="34" name="TextBox 33"/>
          <p:cNvSpPr txBox="1"/>
          <p:nvPr/>
        </p:nvSpPr>
        <p:spPr>
          <a:xfrm>
            <a:off x="704088" y="4572000"/>
            <a:ext cx="5231739" cy="1737360"/>
          </a:xfrm>
          <a:prstGeom prst="rect">
            <a:avLst/>
          </a:prstGeom>
          <a:noFill/>
        </p:spPr>
        <p:txBody>
          <a:bodyPr wrap="square" lIns="0" rIns="0" tIns="0" bIns="0" anchor="t">
            <a:noAutofit/>
          </a:bodyPr>
          <a:lstStyle/>
          <a:p>
            <a:pPr algn="l" marL="155448" indent="-155448">
              <a:lnSpc>
                <a:spcPct val="108000"/>
              </a:lnSpc>
              <a:spcAft>
                <a:spcPts val="500"/>
              </a:spcAft>
              <a:buClr>
                <a:srgbClr val="B7C1CC"/>
              </a:buClr>
              <a:buFont typeface="Arial"/>
              <a:buChar char="•"/>
            </a:pPr>
            <a:r>
              <a:rPr sz="1150" i="0" b="0">
                <a:solidFill>
                  <a:srgbClr val="1E2833"/>
                </a:solidFill>
                <a:latin typeface="Arial"/>
              </a:rPr>
              <a:t>Recruit the review, comparison and HSA/FSA partners that already send shoppers to Helix, DreamCloud and Nectar.</a:t>
            </a:r>
          </a:p>
          <a:p>
            <a:pPr algn="l" marL="155448" indent="-155448">
              <a:lnSpc>
                <a:spcPct val="108000"/>
              </a:lnSpc>
              <a:spcAft>
                <a:spcPts val="500"/>
              </a:spcAft>
              <a:buClr>
                <a:srgbClr val="B7C1CC"/>
              </a:buClr>
              <a:buFont typeface="Arial"/>
              <a:buChar char="•"/>
            </a:pPr>
            <a:r>
              <a:rPr sz="1150" i="0" b="0">
                <a:solidFill>
                  <a:srgbClr val="1E2833"/>
                </a:solidFill>
                <a:latin typeface="Arial"/>
              </a:rPr>
              <a:t>Give each publisher its own coupon code, and tier commissions to pay for the assist, not the last touch.</a:t>
            </a:r>
          </a:p>
          <a:p>
            <a:pPr algn="l" marL="155448" indent="-155448">
              <a:lnSpc>
                <a:spcPct val="108000"/>
              </a:lnSpc>
              <a:spcAft>
                <a:spcPts val="500"/>
              </a:spcAft>
              <a:buClr>
                <a:srgbClr val="B7C1CC"/>
              </a:buClr>
              <a:buFont typeface="Arial"/>
              <a:buChar char="•"/>
            </a:pPr>
            <a:r>
              <a:rPr sz="1150" i="0" b="0">
                <a:solidFill>
                  <a:srgbClr val="1E2833"/>
                </a:solidFill>
                <a:latin typeface="Arial"/>
              </a:rPr>
              <a:t>De-duplicate against Saatva's own paid search, and judge publishers on 30-day journeys.</a:t>
            </a:r>
          </a:p>
        </p:txBody>
      </p:sp>
      <p:sp>
        <p:nvSpPr>
          <p:cNvPr id="35" name="Rectangle 34"/>
          <p:cNvSpPr/>
          <p:nvPr/>
        </p:nvSpPr>
        <p:spPr>
          <a:xfrm>
            <a:off x="6255867" y="4197096"/>
            <a:ext cx="64008" cy="219456"/>
          </a:xfrm>
          <a:prstGeom prst="rect">
            <a:avLst/>
          </a:prstGeom>
          <a:solidFill>
            <a:srgbClr val="FF9438"/>
          </a:solidFill>
          <a:ln>
            <a:noFill/>
          </a:ln>
        </p:spPr>
        <p:txBody>
          <a:bodyPr rtlCol="0" anchor="ctr"/>
          <a:lstStyle/>
          <a:p>
            <a:pPr algn="ctr"/>
          </a:p>
        </p:txBody>
      </p:sp>
      <p:sp>
        <p:nvSpPr>
          <p:cNvPr id="36" name="TextBox 35"/>
          <p:cNvSpPr txBox="1"/>
          <p:nvPr/>
        </p:nvSpPr>
        <p:spPr>
          <a:xfrm>
            <a:off x="6411315" y="4160520"/>
            <a:ext cx="5231739" cy="292608"/>
          </a:xfrm>
          <a:prstGeom prst="rect">
            <a:avLst/>
          </a:prstGeom>
          <a:noFill/>
        </p:spPr>
        <p:txBody>
          <a:bodyPr wrap="square" lIns="0" rIns="0" tIns="0" bIns="0" anchor="t">
            <a:noAutofit/>
          </a:bodyPr>
          <a:lstStyle/>
          <a:p>
            <a:pPr algn="l">
              <a:lnSpc>
                <a:spcPct val="110000"/>
              </a:lnSpc>
              <a:spcAft>
                <a:spcPts val="0"/>
              </a:spcAft>
            </a:pPr>
            <a:r>
              <a:rPr sz="1400" i="0" b="1">
                <a:solidFill>
                  <a:srgbClr val="0B2A4A"/>
                </a:solidFill>
                <a:latin typeface="Arial"/>
              </a:rPr>
              <a:t>Protect it from attribution hijacking</a:t>
            </a:r>
          </a:p>
        </p:txBody>
      </p:sp>
      <p:sp>
        <p:nvSpPr>
          <p:cNvPr id="37" name="TextBox 36"/>
          <p:cNvSpPr txBox="1"/>
          <p:nvPr/>
        </p:nvSpPr>
        <p:spPr>
          <a:xfrm>
            <a:off x="6411315" y="4572000"/>
            <a:ext cx="5231739" cy="1737360"/>
          </a:xfrm>
          <a:prstGeom prst="rect">
            <a:avLst/>
          </a:prstGeom>
          <a:noFill/>
        </p:spPr>
        <p:txBody>
          <a:bodyPr wrap="square" lIns="0" rIns="0" tIns="0" bIns="0" anchor="t">
            <a:noAutofit/>
          </a:bodyPr>
          <a:lstStyle/>
          <a:p>
            <a:pPr algn="l" marL="155448" indent="-155448">
              <a:lnSpc>
                <a:spcPct val="108000"/>
              </a:lnSpc>
              <a:spcAft>
                <a:spcPts val="500"/>
              </a:spcAft>
              <a:buClr>
                <a:srgbClr val="B7C1CC"/>
              </a:buClr>
              <a:buFont typeface="Arial"/>
              <a:buChar char="•"/>
            </a:pPr>
            <a:r>
              <a:rPr sz="1150" i="0" b="0">
                <a:solidFill>
                  <a:srgbClr val="1E2833"/>
                </a:solidFill>
                <a:latin typeface="Arial"/>
              </a:rPr>
              <a:t>Saatva's own data already shows </a:t>
            </a:r>
            <a:r>
              <a:rPr sz="1150" i="0" b="1">
                <a:solidFill>
                  <a:srgbClr val="1E2833"/>
                </a:solidFill>
                <a:latin typeface="Arial"/>
              </a:rPr>
              <a:t>cookie stuffing</a:t>
            </a:r>
            <a:r>
              <a:rPr sz="1150" i="0" b="0">
                <a:solidFill>
                  <a:srgbClr val="1E2833"/>
                </a:solidFill>
                <a:latin typeface="Arial"/>
              </a:rPr>
              <a:t>: a "new tab" browser extension fired a Partnerize click, and saatva.com never loaded.</a:t>
            </a:r>
          </a:p>
          <a:p>
            <a:pPr algn="l" marL="155448" indent="-155448">
              <a:lnSpc>
                <a:spcPct val="108000"/>
              </a:lnSpc>
              <a:spcAft>
                <a:spcPts val="500"/>
              </a:spcAft>
              <a:buClr>
                <a:srgbClr val="B7C1CC"/>
              </a:buClr>
              <a:buFont typeface="Arial"/>
              <a:buChar char="•"/>
            </a:pPr>
            <a:r>
              <a:rPr sz="1150" i="0" b="0">
                <a:solidFill>
                  <a:srgbClr val="1E2833"/>
                </a:solidFill>
                <a:latin typeface="Arial"/>
              </a:rPr>
              <a:t>Block commission overwrites once a cart exists, enforce extension stand-down, and set a PPC and trademark policy.</a:t>
            </a:r>
          </a:p>
          <a:p>
            <a:pPr algn="l" marL="155448" indent="-155448">
              <a:lnSpc>
                <a:spcPct val="108000"/>
              </a:lnSpc>
              <a:spcAft>
                <a:spcPts val="500"/>
              </a:spcAft>
              <a:buClr>
                <a:srgbClr val="B7C1CC"/>
              </a:buClr>
              <a:buFont typeface="Arial"/>
              <a:buChar char="•"/>
            </a:pPr>
            <a:r>
              <a:rPr sz="1150" i="0" b="0">
                <a:solidFill>
                  <a:srgbClr val="1E2833"/>
                </a:solidFill>
                <a:latin typeface="Arial"/>
              </a:rPr>
              <a:t>Monitor six indicators per publisher every week, and hold payouts on flagged orders.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APPROACH</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One pass over 48.4M events, then every step runs on the 3.4% that matters</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3</a:t>
            </a:r>
          </a:p>
        </p:txBody>
      </p:sp>
      <p:sp>
        <p:nvSpPr>
          <p:cNvPr id="11" name="Rectangle 10"/>
          <p:cNvSpPr/>
          <p:nvPr/>
        </p:nvSpPr>
        <p:spPr>
          <a:xfrm>
            <a:off x="548640" y="1691640"/>
            <a:ext cx="2011680" cy="384048"/>
          </a:xfrm>
          <a:prstGeom prst="rect">
            <a:avLst/>
          </a:prstGeom>
          <a:solidFill>
            <a:srgbClr val="0B2A4A"/>
          </a:solidFill>
          <a:ln>
            <a:noFill/>
          </a:ln>
        </p:spPr>
        <p:txBody>
          <a:bodyPr rtlCol="0" anchor="ctr" wrap="square" lIns="109728" rIns="109728" tIns="18288" bIns="18288">
            <a:noAutofit/>
          </a:bodyPr>
          <a:lstStyle/>
          <a:p>
            <a:pPr algn="l">
              <a:lnSpc>
                <a:spcPct val="110000"/>
              </a:lnSpc>
              <a:spcAft>
                <a:spcPts val="0"/>
              </a:spcAft>
            </a:pPr>
            <a:r>
              <a:rPr sz="1150" i="0" b="1">
                <a:solidFill>
                  <a:srgbClr val="FFFFFF"/>
                </a:solidFill>
                <a:latin typeface="Arial"/>
              </a:rPr>
              <a:t>1   Raw panel</a:t>
            </a:r>
          </a:p>
        </p:txBody>
      </p:sp>
      <p:sp>
        <p:nvSpPr>
          <p:cNvPr id="12" name="Rectangle 11"/>
          <p:cNvSpPr/>
          <p:nvPr/>
        </p:nvSpPr>
        <p:spPr>
          <a:xfrm>
            <a:off x="548640" y="2075688"/>
            <a:ext cx="2011680" cy="1033272"/>
          </a:xfrm>
          <a:prstGeom prst="rect">
            <a:avLst/>
          </a:prstGeom>
          <a:solidFill>
            <a:srgbClr val="F3F6F9"/>
          </a:solidFill>
          <a:ln>
            <a:noFill/>
          </a:ln>
        </p:spPr>
        <p:txBody>
          <a:bodyPr rtlCol="0" anchor="ctr"/>
          <a:lstStyle/>
          <a:p>
            <a:pPr algn="ctr"/>
          </a:p>
        </p:txBody>
      </p:sp>
      <p:sp>
        <p:nvSpPr>
          <p:cNvPr id="13" name="TextBox 12"/>
          <p:cNvSpPr txBox="1"/>
          <p:nvPr/>
        </p:nvSpPr>
        <p:spPr>
          <a:xfrm>
            <a:off x="658368" y="2194560"/>
            <a:ext cx="1792224" cy="868680"/>
          </a:xfrm>
          <a:prstGeom prst="rect">
            <a:avLst/>
          </a:prstGeom>
          <a:noFill/>
        </p:spPr>
        <p:txBody>
          <a:bodyPr wrap="square" lIns="0" rIns="0" tIns="0" bIns="0" anchor="t">
            <a:noAutofit/>
          </a:bodyPr>
          <a:lstStyle/>
          <a:p>
            <a:pPr algn="l">
              <a:lnSpc>
                <a:spcPct val="110000"/>
              </a:lnSpc>
              <a:spcAft>
                <a:spcPts val="200"/>
              </a:spcAft>
            </a:pPr>
            <a:r>
              <a:rPr sz="1050" i="0" b="0">
                <a:solidFill>
                  <a:srgbClr val="1E2833"/>
                </a:solidFill>
                <a:latin typeface="Arial"/>
              </a:rPr>
              <a:t>48.4M events</a:t>
            </a:r>
          </a:p>
          <a:p>
            <a:pPr algn="l">
              <a:lnSpc>
                <a:spcPct val="110000"/>
              </a:lnSpc>
              <a:spcAft>
                <a:spcPts val="200"/>
              </a:spcAft>
            </a:pPr>
            <a:r>
              <a:rPr sz="1050" i="0" b="0">
                <a:solidFill>
                  <a:srgbClr val="1E2833"/>
                </a:solidFill>
                <a:latin typeface="Arial"/>
              </a:rPr>
              <a:t>784K users</a:t>
            </a:r>
          </a:p>
          <a:p>
            <a:pPr algn="l">
              <a:lnSpc>
                <a:spcPct val="110000"/>
              </a:lnSpc>
              <a:spcAft>
                <a:spcPts val="200"/>
              </a:spcAft>
            </a:pPr>
            <a:r>
              <a:rPr sz="1050" i="0" b="0">
                <a:solidFill>
                  <a:srgbClr val="1E2833"/>
                </a:solidFill>
                <a:latin typeface="Arial"/>
              </a:rPr>
              <a:t>1 day: 1 May 2026</a:t>
            </a:r>
          </a:p>
        </p:txBody>
      </p:sp>
      <p:cxnSp>
        <p:nvCxnSpPr>
          <p:cNvPr id="14" name="Connector 13"/>
          <p:cNvCxnSpPr/>
          <p:nvPr/>
        </p:nvCxnSpPr>
        <p:spPr>
          <a:xfrm>
            <a:off x="2587752" y="2400300"/>
            <a:ext cx="204139" cy="0"/>
          </a:xfrm>
          <a:prstGeom prst="line">
            <a:avLst/>
          </a:prstGeom>
          <a:ln w="19050">
            <a:solidFill>
              <a:srgbClr val="FF9438"/>
            </a:solidFill>
            <a:tailEnd type="triangle" w="med" len="med"/>
          </a:ln>
        </p:spPr>
      </p:cxnSp>
      <p:sp>
        <p:nvSpPr>
          <p:cNvPr id="15" name="Rectangle 14"/>
          <p:cNvSpPr/>
          <p:nvPr/>
        </p:nvSpPr>
        <p:spPr>
          <a:xfrm>
            <a:off x="2819323" y="1691640"/>
            <a:ext cx="2011680" cy="384048"/>
          </a:xfrm>
          <a:prstGeom prst="rect">
            <a:avLst/>
          </a:prstGeom>
          <a:solidFill>
            <a:srgbClr val="0B2A4A"/>
          </a:solidFill>
          <a:ln>
            <a:noFill/>
          </a:ln>
        </p:spPr>
        <p:txBody>
          <a:bodyPr rtlCol="0" anchor="ctr" wrap="square" lIns="109728" rIns="109728" tIns="18288" bIns="18288">
            <a:noAutofit/>
          </a:bodyPr>
          <a:lstStyle/>
          <a:p>
            <a:pPr algn="l">
              <a:lnSpc>
                <a:spcPct val="110000"/>
              </a:lnSpc>
              <a:spcAft>
                <a:spcPts val="0"/>
              </a:spcAft>
            </a:pPr>
            <a:r>
              <a:rPr sz="1150" i="0" b="1">
                <a:solidFill>
                  <a:srgbClr val="FFFFFF"/>
                </a:solidFill>
                <a:latin typeface="Arial"/>
              </a:rPr>
              <a:t>2   Brand users</a:t>
            </a:r>
          </a:p>
        </p:txBody>
      </p:sp>
      <p:sp>
        <p:nvSpPr>
          <p:cNvPr id="16" name="Rectangle 15"/>
          <p:cNvSpPr/>
          <p:nvPr/>
        </p:nvSpPr>
        <p:spPr>
          <a:xfrm>
            <a:off x="2819323" y="2075688"/>
            <a:ext cx="2011680" cy="1033272"/>
          </a:xfrm>
          <a:prstGeom prst="rect">
            <a:avLst/>
          </a:prstGeom>
          <a:solidFill>
            <a:srgbClr val="F3F6F9"/>
          </a:solidFill>
          <a:ln>
            <a:noFill/>
          </a:ln>
        </p:spPr>
        <p:txBody>
          <a:bodyPr rtlCol="0" anchor="ctr"/>
          <a:lstStyle/>
          <a:p>
            <a:pPr algn="ctr"/>
          </a:p>
        </p:txBody>
      </p:sp>
      <p:sp>
        <p:nvSpPr>
          <p:cNvPr id="17" name="TextBox 16"/>
          <p:cNvSpPr txBox="1"/>
          <p:nvPr/>
        </p:nvSpPr>
        <p:spPr>
          <a:xfrm>
            <a:off x="2929051" y="2194560"/>
            <a:ext cx="1792224" cy="868680"/>
          </a:xfrm>
          <a:prstGeom prst="rect">
            <a:avLst/>
          </a:prstGeom>
          <a:noFill/>
        </p:spPr>
        <p:txBody>
          <a:bodyPr wrap="square" lIns="0" rIns="0" tIns="0" bIns="0" anchor="t">
            <a:noAutofit/>
          </a:bodyPr>
          <a:lstStyle/>
          <a:p>
            <a:pPr algn="l">
              <a:lnSpc>
                <a:spcPct val="110000"/>
              </a:lnSpc>
              <a:spcAft>
                <a:spcPts val="200"/>
              </a:spcAft>
            </a:pPr>
            <a:r>
              <a:rPr sz="1050" i="0" b="0">
                <a:solidFill>
                  <a:srgbClr val="1E2833"/>
                </a:solidFill>
                <a:latin typeface="Arial"/>
              </a:rPr>
              <a:t>1.64M events (3.4%)</a:t>
            </a:r>
          </a:p>
          <a:p>
            <a:pPr algn="l">
              <a:lnSpc>
                <a:spcPct val="110000"/>
              </a:lnSpc>
              <a:spcAft>
                <a:spcPts val="200"/>
              </a:spcAft>
            </a:pPr>
            <a:r>
              <a:rPr sz="1050" i="0" b="0">
                <a:solidFill>
                  <a:srgbClr val="1E2833"/>
                </a:solidFill>
                <a:latin typeface="Arial"/>
              </a:rPr>
              <a:t>Users who touched a brand</a:t>
            </a:r>
          </a:p>
          <a:p>
            <a:pPr algn="l">
              <a:lnSpc>
                <a:spcPct val="110000"/>
              </a:lnSpc>
              <a:spcAft>
                <a:spcPts val="200"/>
              </a:spcAft>
            </a:pPr>
            <a:r>
              <a:rPr sz="1050" i="0" b="0">
                <a:solidFill>
                  <a:srgbClr val="1E2833"/>
                </a:solidFill>
                <a:latin typeface="Arial"/>
              </a:rPr>
              <a:t>Deduplicated; mirror IDs merged</a:t>
            </a:r>
          </a:p>
        </p:txBody>
      </p:sp>
      <p:cxnSp>
        <p:nvCxnSpPr>
          <p:cNvPr id="18" name="Connector 17"/>
          <p:cNvCxnSpPr/>
          <p:nvPr/>
        </p:nvCxnSpPr>
        <p:spPr>
          <a:xfrm>
            <a:off x="4858435" y="2400300"/>
            <a:ext cx="204140" cy="0"/>
          </a:xfrm>
          <a:prstGeom prst="line">
            <a:avLst/>
          </a:prstGeom>
          <a:ln w="19050">
            <a:solidFill>
              <a:srgbClr val="FF9438"/>
            </a:solidFill>
            <a:tailEnd type="triangle" w="med" len="med"/>
          </a:ln>
        </p:spPr>
      </p:cxnSp>
      <p:sp>
        <p:nvSpPr>
          <p:cNvPr id="19" name="Rectangle 18"/>
          <p:cNvSpPr/>
          <p:nvPr/>
        </p:nvSpPr>
        <p:spPr>
          <a:xfrm>
            <a:off x="5090007" y="1691640"/>
            <a:ext cx="2011680" cy="384048"/>
          </a:xfrm>
          <a:prstGeom prst="rect">
            <a:avLst/>
          </a:prstGeom>
          <a:solidFill>
            <a:srgbClr val="0B2A4A"/>
          </a:solidFill>
          <a:ln>
            <a:noFill/>
          </a:ln>
        </p:spPr>
        <p:txBody>
          <a:bodyPr rtlCol="0" anchor="ctr" wrap="square" lIns="109728" rIns="109728" tIns="18288" bIns="18288">
            <a:noAutofit/>
          </a:bodyPr>
          <a:lstStyle/>
          <a:p>
            <a:pPr algn="l">
              <a:lnSpc>
                <a:spcPct val="110000"/>
              </a:lnSpc>
              <a:spcAft>
                <a:spcPts val="0"/>
              </a:spcAft>
            </a:pPr>
            <a:r>
              <a:rPr sz="1150" i="0" b="1">
                <a:solidFill>
                  <a:srgbClr val="FFFFFF"/>
                </a:solidFill>
                <a:latin typeface="Arial"/>
              </a:rPr>
              <a:t>3   Measure</a:t>
            </a:r>
          </a:p>
        </p:txBody>
      </p:sp>
      <p:sp>
        <p:nvSpPr>
          <p:cNvPr id="20" name="Rectangle 19"/>
          <p:cNvSpPr/>
          <p:nvPr/>
        </p:nvSpPr>
        <p:spPr>
          <a:xfrm>
            <a:off x="5090007" y="2075688"/>
            <a:ext cx="2011680" cy="1033272"/>
          </a:xfrm>
          <a:prstGeom prst="rect">
            <a:avLst/>
          </a:prstGeom>
          <a:solidFill>
            <a:srgbClr val="F3F6F9"/>
          </a:solidFill>
          <a:ln>
            <a:noFill/>
          </a:ln>
        </p:spPr>
        <p:txBody>
          <a:bodyPr rtlCol="0" anchor="ctr"/>
          <a:lstStyle/>
          <a:p>
            <a:pPr algn="ctr"/>
          </a:p>
        </p:txBody>
      </p:sp>
      <p:sp>
        <p:nvSpPr>
          <p:cNvPr id="21" name="TextBox 20"/>
          <p:cNvSpPr txBox="1"/>
          <p:nvPr/>
        </p:nvSpPr>
        <p:spPr>
          <a:xfrm>
            <a:off x="5199735" y="2194560"/>
            <a:ext cx="1792224" cy="868680"/>
          </a:xfrm>
          <a:prstGeom prst="rect">
            <a:avLst/>
          </a:prstGeom>
          <a:noFill/>
        </p:spPr>
        <p:txBody>
          <a:bodyPr wrap="square" lIns="0" rIns="0" tIns="0" bIns="0" anchor="t">
            <a:noAutofit/>
          </a:bodyPr>
          <a:lstStyle/>
          <a:p>
            <a:pPr algn="l">
              <a:lnSpc>
                <a:spcPct val="110000"/>
              </a:lnSpc>
              <a:spcAft>
                <a:spcPts val="200"/>
              </a:spcAft>
            </a:pPr>
            <a:r>
              <a:rPr sz="1050" i="0" b="0">
                <a:solidFill>
                  <a:srgbClr val="1E2833"/>
                </a:solidFill>
                <a:latin typeface="Arial"/>
              </a:rPr>
              <a:t>Affiliate clicks</a:t>
            </a:r>
          </a:p>
          <a:p>
            <a:pPr algn="l">
              <a:lnSpc>
                <a:spcPct val="110000"/>
              </a:lnSpc>
              <a:spcAft>
                <a:spcPts val="200"/>
              </a:spcAft>
            </a:pPr>
            <a:r>
              <a:rPr sz="1050" i="0" b="0">
                <a:solidFill>
                  <a:srgbClr val="1E2833"/>
                </a:solidFill>
                <a:latin typeface="Arial"/>
              </a:rPr>
              <a:t>Visits and traffic sources</a:t>
            </a:r>
          </a:p>
          <a:p>
            <a:pPr algn="l">
              <a:lnSpc>
                <a:spcPct val="110000"/>
              </a:lnSpc>
              <a:spcAft>
                <a:spcPts val="200"/>
              </a:spcAft>
            </a:pPr>
            <a:r>
              <a:rPr sz="1050" i="0" b="0">
                <a:solidFill>
                  <a:srgbClr val="1E2833"/>
                </a:solidFill>
                <a:latin typeface="Arial"/>
              </a:rPr>
              <a:t>Orders and funnel steps</a:t>
            </a:r>
          </a:p>
          <a:p>
            <a:pPr algn="l">
              <a:lnSpc>
                <a:spcPct val="110000"/>
              </a:lnSpc>
              <a:spcAft>
                <a:spcPts val="200"/>
              </a:spcAft>
            </a:pPr>
            <a:r>
              <a:rPr sz="1050" i="0" b="0">
                <a:solidFill>
                  <a:srgbClr val="1E2833"/>
                </a:solidFill>
                <a:latin typeface="Arial"/>
              </a:rPr>
              <a:t>Hijack indicators</a:t>
            </a:r>
          </a:p>
        </p:txBody>
      </p:sp>
      <p:cxnSp>
        <p:nvCxnSpPr>
          <p:cNvPr id="22" name="Connector 21"/>
          <p:cNvCxnSpPr/>
          <p:nvPr/>
        </p:nvCxnSpPr>
        <p:spPr>
          <a:xfrm>
            <a:off x="7129119" y="2400300"/>
            <a:ext cx="204140" cy="0"/>
          </a:xfrm>
          <a:prstGeom prst="line">
            <a:avLst/>
          </a:prstGeom>
          <a:ln w="19050">
            <a:solidFill>
              <a:srgbClr val="FF9438"/>
            </a:solidFill>
            <a:tailEnd type="triangle" w="med" len="med"/>
          </a:ln>
        </p:spPr>
      </p:cxnSp>
      <p:sp>
        <p:nvSpPr>
          <p:cNvPr id="23" name="Rectangle 22"/>
          <p:cNvSpPr/>
          <p:nvPr/>
        </p:nvSpPr>
        <p:spPr>
          <a:xfrm>
            <a:off x="7360691" y="1691640"/>
            <a:ext cx="2011680" cy="384048"/>
          </a:xfrm>
          <a:prstGeom prst="rect">
            <a:avLst/>
          </a:prstGeom>
          <a:solidFill>
            <a:srgbClr val="0B2A4A"/>
          </a:solidFill>
          <a:ln>
            <a:noFill/>
          </a:ln>
        </p:spPr>
        <p:txBody>
          <a:bodyPr rtlCol="0" anchor="ctr" wrap="square" lIns="109728" rIns="109728" tIns="18288" bIns="18288">
            <a:noAutofit/>
          </a:bodyPr>
          <a:lstStyle/>
          <a:p>
            <a:pPr algn="l">
              <a:lnSpc>
                <a:spcPct val="110000"/>
              </a:lnSpc>
              <a:spcAft>
                <a:spcPts val="0"/>
              </a:spcAft>
            </a:pPr>
            <a:r>
              <a:rPr sz="1150" i="0" b="1">
                <a:solidFill>
                  <a:srgbClr val="FFFFFF"/>
                </a:solidFill>
                <a:latin typeface="Arial"/>
              </a:rPr>
              <a:t>4   Scale to the US</a:t>
            </a:r>
          </a:p>
        </p:txBody>
      </p:sp>
      <p:sp>
        <p:nvSpPr>
          <p:cNvPr id="24" name="Rectangle 23"/>
          <p:cNvSpPr/>
          <p:nvPr/>
        </p:nvSpPr>
        <p:spPr>
          <a:xfrm>
            <a:off x="7360691" y="2075688"/>
            <a:ext cx="2011680" cy="1033272"/>
          </a:xfrm>
          <a:prstGeom prst="rect">
            <a:avLst/>
          </a:prstGeom>
          <a:solidFill>
            <a:srgbClr val="F3F6F9"/>
          </a:solidFill>
          <a:ln>
            <a:noFill/>
          </a:ln>
        </p:spPr>
        <p:txBody>
          <a:bodyPr rtlCol="0" anchor="ctr"/>
          <a:lstStyle/>
          <a:p>
            <a:pPr algn="ctr"/>
          </a:p>
        </p:txBody>
      </p:sp>
      <p:sp>
        <p:nvSpPr>
          <p:cNvPr id="25" name="TextBox 24"/>
          <p:cNvSpPr txBox="1"/>
          <p:nvPr/>
        </p:nvSpPr>
        <p:spPr>
          <a:xfrm>
            <a:off x="7470419" y="2194560"/>
            <a:ext cx="1792224" cy="868680"/>
          </a:xfrm>
          <a:prstGeom prst="rect">
            <a:avLst/>
          </a:prstGeom>
          <a:noFill/>
        </p:spPr>
        <p:txBody>
          <a:bodyPr wrap="square" lIns="0" rIns="0" tIns="0" bIns="0" anchor="t">
            <a:noAutofit/>
          </a:bodyPr>
          <a:lstStyle/>
          <a:p>
            <a:pPr algn="l">
              <a:lnSpc>
                <a:spcPct val="110000"/>
              </a:lnSpc>
              <a:spcAft>
                <a:spcPts val="200"/>
              </a:spcAft>
            </a:pPr>
            <a:r>
              <a:rPr sz="1050" i="0" b="0">
                <a:solidFill>
                  <a:srgbClr val="1E2833"/>
                </a:solidFill>
                <a:latin typeface="Arial"/>
              </a:rPr>
              <a:t>US users only</a:t>
            </a:r>
          </a:p>
          <a:p>
            <a:pPr algn="l">
              <a:lnSpc>
                <a:spcPct val="110000"/>
              </a:lnSpc>
              <a:spcAft>
                <a:spcPts val="200"/>
              </a:spcAft>
            </a:pPr>
            <a:r>
              <a:rPr sz="1050" i="0" b="0">
                <a:solidFill>
                  <a:srgbClr val="1E2833"/>
                </a:solidFill>
                <a:latin typeface="Arial"/>
              </a:rPr>
              <a:t>Audience-calibrated factor</a:t>
            </a:r>
          </a:p>
          <a:p>
            <a:pPr algn="l">
              <a:lnSpc>
                <a:spcPct val="110000"/>
              </a:lnSpc>
              <a:spcAft>
                <a:spcPts val="200"/>
              </a:spcAft>
            </a:pPr>
            <a:r>
              <a:rPr sz="1050" i="0" b="0">
                <a:solidFill>
                  <a:srgbClr val="1E2833"/>
                </a:solidFill>
                <a:latin typeface="Arial"/>
              </a:rPr>
              <a:t>95% confidence intervals</a:t>
            </a:r>
          </a:p>
        </p:txBody>
      </p:sp>
      <p:cxnSp>
        <p:nvCxnSpPr>
          <p:cNvPr id="26" name="Connector 25"/>
          <p:cNvCxnSpPr/>
          <p:nvPr/>
        </p:nvCxnSpPr>
        <p:spPr>
          <a:xfrm>
            <a:off x="9399803" y="2400300"/>
            <a:ext cx="204140" cy="0"/>
          </a:xfrm>
          <a:prstGeom prst="line">
            <a:avLst/>
          </a:prstGeom>
          <a:ln w="19050">
            <a:solidFill>
              <a:srgbClr val="FF9438"/>
            </a:solidFill>
            <a:tailEnd type="triangle" w="med" len="med"/>
          </a:ln>
        </p:spPr>
      </p:cxnSp>
      <p:sp>
        <p:nvSpPr>
          <p:cNvPr id="27" name="Rectangle 26"/>
          <p:cNvSpPr/>
          <p:nvPr/>
        </p:nvSpPr>
        <p:spPr>
          <a:xfrm>
            <a:off x="9631375" y="1691640"/>
            <a:ext cx="2011680" cy="384048"/>
          </a:xfrm>
          <a:prstGeom prst="rect">
            <a:avLst/>
          </a:prstGeom>
          <a:solidFill>
            <a:srgbClr val="0B2A4A"/>
          </a:solidFill>
          <a:ln>
            <a:noFill/>
          </a:ln>
        </p:spPr>
        <p:txBody>
          <a:bodyPr rtlCol="0" anchor="ctr" wrap="square" lIns="109728" rIns="109728" tIns="18288" bIns="18288">
            <a:noAutofit/>
          </a:bodyPr>
          <a:lstStyle/>
          <a:p>
            <a:pPr algn="l">
              <a:lnSpc>
                <a:spcPct val="110000"/>
              </a:lnSpc>
              <a:spcAft>
                <a:spcPts val="0"/>
              </a:spcAft>
            </a:pPr>
            <a:r>
              <a:rPr sz="1150" i="0" b="1">
                <a:solidFill>
                  <a:srgbClr val="FFFFFF"/>
                </a:solidFill>
                <a:latin typeface="Arial"/>
              </a:rPr>
              <a:t>5   Stress-test</a:t>
            </a:r>
          </a:p>
        </p:txBody>
      </p:sp>
      <p:sp>
        <p:nvSpPr>
          <p:cNvPr id="28" name="Rectangle 27"/>
          <p:cNvSpPr/>
          <p:nvPr/>
        </p:nvSpPr>
        <p:spPr>
          <a:xfrm>
            <a:off x="9631375" y="2075688"/>
            <a:ext cx="2011680" cy="1033272"/>
          </a:xfrm>
          <a:prstGeom prst="rect">
            <a:avLst/>
          </a:prstGeom>
          <a:solidFill>
            <a:srgbClr val="F3F6F9"/>
          </a:solidFill>
          <a:ln>
            <a:noFill/>
          </a:ln>
        </p:spPr>
        <p:txBody>
          <a:bodyPr rtlCol="0" anchor="ctr"/>
          <a:lstStyle/>
          <a:p>
            <a:pPr algn="ctr"/>
          </a:p>
        </p:txBody>
      </p:sp>
      <p:sp>
        <p:nvSpPr>
          <p:cNvPr id="29" name="TextBox 28"/>
          <p:cNvSpPr txBox="1"/>
          <p:nvPr/>
        </p:nvSpPr>
        <p:spPr>
          <a:xfrm>
            <a:off x="9741103" y="2194560"/>
            <a:ext cx="1792224" cy="868680"/>
          </a:xfrm>
          <a:prstGeom prst="rect">
            <a:avLst/>
          </a:prstGeom>
          <a:noFill/>
        </p:spPr>
        <p:txBody>
          <a:bodyPr wrap="square" lIns="0" rIns="0" tIns="0" bIns="0" anchor="t">
            <a:noAutofit/>
          </a:bodyPr>
          <a:lstStyle/>
          <a:p>
            <a:pPr algn="l">
              <a:lnSpc>
                <a:spcPct val="110000"/>
              </a:lnSpc>
              <a:spcAft>
                <a:spcPts val="200"/>
              </a:spcAft>
            </a:pPr>
            <a:r>
              <a:rPr sz="1050" i="0" b="0">
                <a:solidFill>
                  <a:srgbClr val="1E2833"/>
                </a:solidFill>
                <a:latin typeface="Arial"/>
              </a:rPr>
              <a:t>Indicator look-back</a:t>
            </a:r>
          </a:p>
          <a:p>
            <a:pPr algn="l">
              <a:lnSpc>
                <a:spcPct val="110000"/>
              </a:lnSpc>
              <a:spcAft>
                <a:spcPts val="200"/>
              </a:spcAft>
            </a:pPr>
            <a:r>
              <a:rPr sz="1050" i="0" b="0">
                <a:solidFill>
                  <a:srgbClr val="1E2833"/>
                </a:solidFill>
                <a:latin typeface="Arial"/>
              </a:rPr>
              <a:t>30 / 10 / 2 minutes</a:t>
            </a:r>
          </a:p>
          <a:p>
            <a:pPr algn="l">
              <a:lnSpc>
                <a:spcPct val="110000"/>
              </a:lnSpc>
              <a:spcAft>
                <a:spcPts val="200"/>
              </a:spcAft>
            </a:pPr>
            <a:r>
              <a:rPr sz="1050" i="0" b="0">
                <a:solidFill>
                  <a:srgbClr val="1E2833"/>
                </a:solidFill>
                <a:latin typeface="Arial"/>
              </a:rPr>
              <a:t>Similarweb cross-checks</a:t>
            </a:r>
          </a:p>
        </p:txBody>
      </p:sp>
      <p:sp>
        <p:nvSpPr>
          <p:cNvPr id="30" name="Rectangle 29"/>
          <p:cNvSpPr/>
          <p:nvPr/>
        </p:nvSpPr>
        <p:spPr>
          <a:xfrm>
            <a:off x="548640" y="3401568"/>
            <a:ext cx="64008" cy="219456"/>
          </a:xfrm>
          <a:prstGeom prst="rect">
            <a:avLst/>
          </a:prstGeom>
          <a:solidFill>
            <a:srgbClr val="368EF8"/>
          </a:solidFill>
          <a:ln>
            <a:noFill/>
          </a:ln>
        </p:spPr>
        <p:txBody>
          <a:bodyPr rtlCol="0" anchor="ctr"/>
          <a:lstStyle/>
          <a:p>
            <a:pPr algn="ctr"/>
          </a:p>
        </p:txBody>
      </p:sp>
      <p:sp>
        <p:nvSpPr>
          <p:cNvPr id="31" name="TextBox 30"/>
          <p:cNvSpPr txBox="1"/>
          <p:nvPr/>
        </p:nvSpPr>
        <p:spPr>
          <a:xfrm>
            <a:off x="704088" y="3364992"/>
            <a:ext cx="5254599" cy="292608"/>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Affiliate click</a:t>
            </a:r>
          </a:p>
        </p:txBody>
      </p:sp>
      <p:sp>
        <p:nvSpPr>
          <p:cNvPr id="32" name="TextBox 31"/>
          <p:cNvSpPr txBox="1"/>
          <p:nvPr/>
        </p:nvSpPr>
        <p:spPr>
          <a:xfrm>
            <a:off x="704088" y="3712464"/>
            <a:ext cx="5254599" cy="841248"/>
          </a:xfrm>
          <a:prstGeom prst="rect">
            <a:avLst/>
          </a:prstGeom>
          <a:noFill/>
        </p:spPr>
        <p:txBody>
          <a:bodyPr wrap="square" lIns="0" rIns="0" tIns="0" bIns="0" anchor="t">
            <a:noAutofit/>
          </a:bodyPr>
          <a:lstStyle/>
          <a:p>
            <a:pPr algn="l">
              <a:lnSpc>
                <a:spcPct val="108000"/>
              </a:lnSpc>
              <a:spcAft>
                <a:spcPts val="0"/>
              </a:spcAft>
            </a:pPr>
            <a:r>
              <a:rPr sz="1050" i="0" b="0">
                <a:solidFill>
                  <a:srgbClr val="1E2833"/>
                </a:solidFill>
                <a:latin typeface="Arial"/>
              </a:rPr>
              <a:t>A landing whose URL carries network tracking (Partnerize click_id, Impact irclickid / CIDIMP, Walmart wmlspartner), or a network redirect hop (saatva.prf.hn). De-duplicated by click id. A hop that never lands is a </a:t>
            </a:r>
            <a:r>
              <a:rPr sz="1050" i="0" b="1">
                <a:solidFill>
                  <a:srgbClr val="1E2833"/>
                </a:solidFill>
                <a:latin typeface="Arial"/>
              </a:rPr>
              <a:t>click without landing</a:t>
            </a:r>
            <a:r>
              <a:rPr sz="1050" i="0" b="0">
                <a:solidFill>
                  <a:srgbClr val="1E2833"/>
                </a:solidFill>
                <a:latin typeface="Arial"/>
              </a:rPr>
              <a:t>.</a:t>
            </a:r>
          </a:p>
        </p:txBody>
      </p:sp>
      <p:sp>
        <p:nvSpPr>
          <p:cNvPr id="33" name="Rectangle 32"/>
          <p:cNvSpPr/>
          <p:nvPr/>
        </p:nvSpPr>
        <p:spPr>
          <a:xfrm>
            <a:off x="6233007" y="3401568"/>
            <a:ext cx="64008" cy="219456"/>
          </a:xfrm>
          <a:prstGeom prst="rect">
            <a:avLst/>
          </a:prstGeom>
          <a:solidFill>
            <a:srgbClr val="368EF8"/>
          </a:solidFill>
          <a:ln>
            <a:noFill/>
          </a:ln>
        </p:spPr>
        <p:txBody>
          <a:bodyPr rtlCol="0" anchor="ctr"/>
          <a:lstStyle/>
          <a:p>
            <a:pPr algn="ctr"/>
          </a:p>
        </p:txBody>
      </p:sp>
      <p:sp>
        <p:nvSpPr>
          <p:cNvPr id="34" name="TextBox 33"/>
          <p:cNvSpPr txBox="1"/>
          <p:nvPr/>
        </p:nvSpPr>
        <p:spPr>
          <a:xfrm>
            <a:off x="6388455" y="3364992"/>
            <a:ext cx="5254599" cy="292608"/>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Conversion</a:t>
            </a:r>
          </a:p>
        </p:txBody>
      </p:sp>
      <p:sp>
        <p:nvSpPr>
          <p:cNvPr id="35" name="TextBox 34"/>
          <p:cNvSpPr txBox="1"/>
          <p:nvPr/>
        </p:nvSpPr>
        <p:spPr>
          <a:xfrm>
            <a:off x="6388455" y="3712464"/>
            <a:ext cx="5254599" cy="841248"/>
          </a:xfrm>
          <a:prstGeom prst="rect">
            <a:avLst/>
          </a:prstGeom>
          <a:noFill/>
        </p:spPr>
        <p:txBody>
          <a:bodyPr wrap="square" lIns="0" rIns="0" tIns="0" bIns="0" anchor="t">
            <a:noAutofit/>
          </a:bodyPr>
          <a:lstStyle/>
          <a:p>
            <a:pPr algn="l">
              <a:lnSpc>
                <a:spcPct val="108000"/>
              </a:lnSpc>
              <a:spcAft>
                <a:spcPts val="0"/>
              </a:spcAft>
            </a:pPr>
            <a:r>
              <a:rPr sz="1050" i="0" b="1">
                <a:solidFill>
                  <a:srgbClr val="1E2833"/>
                </a:solidFill>
                <a:latin typeface="Arial"/>
              </a:rPr>
              <a:t>Primary:</a:t>
            </a:r>
            <a:r>
              <a:rPr sz="1050" i="0" b="0">
                <a:solidFill>
                  <a:srgbClr val="1E2833"/>
                </a:solidFill>
                <a:latin typeface="Arial"/>
              </a:rPr>
              <a:t> the order-confirmation page, matched on the URL path. </a:t>
            </a:r>
            <a:r>
              <a:rPr sz="1050" i="0" b="1">
                <a:solidFill>
                  <a:srgbClr val="1E2833"/>
                </a:solidFill>
                <a:latin typeface="Arial"/>
              </a:rPr>
              <a:t>Broad:</a:t>
            </a:r>
            <a:r>
              <a:rPr sz="1050" i="0" b="0">
                <a:solidFill>
                  <a:srgbClr val="1E2833"/>
                </a:solidFill>
                <a:latin typeface="Arial"/>
              </a:rPr>
              <a:t> an order, an account registration or a financing application (Affirm, Klarna). Cart and checkout reach are tracked as funnel steps.</a:t>
            </a:r>
          </a:p>
        </p:txBody>
      </p:sp>
      <p:sp>
        <p:nvSpPr>
          <p:cNvPr id="36" name="Rectangle 35"/>
          <p:cNvSpPr/>
          <p:nvPr/>
        </p:nvSpPr>
        <p:spPr>
          <a:xfrm>
            <a:off x="548640" y="4718304"/>
            <a:ext cx="64008" cy="219456"/>
          </a:xfrm>
          <a:prstGeom prst="rect">
            <a:avLst/>
          </a:prstGeom>
          <a:solidFill>
            <a:srgbClr val="368EF8"/>
          </a:solidFill>
          <a:ln>
            <a:noFill/>
          </a:ln>
        </p:spPr>
        <p:txBody>
          <a:bodyPr rtlCol="0" anchor="ctr"/>
          <a:lstStyle/>
          <a:p>
            <a:pPr algn="ctr"/>
          </a:p>
        </p:txBody>
      </p:sp>
      <p:sp>
        <p:nvSpPr>
          <p:cNvPr id="37" name="TextBox 36"/>
          <p:cNvSpPr txBox="1"/>
          <p:nvPr/>
        </p:nvSpPr>
        <p:spPr>
          <a:xfrm>
            <a:off x="704088" y="4681728"/>
            <a:ext cx="5254599" cy="292608"/>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Attribution</a:t>
            </a:r>
          </a:p>
        </p:txBody>
      </p:sp>
      <p:sp>
        <p:nvSpPr>
          <p:cNvPr id="38" name="TextBox 37"/>
          <p:cNvSpPr txBox="1"/>
          <p:nvPr/>
        </p:nvSpPr>
        <p:spPr>
          <a:xfrm>
            <a:off x="704088" y="5029200"/>
            <a:ext cx="5254599" cy="841248"/>
          </a:xfrm>
          <a:prstGeom prst="rect">
            <a:avLst/>
          </a:prstGeom>
          <a:noFill/>
        </p:spPr>
        <p:txBody>
          <a:bodyPr wrap="square" lIns="0" rIns="0" tIns="0" bIns="0" anchor="t">
            <a:noAutofit/>
          </a:bodyPr>
          <a:lstStyle/>
          <a:p>
            <a:pPr algn="l">
              <a:lnSpc>
                <a:spcPct val="108000"/>
              </a:lnSpc>
              <a:spcAft>
                <a:spcPts val="0"/>
              </a:spcAft>
            </a:pPr>
            <a:r>
              <a:rPr sz="1050" i="0" b="0">
                <a:solidFill>
                  <a:srgbClr val="1E2833"/>
                </a:solidFill>
                <a:latin typeface="Arial"/>
              </a:rPr>
              <a:t>The last affiliate click for the brand earlier the same day, since the data covers one day. A click keeps the credit until the user's next affiliate click for that brand.</a:t>
            </a:r>
          </a:p>
        </p:txBody>
      </p:sp>
      <p:sp>
        <p:nvSpPr>
          <p:cNvPr id="39" name="Rectangle 38"/>
          <p:cNvSpPr/>
          <p:nvPr/>
        </p:nvSpPr>
        <p:spPr>
          <a:xfrm>
            <a:off x="6233007" y="4718304"/>
            <a:ext cx="64008" cy="219456"/>
          </a:xfrm>
          <a:prstGeom prst="rect">
            <a:avLst/>
          </a:prstGeom>
          <a:solidFill>
            <a:srgbClr val="368EF8"/>
          </a:solidFill>
          <a:ln>
            <a:noFill/>
          </a:ln>
        </p:spPr>
        <p:txBody>
          <a:bodyPr rtlCol="0" anchor="ctr"/>
          <a:lstStyle/>
          <a:p>
            <a:pPr algn="ctr"/>
          </a:p>
        </p:txBody>
      </p:sp>
      <p:sp>
        <p:nvSpPr>
          <p:cNvPr id="40" name="TextBox 39"/>
          <p:cNvSpPr txBox="1"/>
          <p:nvPr/>
        </p:nvSpPr>
        <p:spPr>
          <a:xfrm>
            <a:off x="6388455" y="4681728"/>
            <a:ext cx="5254599" cy="292608"/>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Visits and US users</a:t>
            </a:r>
          </a:p>
        </p:txBody>
      </p:sp>
      <p:sp>
        <p:nvSpPr>
          <p:cNvPr id="41" name="TextBox 40"/>
          <p:cNvSpPr txBox="1"/>
          <p:nvPr/>
        </p:nvSpPr>
        <p:spPr>
          <a:xfrm>
            <a:off x="6388455" y="5029200"/>
            <a:ext cx="5254599" cy="841248"/>
          </a:xfrm>
          <a:prstGeom prst="rect">
            <a:avLst/>
          </a:prstGeom>
          <a:noFill/>
        </p:spPr>
        <p:txBody>
          <a:bodyPr wrap="square" lIns="0" rIns="0" tIns="0" bIns="0" anchor="t">
            <a:noAutofit/>
          </a:bodyPr>
          <a:lstStyle/>
          <a:p>
            <a:pPr algn="l">
              <a:lnSpc>
                <a:spcPct val="108000"/>
              </a:lnSpc>
              <a:spcAft>
                <a:spcPts val="0"/>
              </a:spcAft>
            </a:pPr>
            <a:r>
              <a:rPr sz="1050" i="0" b="0">
                <a:solidFill>
                  <a:srgbClr val="1E2833"/>
                </a:solidFill>
                <a:latin typeface="Arial"/>
              </a:rPr>
              <a:t>A visit is a run of pageviews on the brand's site, split at 30-minute gaps; its entry URL gives the traffic source. A user is non-US if ≥20% of their events are on non-US country domains (88.5% are US).</a:t>
            </a:r>
          </a:p>
        </p:txBody>
      </p:sp>
      <p:sp>
        <p:nvSpPr>
          <p:cNvPr id="42" name="TextBox 41"/>
          <p:cNvSpPr txBox="1"/>
          <p:nvPr/>
        </p:nvSpPr>
        <p:spPr>
          <a:xfrm>
            <a:off x="548640" y="6053328"/>
            <a:ext cx="11094415" cy="256032"/>
          </a:xfrm>
          <a:prstGeom prst="rect">
            <a:avLst/>
          </a:prstGeom>
          <a:noFill/>
        </p:spPr>
        <p:txBody>
          <a:bodyPr wrap="square" lIns="0" rIns="0" tIns="0" bIns="0" anchor="t">
            <a:noAutofit/>
          </a:bodyPr>
          <a:lstStyle/>
          <a:p>
            <a:pPr algn="l">
              <a:lnSpc>
                <a:spcPct val="110000"/>
              </a:lnSpc>
              <a:spcAft>
                <a:spcPts val="0"/>
              </a:spcAft>
            </a:pPr>
            <a:r>
              <a:rPr sz="1050" i="0" b="0">
                <a:solidFill>
                  <a:srgbClr val="647282"/>
                </a:solidFill>
                <a:latin typeface="Arial"/>
              </a:rPr>
              <a:t>DuckDB SQL  ·  10 documented steps  ·  ~30 seconds on a laptop  ·  </a:t>
            </a:r>
            <a:r>
              <a:rPr sz="1050" i="0" b="1">
                <a:solidFill>
                  <a:srgbClr val="006BA1"/>
                </a:solidFill>
                <a:latin typeface="Arial"/>
              </a:rPr>
              <a:t>github.com/Hagaygro/partnerize-assignment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DATA VALIDATION</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Validating the data changed the answer: duplicates and mirror IDs would have inflated the results</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4</a:t>
            </a:r>
          </a:p>
        </p:txBody>
      </p:sp>
      <p:graphicFrame>
        <p:nvGraphicFramePr>
          <p:cNvPr id="11" name="Table 10"/>
          <p:cNvGraphicFramePr>
            <a:graphicFrameLocks noGrp="1"/>
          </p:cNvGraphicFramePr>
          <p:nvPr/>
        </p:nvGraphicFramePr>
        <p:xfrm>
          <a:off x="548640" y="1691640"/>
          <a:ext cx="7863840" cy="3758184"/>
        </p:xfrm>
        <a:graphic>
          <a:graphicData uri="http://schemas.openxmlformats.org/drawingml/2006/table">
            <a:tbl>
              <a:tblPr firstRow="0" bandRow="0">
                <a:tableStyleId>{2D5ABB26-0587-4C30-8999-92F81FD0307C}</a:tableStyleId>
              </a:tblPr>
              <a:tblGrid>
                <a:gridCol w="1600200"/>
                <a:gridCol w="3337560"/>
                <a:gridCol w="2926080"/>
              </a:tblGrid>
              <a:tr h="365760">
                <a:tc>
                  <a:txBody>
                    <a:bodyPr/>
                    <a:lstStyle/>
                    <a:p>
                      <a:pPr algn="l">
                        <a:lnSpc>
                          <a:spcPct val="100000"/>
                        </a:lnSpc>
                        <a:spcAft>
                          <a:spcPts val="0"/>
                        </a:spcAft>
                      </a:pPr>
                      <a:r>
                        <a:rPr sz="1000" i="0" b="1">
                          <a:solidFill>
                            <a:srgbClr val="FFFFFF"/>
                          </a:solidFill>
                          <a:latin typeface="Arial"/>
                        </a:rPr>
                        <a:t>Check</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Finding</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Handling</a:t>
                      </a:r>
                    </a:p>
                  </a:txBody>
                  <a:tcPr marL="73152" marR="73152" marT="27432" marB="27432" anchor="ctr">
                    <a:lnL w="0">
                      <a:noFill/>
                    </a:lnL>
                    <a:lnR w="0">
                      <a:noFill/>
                    </a:lnR>
                    <a:lnT w="0">
                      <a:noFill/>
                    </a:lnT>
                    <a:lnB w="0">
                      <a:noFill/>
                    </a:lnB>
                    <a:solidFill>
                      <a:srgbClr val="0B2A4A"/>
                    </a:solidFill>
                  </a:tcPr>
                </a:tc>
              </a:tr>
              <a:tr h="484632">
                <a:tc>
                  <a:txBody>
                    <a:bodyPr/>
                    <a:lstStyle/>
                    <a:p>
                      <a:pPr algn="l">
                        <a:lnSpc>
                          <a:spcPct val="100000"/>
                        </a:lnSpc>
                        <a:spcAft>
                          <a:spcPts val="0"/>
                        </a:spcAft>
                      </a:pPr>
                      <a:r>
                        <a:rPr sz="1050" i="0" b="1">
                          <a:solidFill>
                            <a:srgbClr val="1E2833"/>
                          </a:solidFill>
                          <a:latin typeface="Arial"/>
                        </a:rPr>
                        <a:t>Period</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One day only: 1 May 2026, 00:00–23:59 UTC</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Daily estimates; same-day attribution</a:t>
                      </a:r>
                    </a:p>
                  </a:txBody>
                  <a:tcPr marL="73152" marR="73152" marT="27432" marB="27432" anchor="ctr">
                    <a:lnL w="0">
                      <a:noFill/>
                    </a:lnL>
                    <a:lnR w="0">
                      <a:noFill/>
                    </a:lnR>
                    <a:lnT w="0">
                      <a:noFill/>
                    </a:lnT>
                    <a:lnB w="9525">
                      <a:solidFill>
                        <a:srgbClr val="D6DDE5"/>
                      </a:solidFill>
                    </a:lnB>
                    <a:solidFill>
                      <a:srgbClr val="FFFFFF"/>
                    </a:solidFill>
                  </a:tcPr>
                </a:tc>
              </a:tr>
              <a:tr h="484632">
                <a:tc>
                  <a:txBody>
                    <a:bodyPr/>
                    <a:lstStyle/>
                    <a:p>
                      <a:pPr algn="l">
                        <a:lnSpc>
                          <a:spcPct val="100000"/>
                        </a:lnSpc>
                        <a:spcAft>
                          <a:spcPts val="0"/>
                        </a:spcAft>
                      </a:pPr>
                      <a:r>
                        <a:rPr sz="1050" i="0" b="1">
                          <a:solidFill>
                            <a:srgbClr val="1E2833"/>
                          </a:solidFill>
                          <a:latin typeface="Arial"/>
                        </a:rPr>
                        <a:t>Double-recorded events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14.7% of rows repeat the same user, second and URL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Deduplicated</a:t>
                      </a:r>
                    </a:p>
                  </a:txBody>
                  <a:tcPr marL="73152" marR="73152" marT="27432" marB="27432" anchor="ctr">
                    <a:lnL w="0">
                      <a:noFill/>
                    </a:lnL>
                    <a:lnR w="0">
                      <a:noFill/>
                    </a:lnR>
                    <a:lnT w="0">
                      <a:noFill/>
                    </a:lnT>
                    <a:lnB w="9525">
                      <a:solidFill>
                        <a:srgbClr val="D6DDE5"/>
                      </a:solidFill>
                    </a:lnB>
                    <a:solidFill>
                      <a:srgbClr val="FFFFFF"/>
                    </a:solidFill>
                  </a:tcPr>
                </a:tc>
              </a:tr>
              <a:tr h="484632">
                <a:tc>
                  <a:txBody>
                    <a:bodyPr/>
                    <a:lstStyle/>
                    <a:p>
                      <a:pPr algn="l">
                        <a:lnSpc>
                          <a:spcPct val="100000"/>
                        </a:lnSpc>
                        <a:spcAft>
                          <a:spcPts val="0"/>
                        </a:spcAft>
                      </a:pPr>
                      <a:r>
                        <a:rPr sz="1050" i="0" b="1">
                          <a:solidFill>
                            <a:srgbClr val="1E2833"/>
                          </a:solidFill>
                          <a:latin typeface="Arial"/>
                        </a:rPr>
                        <a:t>Mirror user IDs</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l">
                        <a:lnSpc>
                          <a:spcPct val="100000"/>
                        </a:lnSpc>
                        <a:spcAft>
                          <a:spcPts val="0"/>
                        </a:spcAft>
                      </a:pPr>
                      <a:r>
                        <a:rPr sz="1050" i="0" b="0">
                          <a:solidFill>
                            <a:srgbClr val="1E2833"/>
                          </a:solidFill>
                          <a:latin typeface="Arial"/>
                        </a:rPr>
                        <a:t>Some people are recorded under two USER_IDs, one a partial copy of the other</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l">
                        <a:lnSpc>
                          <a:spcPct val="100000"/>
                        </a:lnSpc>
                        <a:spcAft>
                          <a:spcPts val="0"/>
                        </a:spcAft>
                      </a:pPr>
                      <a:r>
                        <a:rPr sz="1050" i="0" b="0">
                          <a:solidFill>
                            <a:srgbClr val="1E2833"/>
                          </a:solidFill>
                          <a:latin typeface="Arial"/>
                        </a:rPr>
                        <a:t>IDs sharing ≥3 identical events merged into one person (2,426 IDs)</a:t>
                      </a:r>
                    </a:p>
                  </a:txBody>
                  <a:tcPr marL="73152" marR="73152" marT="27432" marB="27432" anchor="ctr">
                    <a:lnL w="0">
                      <a:noFill/>
                    </a:lnL>
                    <a:lnR w="0">
                      <a:noFill/>
                    </a:lnR>
                    <a:lnT w="0">
                      <a:noFill/>
                    </a:lnT>
                    <a:lnB w="9525">
                      <a:solidFill>
                        <a:srgbClr val="D6DDE5"/>
                      </a:solidFill>
                    </a:lnB>
                    <a:solidFill>
                      <a:srgbClr val="F6EFE8"/>
                    </a:solidFill>
                  </a:tcPr>
                </a:tc>
              </a:tr>
              <a:tr h="484632">
                <a:tc>
                  <a:txBody>
                    <a:bodyPr/>
                    <a:lstStyle/>
                    <a:p>
                      <a:pPr algn="l">
                        <a:lnSpc>
                          <a:spcPct val="100000"/>
                        </a:lnSpc>
                        <a:spcAft>
                          <a:spcPts val="0"/>
                        </a:spcAft>
                      </a:pPr>
                      <a:r>
                        <a:rPr sz="1050" i="0" b="1">
                          <a:solidFill>
                            <a:srgbClr val="1E2833"/>
                          </a:solidFill>
                          <a:latin typeface="Arial"/>
                        </a:rPr>
                        <a:t>Non-page rows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iframes and tags appear as rows (sgtm.saatva.com, Shopify pixels)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Visits use main-site pages only</a:t>
                      </a:r>
                    </a:p>
                  </a:txBody>
                  <a:tcPr marL="73152" marR="73152" marT="27432" marB="27432" anchor="ctr">
                    <a:lnL w="0">
                      <a:noFill/>
                    </a:lnL>
                    <a:lnR w="0">
                      <a:noFill/>
                    </a:lnR>
                    <a:lnT w="0">
                      <a:noFill/>
                    </a:lnT>
                    <a:lnB w="9525">
                      <a:solidFill>
                        <a:srgbClr val="D6DDE5"/>
                      </a:solidFill>
                    </a:lnB>
                    <a:solidFill>
                      <a:srgbClr val="FFFFFF"/>
                    </a:solidFill>
                  </a:tcPr>
                </a:tc>
              </a:tr>
              <a:tr h="484632">
                <a:tc>
                  <a:txBody>
                    <a:bodyPr/>
                    <a:lstStyle/>
                    <a:p>
                      <a:pPr algn="l">
                        <a:lnSpc>
                          <a:spcPct val="100000"/>
                        </a:lnSpc>
                        <a:spcAft>
                          <a:spcPts val="0"/>
                        </a:spcAft>
                      </a:pPr>
                      <a:r>
                        <a:rPr sz="1050" i="0" b="1">
                          <a:solidFill>
                            <a:srgbClr val="1E2833"/>
                          </a:solidFill>
                          <a:latin typeface="Arial"/>
                        </a:rPr>
                        <a:t>Sessions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~2.5 parallel SESSION_IDs per user per day, one per tab</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Analysis per person, not per session</a:t>
                      </a:r>
                    </a:p>
                  </a:txBody>
                  <a:tcPr marL="73152" marR="73152" marT="27432" marB="27432" anchor="ctr">
                    <a:lnL w="0">
                      <a:noFill/>
                    </a:lnL>
                    <a:lnR w="0">
                      <a:noFill/>
                    </a:lnR>
                    <a:lnT w="0">
                      <a:noFill/>
                    </a:lnT>
                    <a:lnB w="9525">
                      <a:solidFill>
                        <a:srgbClr val="D6DDE5"/>
                      </a:solidFill>
                    </a:lnB>
                    <a:solidFill>
                      <a:srgbClr val="FFFFFF"/>
                    </a:solidFill>
                  </a:tcPr>
                </a:tc>
              </a:tr>
              <a:tr h="484632">
                <a:tc>
                  <a:txBody>
                    <a:bodyPr/>
                    <a:lstStyle/>
                    <a:p>
                      <a:pPr algn="l">
                        <a:lnSpc>
                          <a:spcPct val="100000"/>
                        </a:lnSpc>
                        <a:spcAft>
                          <a:spcPts val="0"/>
                        </a:spcAft>
                      </a:pPr>
                      <a:r>
                        <a:rPr sz="1050" i="0" b="1">
                          <a:solidFill>
                            <a:srgbClr val="1E2833"/>
                          </a:solidFill>
                          <a:latin typeface="Arial"/>
                        </a:rPr>
                        <a:t>Country</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No country field</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Non-US if ≥20% of events are on non-US country domains: 88.5% US</a:t>
                      </a:r>
                    </a:p>
                  </a:txBody>
                  <a:tcPr marL="73152" marR="73152" marT="27432" marB="27432" anchor="ctr">
                    <a:lnL w="0">
                      <a:noFill/>
                    </a:lnL>
                    <a:lnR w="0">
                      <a:noFill/>
                    </a:lnR>
                    <a:lnT w="0">
                      <a:noFill/>
                    </a:lnT>
                    <a:lnB w="9525">
                      <a:solidFill>
                        <a:srgbClr val="D6DDE5"/>
                      </a:solidFill>
                    </a:lnB>
                    <a:solidFill>
                      <a:srgbClr val="FFFFFF"/>
                    </a:solidFill>
                  </a:tcPr>
                </a:tc>
              </a:tr>
              <a:tr h="484632">
                <a:tc>
                  <a:txBody>
                    <a:bodyPr/>
                    <a:lstStyle/>
                    <a:p>
                      <a:pPr algn="l">
                        <a:lnSpc>
                          <a:spcPct val="100000"/>
                        </a:lnSpc>
                        <a:spcAft>
                          <a:spcPts val="0"/>
                        </a:spcAft>
                      </a:pPr>
                      <a:r>
                        <a:rPr sz="1050" i="0" b="1">
                          <a:solidFill>
                            <a:srgbClr val="1E2833"/>
                          </a:solidFill>
                          <a:latin typeface="Arial"/>
                        </a:rPr>
                        <a:t>Hourly profile</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Step changes at 12:00 and 18:00 UTC, likely a collection artefact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50" i="0" b="0">
                          <a:solidFill>
                            <a:srgbClr val="1E2833"/>
                          </a:solidFill>
                          <a:latin typeface="Arial"/>
                        </a:rPr>
                        <a:t>Daily totals only; no intraday conclusions</a:t>
                      </a:r>
                    </a:p>
                  </a:txBody>
                  <a:tcPr marL="73152" marR="73152" marT="27432" marB="27432" anchor="ctr">
                    <a:lnL w="0">
                      <a:noFill/>
                    </a:lnL>
                    <a:lnR w="0">
                      <a:noFill/>
                    </a:lnR>
                    <a:lnT w="0">
                      <a:noFill/>
                    </a:lnT>
                    <a:lnB w="9525">
                      <a:solidFill>
                        <a:srgbClr val="D6DDE5"/>
                      </a:solidFill>
                    </a:lnB>
                    <a:solidFill>
                      <a:srgbClr val="FFFFFF"/>
                    </a:solidFill>
                  </a:tcPr>
                </a:tc>
              </a:tr>
            </a:tbl>
          </a:graphicData>
        </a:graphic>
      </p:graphicFrame>
      <p:sp>
        <p:nvSpPr>
          <p:cNvPr id="12" name="Rectangle 11"/>
          <p:cNvSpPr/>
          <p:nvPr/>
        </p:nvSpPr>
        <p:spPr>
          <a:xfrm>
            <a:off x="8686800" y="1691640"/>
            <a:ext cx="2956255" cy="1188720"/>
          </a:xfrm>
          <a:prstGeom prst="rect">
            <a:avLst/>
          </a:prstGeom>
          <a:solidFill>
            <a:srgbClr val="F3F6F9"/>
          </a:solidFill>
          <a:ln>
            <a:noFill/>
          </a:ln>
        </p:spPr>
        <p:txBody>
          <a:bodyPr rtlCol="0" anchor="ctr"/>
          <a:lstStyle/>
          <a:p>
            <a:pPr algn="ctr"/>
          </a:p>
        </p:txBody>
      </p:sp>
      <p:sp>
        <p:nvSpPr>
          <p:cNvPr id="13" name="Rectangle 12"/>
          <p:cNvSpPr/>
          <p:nvPr/>
        </p:nvSpPr>
        <p:spPr>
          <a:xfrm>
            <a:off x="8686800" y="1691640"/>
            <a:ext cx="54864" cy="1188720"/>
          </a:xfrm>
          <a:prstGeom prst="rect">
            <a:avLst/>
          </a:prstGeom>
          <a:solidFill>
            <a:srgbClr val="FF9438"/>
          </a:solidFill>
          <a:ln>
            <a:noFill/>
          </a:ln>
        </p:spPr>
        <p:txBody>
          <a:bodyPr rtlCol="0" anchor="ctr"/>
          <a:lstStyle/>
          <a:p>
            <a:pPr algn="ctr"/>
          </a:p>
        </p:txBody>
      </p:sp>
      <p:sp>
        <p:nvSpPr>
          <p:cNvPr id="14" name="TextBox 13"/>
          <p:cNvSpPr txBox="1"/>
          <p:nvPr/>
        </p:nvSpPr>
        <p:spPr>
          <a:xfrm>
            <a:off x="8915400" y="1819656"/>
            <a:ext cx="2590495" cy="502920"/>
          </a:xfrm>
          <a:prstGeom prst="rect">
            <a:avLst/>
          </a:prstGeom>
          <a:noFill/>
        </p:spPr>
        <p:txBody>
          <a:bodyPr wrap="square" lIns="0" rIns="0" tIns="0" bIns="0" anchor="t">
            <a:noAutofit/>
          </a:bodyPr>
          <a:lstStyle/>
          <a:p>
            <a:pPr algn="l">
              <a:lnSpc>
                <a:spcPct val="110000"/>
              </a:lnSpc>
              <a:spcAft>
                <a:spcPts val="0"/>
              </a:spcAft>
            </a:pPr>
            <a:r>
              <a:rPr sz="2800" i="0" b="0">
                <a:solidFill>
                  <a:srgbClr val="C9620E"/>
                </a:solidFill>
                <a:latin typeface="Georgia"/>
              </a:rPr>
              <a:t>14.7%</a:t>
            </a:r>
          </a:p>
        </p:txBody>
      </p:sp>
      <p:sp>
        <p:nvSpPr>
          <p:cNvPr id="15" name="TextBox 14"/>
          <p:cNvSpPr txBox="1"/>
          <p:nvPr/>
        </p:nvSpPr>
        <p:spPr>
          <a:xfrm>
            <a:off x="8915400" y="2350008"/>
            <a:ext cx="2590495" cy="457200"/>
          </a:xfrm>
          <a:prstGeom prst="rect">
            <a:avLst/>
          </a:prstGeom>
          <a:noFill/>
        </p:spPr>
        <p:txBody>
          <a:bodyPr wrap="square" lIns="0" rIns="0" tIns="0" bIns="0" anchor="t">
            <a:noAutofit/>
          </a:bodyPr>
          <a:lstStyle/>
          <a:p>
            <a:pPr algn="l">
              <a:lnSpc>
                <a:spcPct val="105000"/>
              </a:lnSpc>
              <a:spcAft>
                <a:spcPts val="0"/>
              </a:spcAft>
            </a:pPr>
            <a:r>
              <a:rPr sz="1050" i="0" b="0">
                <a:solidFill>
                  <a:srgbClr val="1E2833"/>
                </a:solidFill>
                <a:latin typeface="Arial"/>
              </a:rPr>
              <a:t>of rows are double-recorded: same user, second and URL</a:t>
            </a:r>
          </a:p>
        </p:txBody>
      </p:sp>
      <p:sp>
        <p:nvSpPr>
          <p:cNvPr id="16" name="Rectangle 15"/>
          <p:cNvSpPr/>
          <p:nvPr/>
        </p:nvSpPr>
        <p:spPr>
          <a:xfrm>
            <a:off x="8686800" y="2999232"/>
            <a:ext cx="2956255" cy="1188720"/>
          </a:xfrm>
          <a:prstGeom prst="rect">
            <a:avLst/>
          </a:prstGeom>
          <a:solidFill>
            <a:srgbClr val="F3F6F9"/>
          </a:solidFill>
          <a:ln>
            <a:noFill/>
          </a:ln>
        </p:spPr>
        <p:txBody>
          <a:bodyPr rtlCol="0" anchor="ctr"/>
          <a:lstStyle/>
          <a:p>
            <a:pPr algn="ctr"/>
          </a:p>
        </p:txBody>
      </p:sp>
      <p:sp>
        <p:nvSpPr>
          <p:cNvPr id="17" name="Rectangle 16"/>
          <p:cNvSpPr/>
          <p:nvPr/>
        </p:nvSpPr>
        <p:spPr>
          <a:xfrm>
            <a:off x="8686800" y="2999232"/>
            <a:ext cx="54864" cy="1188720"/>
          </a:xfrm>
          <a:prstGeom prst="rect">
            <a:avLst/>
          </a:prstGeom>
          <a:solidFill>
            <a:srgbClr val="FF9438"/>
          </a:solidFill>
          <a:ln>
            <a:noFill/>
          </a:ln>
        </p:spPr>
        <p:txBody>
          <a:bodyPr rtlCol="0" anchor="ctr"/>
          <a:lstStyle/>
          <a:p>
            <a:pPr algn="ctr"/>
          </a:p>
        </p:txBody>
      </p:sp>
      <p:sp>
        <p:nvSpPr>
          <p:cNvPr id="18" name="TextBox 17"/>
          <p:cNvSpPr txBox="1"/>
          <p:nvPr/>
        </p:nvSpPr>
        <p:spPr>
          <a:xfrm>
            <a:off x="8915400" y="3127248"/>
            <a:ext cx="2590495" cy="502920"/>
          </a:xfrm>
          <a:prstGeom prst="rect">
            <a:avLst/>
          </a:prstGeom>
          <a:noFill/>
        </p:spPr>
        <p:txBody>
          <a:bodyPr wrap="square" lIns="0" rIns="0" tIns="0" bIns="0" anchor="t">
            <a:noAutofit/>
          </a:bodyPr>
          <a:lstStyle/>
          <a:p>
            <a:pPr algn="l">
              <a:lnSpc>
                <a:spcPct val="110000"/>
              </a:lnSpc>
              <a:spcAft>
                <a:spcPts val="0"/>
              </a:spcAft>
            </a:pPr>
            <a:r>
              <a:rPr sz="2800" i="0" b="0">
                <a:solidFill>
                  <a:srgbClr val="C9620E"/>
                </a:solidFill>
                <a:latin typeface="Georgia"/>
              </a:rPr>
              <a:t>14–28%</a:t>
            </a:r>
          </a:p>
        </p:txBody>
      </p:sp>
      <p:sp>
        <p:nvSpPr>
          <p:cNvPr id="19" name="TextBox 18"/>
          <p:cNvSpPr txBox="1"/>
          <p:nvPr/>
        </p:nvSpPr>
        <p:spPr>
          <a:xfrm>
            <a:off x="8915400" y="3657600"/>
            <a:ext cx="2590495" cy="457200"/>
          </a:xfrm>
          <a:prstGeom prst="rect">
            <a:avLst/>
          </a:prstGeom>
          <a:noFill/>
        </p:spPr>
        <p:txBody>
          <a:bodyPr wrap="square" lIns="0" rIns="0" tIns="0" bIns="0" anchor="t">
            <a:noAutofit/>
          </a:bodyPr>
          <a:lstStyle/>
          <a:p>
            <a:pPr algn="l">
              <a:lnSpc>
                <a:spcPct val="105000"/>
              </a:lnSpc>
              <a:spcAft>
                <a:spcPts val="0"/>
              </a:spcAft>
            </a:pPr>
            <a:r>
              <a:rPr sz="1050" i="0" b="0">
                <a:solidFill>
                  <a:srgbClr val="1E2833"/>
                </a:solidFill>
                <a:latin typeface="Arial"/>
              </a:rPr>
              <a:t>of brand visits came from mirror IDs, one person under two USER_IDs</a:t>
            </a:r>
          </a:p>
        </p:txBody>
      </p:sp>
      <p:sp>
        <p:nvSpPr>
          <p:cNvPr id="20" name="Rectangle 19"/>
          <p:cNvSpPr/>
          <p:nvPr/>
        </p:nvSpPr>
        <p:spPr>
          <a:xfrm>
            <a:off x="8686800" y="4306824"/>
            <a:ext cx="2956255" cy="1188720"/>
          </a:xfrm>
          <a:prstGeom prst="rect">
            <a:avLst/>
          </a:prstGeom>
          <a:solidFill>
            <a:srgbClr val="F3F6F9"/>
          </a:solidFill>
          <a:ln>
            <a:noFill/>
          </a:ln>
        </p:spPr>
        <p:txBody>
          <a:bodyPr rtlCol="0" anchor="ctr"/>
          <a:lstStyle/>
          <a:p>
            <a:pPr algn="ctr"/>
          </a:p>
        </p:txBody>
      </p:sp>
      <p:sp>
        <p:nvSpPr>
          <p:cNvPr id="21" name="Rectangle 20"/>
          <p:cNvSpPr/>
          <p:nvPr/>
        </p:nvSpPr>
        <p:spPr>
          <a:xfrm>
            <a:off x="8686800" y="4306824"/>
            <a:ext cx="54864" cy="1188720"/>
          </a:xfrm>
          <a:prstGeom prst="rect">
            <a:avLst/>
          </a:prstGeom>
          <a:solidFill>
            <a:srgbClr val="FF9438"/>
          </a:solidFill>
          <a:ln>
            <a:noFill/>
          </a:ln>
        </p:spPr>
        <p:txBody>
          <a:bodyPr rtlCol="0" anchor="ctr"/>
          <a:lstStyle/>
          <a:p>
            <a:pPr algn="ctr"/>
          </a:p>
        </p:txBody>
      </p:sp>
      <p:sp>
        <p:nvSpPr>
          <p:cNvPr id="22" name="TextBox 21"/>
          <p:cNvSpPr txBox="1"/>
          <p:nvPr/>
        </p:nvSpPr>
        <p:spPr>
          <a:xfrm>
            <a:off x="8915400" y="4434840"/>
            <a:ext cx="2590495" cy="502920"/>
          </a:xfrm>
          <a:prstGeom prst="rect">
            <a:avLst/>
          </a:prstGeom>
          <a:noFill/>
        </p:spPr>
        <p:txBody>
          <a:bodyPr wrap="square" lIns="0" rIns="0" tIns="0" bIns="0" anchor="t">
            <a:noAutofit/>
          </a:bodyPr>
          <a:lstStyle/>
          <a:p>
            <a:pPr algn="l">
              <a:lnSpc>
                <a:spcPct val="110000"/>
              </a:lnSpc>
              <a:spcAft>
                <a:spcPts val="0"/>
              </a:spcAft>
            </a:pPr>
            <a:r>
              <a:rPr sz="2800" i="0" b="0">
                <a:solidFill>
                  <a:srgbClr val="C9620E"/>
                </a:solidFill>
                <a:latin typeface="Georgia"/>
              </a:rPr>
              <a:t>20%</a:t>
            </a:r>
          </a:p>
        </p:txBody>
      </p:sp>
      <p:sp>
        <p:nvSpPr>
          <p:cNvPr id="23" name="TextBox 22"/>
          <p:cNvSpPr txBox="1"/>
          <p:nvPr/>
        </p:nvSpPr>
        <p:spPr>
          <a:xfrm>
            <a:off x="8915400" y="4965192"/>
            <a:ext cx="2590495" cy="457200"/>
          </a:xfrm>
          <a:prstGeom prst="rect">
            <a:avLst/>
          </a:prstGeom>
          <a:noFill/>
        </p:spPr>
        <p:txBody>
          <a:bodyPr wrap="square" lIns="0" rIns="0" tIns="0" bIns="0" anchor="t">
            <a:noAutofit/>
          </a:bodyPr>
          <a:lstStyle/>
          <a:p>
            <a:pPr algn="l">
              <a:lnSpc>
                <a:spcPct val="105000"/>
              </a:lnSpc>
              <a:spcAft>
                <a:spcPts val="0"/>
              </a:spcAft>
            </a:pPr>
            <a:r>
              <a:rPr sz="1050" i="0" b="0">
                <a:solidFill>
                  <a:srgbClr val="1E2833"/>
                </a:solidFill>
                <a:latin typeface="Arial"/>
              </a:rPr>
              <a:t>of orders were mirror copies before the merge</a:t>
            </a:r>
          </a:p>
        </p:txBody>
      </p:sp>
      <p:sp>
        <p:nvSpPr>
          <p:cNvPr id="24" name="TextBox 23"/>
          <p:cNvSpPr txBox="1"/>
          <p:nvPr/>
        </p:nvSpPr>
        <p:spPr>
          <a:xfrm>
            <a:off x="548640" y="5760720"/>
            <a:ext cx="11094415" cy="457200"/>
          </a:xfrm>
          <a:prstGeom prst="rect">
            <a:avLst/>
          </a:prstGeom>
          <a:noFill/>
        </p:spPr>
        <p:txBody>
          <a:bodyPr wrap="square" lIns="0" rIns="0" tIns="0" bIns="0" anchor="t">
            <a:noAutofit/>
          </a:bodyPr>
          <a:lstStyle/>
          <a:p>
            <a:pPr algn="l">
              <a:lnSpc>
                <a:spcPct val="110000"/>
              </a:lnSpc>
              <a:spcAft>
                <a:spcPts val="0"/>
              </a:spcAft>
            </a:pPr>
            <a:r>
              <a:rPr sz="1050" i="1" b="0">
                <a:solidFill>
                  <a:srgbClr val="647282"/>
                </a:solidFill>
                <a:latin typeface="Arial"/>
              </a:rPr>
              <a:t>Example: one affiliate click was recorded under two IDs. On the partial copy, the click lost the browsing that came before it, which is exactly what the hijacking indicators read.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SCALING TO THE US</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A factor calibrated on the mattress audience reproduces each site's real traffic</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5</a:t>
            </a:r>
          </a:p>
        </p:txBody>
      </p:sp>
      <p:sp>
        <p:nvSpPr>
          <p:cNvPr id="11" name="TextBox 10"/>
          <p:cNvSpPr txBox="1"/>
          <p:nvPr/>
        </p:nvSpPr>
        <p:spPr>
          <a:xfrm>
            <a:off x="548640" y="1691640"/>
            <a:ext cx="5577840" cy="566928"/>
          </a:xfrm>
          <a:prstGeom prst="rect">
            <a:avLst/>
          </a:prstGeom>
          <a:noFill/>
        </p:spPr>
        <p:txBody>
          <a:bodyPr wrap="square" lIns="0" rIns="0" tIns="0" bIns="0" anchor="t">
            <a:noAutofit/>
          </a:bodyPr>
          <a:lstStyle/>
          <a:p>
            <a:pPr algn="l">
              <a:lnSpc>
                <a:spcPct val="108000"/>
              </a:lnSpc>
              <a:spcAft>
                <a:spcPts val="0"/>
              </a:spcAft>
            </a:pPr>
            <a:r>
              <a:rPr sz="1200" i="0" b="0">
                <a:solidFill>
                  <a:srgbClr val="1E2833"/>
                </a:solidFill>
                <a:latin typeface="Arial"/>
              </a:rPr>
              <a:t>US estimate = panel count × </a:t>
            </a:r>
            <a:r>
              <a:rPr sz="1200" i="0" b="1">
                <a:solidFill>
                  <a:srgbClr val="0B2A4A"/>
                </a:solidFill>
                <a:latin typeface="Arial"/>
              </a:rPr>
              <a:t>F</a:t>
            </a:r>
            <a:r>
              <a:rPr sz="1200" i="0" b="0">
                <a:solidFill>
                  <a:srgbClr val="1E2833"/>
                </a:solidFill>
                <a:latin typeface="Arial"/>
              </a:rPr>
              <a:t>, where F = a site's true US visits per day ÷ the panel's US visits to it, calibrated on sites with public traffic figures (Similarweb).</a:t>
            </a:r>
          </a:p>
        </p:txBody>
      </p:sp>
      <p:sp>
        <p:nvSpPr>
          <p:cNvPr id="12" name="Rectangle 11"/>
          <p:cNvSpPr/>
          <p:nvPr/>
        </p:nvSpPr>
        <p:spPr>
          <a:xfrm>
            <a:off x="548640" y="2395728"/>
            <a:ext cx="5577840" cy="1353312"/>
          </a:xfrm>
          <a:prstGeom prst="rect">
            <a:avLst/>
          </a:prstGeom>
          <a:solidFill>
            <a:srgbClr val="F3F6F9"/>
          </a:solidFill>
          <a:ln>
            <a:noFill/>
          </a:ln>
        </p:spPr>
        <p:txBody>
          <a:bodyPr rtlCol="0" anchor="ctr"/>
          <a:lstStyle/>
          <a:p>
            <a:pPr algn="ctr"/>
          </a:p>
        </p:txBody>
      </p:sp>
      <p:sp>
        <p:nvSpPr>
          <p:cNvPr id="13" name="Rectangle 12"/>
          <p:cNvSpPr/>
          <p:nvPr/>
        </p:nvSpPr>
        <p:spPr>
          <a:xfrm>
            <a:off x="548640" y="2395728"/>
            <a:ext cx="54864" cy="1353312"/>
          </a:xfrm>
          <a:prstGeom prst="rect">
            <a:avLst/>
          </a:prstGeom>
          <a:solidFill>
            <a:srgbClr val="B7C1CC"/>
          </a:solidFill>
          <a:ln>
            <a:noFill/>
          </a:ln>
        </p:spPr>
        <p:txBody>
          <a:bodyPr rtlCol="0" anchor="ctr"/>
          <a:lstStyle/>
          <a:p>
            <a:pPr algn="ctr"/>
          </a:p>
        </p:txBody>
      </p:sp>
      <p:sp>
        <p:nvSpPr>
          <p:cNvPr id="14" name="TextBox 13"/>
          <p:cNvSpPr txBox="1"/>
          <p:nvPr/>
        </p:nvSpPr>
        <p:spPr>
          <a:xfrm>
            <a:off x="777240" y="2523744"/>
            <a:ext cx="5212080" cy="274320"/>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Retail anchor: walmart.com</a:t>
            </a:r>
          </a:p>
        </p:txBody>
      </p:sp>
      <p:sp>
        <p:nvSpPr>
          <p:cNvPr id="15" name="TextBox 14"/>
          <p:cNvSpPr txBox="1"/>
          <p:nvPr/>
        </p:nvSpPr>
        <p:spPr>
          <a:xfrm>
            <a:off x="777240" y="2852928"/>
            <a:ext cx="5212080" cy="274320"/>
          </a:xfrm>
          <a:prstGeom prst="rect">
            <a:avLst/>
          </a:prstGeom>
          <a:noFill/>
        </p:spPr>
        <p:txBody>
          <a:bodyPr wrap="square" lIns="0" rIns="0" tIns="0" bIns="0" anchor="t">
            <a:noAutofit/>
          </a:bodyPr>
          <a:lstStyle/>
          <a:p>
            <a:pPr algn="l">
              <a:lnSpc>
                <a:spcPct val="110000"/>
              </a:lnSpc>
              <a:spcAft>
                <a:spcPts val="0"/>
              </a:spcAft>
            </a:pPr>
            <a:r>
              <a:rPr sz="1150" i="0" b="0">
                <a:solidFill>
                  <a:srgbClr val="1E2833"/>
                </a:solidFill>
                <a:latin typeface="Arial"/>
              </a:rPr>
              <a:t>17.9M US visits a day ÷ 16,401 panel visits  →  </a:t>
            </a:r>
            <a:r>
              <a:rPr sz="1150" i="0" b="1">
                <a:solidFill>
                  <a:srgbClr val="0B2A4A"/>
                </a:solidFill>
                <a:latin typeface="Arial"/>
              </a:rPr>
              <a:t>F_retail = 1,089</a:t>
            </a:r>
          </a:p>
        </p:txBody>
      </p:sp>
      <p:sp>
        <p:nvSpPr>
          <p:cNvPr id="16" name="TextBox 15"/>
          <p:cNvSpPr txBox="1"/>
          <p:nvPr/>
        </p:nvSpPr>
        <p:spPr>
          <a:xfrm>
            <a:off x="777240" y="3200400"/>
            <a:ext cx="5212080" cy="502920"/>
          </a:xfrm>
          <a:prstGeom prst="rect">
            <a:avLst/>
          </a:prstGeom>
          <a:noFill/>
        </p:spPr>
        <p:txBody>
          <a:bodyPr wrap="square" lIns="0" rIns="0" tIns="0" bIns="0" anchor="t">
            <a:noAutofit/>
          </a:bodyPr>
          <a:lstStyle/>
          <a:p>
            <a:pPr algn="l">
              <a:lnSpc>
                <a:spcPct val="105000"/>
              </a:lnSpc>
              <a:spcAft>
                <a:spcPts val="0"/>
              </a:spcAft>
            </a:pPr>
            <a:r>
              <a:rPr sz="1050" i="0" b="0">
                <a:solidFill>
                  <a:srgbClr val="647282"/>
                </a:solidFill>
                <a:latin typeface="Arial"/>
              </a:rPr>
              <a:t>Used for Walmart. On the mattress sites it recovers only 35–50% of their traffic: the panel under-covers that audience.</a:t>
            </a:r>
          </a:p>
        </p:txBody>
      </p:sp>
      <p:sp>
        <p:nvSpPr>
          <p:cNvPr id="17" name="Rectangle 16"/>
          <p:cNvSpPr/>
          <p:nvPr/>
        </p:nvSpPr>
        <p:spPr>
          <a:xfrm>
            <a:off x="548640" y="3877056"/>
            <a:ext cx="5577840" cy="1353312"/>
          </a:xfrm>
          <a:prstGeom prst="rect">
            <a:avLst/>
          </a:prstGeom>
          <a:solidFill>
            <a:srgbClr val="F3F6F9"/>
          </a:solidFill>
          <a:ln>
            <a:noFill/>
          </a:ln>
        </p:spPr>
        <p:txBody>
          <a:bodyPr rtlCol="0" anchor="ctr"/>
          <a:lstStyle/>
          <a:p>
            <a:pPr algn="ctr"/>
          </a:p>
        </p:txBody>
      </p:sp>
      <p:sp>
        <p:nvSpPr>
          <p:cNvPr id="18" name="Rectangle 17"/>
          <p:cNvSpPr/>
          <p:nvPr/>
        </p:nvSpPr>
        <p:spPr>
          <a:xfrm>
            <a:off x="548640" y="3877056"/>
            <a:ext cx="54864" cy="1353312"/>
          </a:xfrm>
          <a:prstGeom prst="rect">
            <a:avLst/>
          </a:prstGeom>
          <a:solidFill>
            <a:srgbClr val="368EF8"/>
          </a:solidFill>
          <a:ln>
            <a:noFill/>
          </a:ln>
        </p:spPr>
        <p:txBody>
          <a:bodyPr rtlCol="0" anchor="ctr"/>
          <a:lstStyle/>
          <a:p>
            <a:pPr algn="ctr"/>
          </a:p>
        </p:txBody>
      </p:sp>
      <p:sp>
        <p:nvSpPr>
          <p:cNvPr id="19" name="TextBox 18"/>
          <p:cNvSpPr txBox="1"/>
          <p:nvPr/>
        </p:nvSpPr>
        <p:spPr>
          <a:xfrm>
            <a:off x="777240" y="4005072"/>
            <a:ext cx="5212080" cy="274320"/>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Mattress anchor: Saatva + Nectar + DreamCloud</a:t>
            </a:r>
          </a:p>
        </p:txBody>
      </p:sp>
      <p:sp>
        <p:nvSpPr>
          <p:cNvPr id="20" name="TextBox 19"/>
          <p:cNvSpPr txBox="1"/>
          <p:nvPr/>
        </p:nvSpPr>
        <p:spPr>
          <a:xfrm>
            <a:off x="777240" y="4334256"/>
            <a:ext cx="5212080" cy="274320"/>
          </a:xfrm>
          <a:prstGeom prst="rect">
            <a:avLst/>
          </a:prstGeom>
          <a:noFill/>
        </p:spPr>
        <p:txBody>
          <a:bodyPr wrap="square" lIns="0" rIns="0" tIns="0" bIns="0" anchor="t">
            <a:noAutofit/>
          </a:bodyPr>
          <a:lstStyle/>
          <a:p>
            <a:pPr algn="l">
              <a:lnSpc>
                <a:spcPct val="110000"/>
              </a:lnSpc>
              <a:spcAft>
                <a:spcPts val="0"/>
              </a:spcAft>
            </a:pPr>
            <a:r>
              <a:rPr sz="1150" i="0" b="0">
                <a:solidFill>
                  <a:srgbClr val="1E2833"/>
                </a:solidFill>
                <a:latin typeface="Arial"/>
              </a:rPr>
              <a:t>287K US visits a day ÷ 103 panel visits  →  </a:t>
            </a:r>
            <a:r>
              <a:rPr sz="1150" i="0" b="1">
                <a:solidFill>
                  <a:srgbClr val="0B2A4A"/>
                </a:solidFill>
                <a:latin typeface="Arial"/>
              </a:rPr>
              <a:t>F_mattress = 2,784</a:t>
            </a:r>
          </a:p>
        </p:txBody>
      </p:sp>
      <p:sp>
        <p:nvSpPr>
          <p:cNvPr id="21" name="TextBox 20"/>
          <p:cNvSpPr txBox="1"/>
          <p:nvPr/>
        </p:nvSpPr>
        <p:spPr>
          <a:xfrm>
            <a:off x="777240" y="4681728"/>
            <a:ext cx="5212080" cy="502920"/>
          </a:xfrm>
          <a:prstGeom prst="rect">
            <a:avLst/>
          </a:prstGeom>
          <a:noFill/>
        </p:spPr>
        <p:txBody>
          <a:bodyPr wrap="square" lIns="0" rIns="0" tIns="0" bIns="0" anchor="t">
            <a:noAutofit/>
          </a:bodyPr>
          <a:lstStyle/>
          <a:p>
            <a:pPr algn="l">
              <a:lnSpc>
                <a:spcPct val="105000"/>
              </a:lnSpc>
              <a:spcAft>
                <a:spcPts val="0"/>
              </a:spcAft>
            </a:pPr>
            <a:r>
              <a:rPr sz="1050" i="0" b="0">
                <a:solidFill>
                  <a:srgbClr val="647282"/>
                </a:solidFill>
                <a:latin typeface="Arial"/>
              </a:rPr>
              <a:t>Used for the four mattress brands. Checked one brand at a time, it reproduces 0.89–1.27× each site's traffic.</a:t>
            </a:r>
          </a:p>
        </p:txBody>
      </p:sp>
      <p:sp>
        <p:nvSpPr>
          <p:cNvPr id="22" name="TextBox 21"/>
          <p:cNvSpPr txBox="1"/>
          <p:nvPr/>
        </p:nvSpPr>
        <p:spPr>
          <a:xfrm>
            <a:off x="548640" y="5440680"/>
            <a:ext cx="5577840" cy="868680"/>
          </a:xfrm>
          <a:prstGeom prst="rect">
            <a:avLst/>
          </a:prstGeom>
          <a:noFill/>
        </p:spPr>
        <p:txBody>
          <a:bodyPr wrap="square" lIns="0" rIns="0" tIns="0" bIns="0" anchor="t">
            <a:noAutofit/>
          </a:bodyPr>
          <a:lstStyle/>
          <a:p>
            <a:pPr algn="l">
              <a:lnSpc>
                <a:spcPct val="108000"/>
              </a:lnSpc>
              <a:spcAft>
                <a:spcPts val="0"/>
              </a:spcAft>
            </a:pPr>
            <a:r>
              <a:rPr sz="950" i="0" b="0">
                <a:solidFill>
                  <a:srgbClr val="647282"/>
                </a:solidFill>
                <a:latin typeface="Arial"/>
              </a:rPr>
              <a:t>Conservative estimate: F_retail for the mattress brands, and for Walmart the population ratio (324M US internet users ÷ 694K US panel users = 467). Caveat: Similarweb's latest public month is August, the Labor Day sale season, so F_mattress may overstate an ordinary May day.</a:t>
            </a:r>
          </a:p>
        </p:txBody>
      </p:sp>
      <p:sp>
        <p:nvSpPr>
          <p:cNvPr id="23" name="TextBox 22"/>
          <p:cNvSpPr txBox="1"/>
          <p:nvPr/>
        </p:nvSpPr>
        <p:spPr>
          <a:xfrm>
            <a:off x="6537960" y="1691640"/>
            <a:ext cx="5105095" cy="274320"/>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Scaled panel visits ÷ Similarweb visits</a:t>
            </a:r>
          </a:p>
        </p:txBody>
      </p:sp>
      <p:sp>
        <p:nvSpPr>
          <p:cNvPr id="24" name="Rectangle 23"/>
          <p:cNvSpPr/>
          <p:nvPr/>
        </p:nvSpPr>
        <p:spPr>
          <a:xfrm>
            <a:off x="6537960" y="2121408"/>
            <a:ext cx="146304" cy="146304"/>
          </a:xfrm>
          <a:prstGeom prst="rect">
            <a:avLst/>
          </a:prstGeom>
          <a:solidFill>
            <a:srgbClr val="B7C1CC"/>
          </a:solidFill>
          <a:ln>
            <a:noFill/>
          </a:ln>
        </p:spPr>
        <p:txBody>
          <a:bodyPr rtlCol="0" anchor="ctr"/>
          <a:lstStyle/>
          <a:p>
            <a:pPr algn="ctr"/>
          </a:p>
        </p:txBody>
      </p:sp>
      <p:sp>
        <p:nvSpPr>
          <p:cNvPr id="25" name="TextBox 24"/>
          <p:cNvSpPr txBox="1"/>
          <p:nvPr/>
        </p:nvSpPr>
        <p:spPr>
          <a:xfrm>
            <a:off x="6757416" y="2075688"/>
            <a:ext cx="182880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F_retail (walmart.com)</a:t>
            </a:r>
          </a:p>
        </p:txBody>
      </p:sp>
      <p:sp>
        <p:nvSpPr>
          <p:cNvPr id="26" name="Rectangle 25"/>
          <p:cNvSpPr/>
          <p:nvPr/>
        </p:nvSpPr>
        <p:spPr>
          <a:xfrm>
            <a:off x="8641080" y="2121408"/>
            <a:ext cx="146304" cy="146304"/>
          </a:xfrm>
          <a:prstGeom prst="rect">
            <a:avLst/>
          </a:prstGeom>
          <a:solidFill>
            <a:srgbClr val="368EF8"/>
          </a:solidFill>
          <a:ln>
            <a:noFill/>
          </a:ln>
        </p:spPr>
        <p:txBody>
          <a:bodyPr rtlCol="0" anchor="ctr"/>
          <a:lstStyle/>
          <a:p>
            <a:pPr algn="ctr"/>
          </a:p>
        </p:txBody>
      </p:sp>
      <p:sp>
        <p:nvSpPr>
          <p:cNvPr id="27" name="TextBox 26"/>
          <p:cNvSpPr txBox="1"/>
          <p:nvPr/>
        </p:nvSpPr>
        <p:spPr>
          <a:xfrm>
            <a:off x="8860536" y="2075688"/>
            <a:ext cx="182880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F_mattress (pooled)</a:t>
            </a:r>
          </a:p>
        </p:txBody>
      </p:sp>
      <p:sp>
        <p:nvSpPr>
          <p:cNvPr id="28" name="TextBox 27"/>
          <p:cNvSpPr txBox="1"/>
          <p:nvPr/>
        </p:nvSpPr>
        <p:spPr>
          <a:xfrm>
            <a:off x="6537960" y="2624328"/>
            <a:ext cx="1143000" cy="274320"/>
          </a:xfrm>
          <a:prstGeom prst="rect">
            <a:avLst/>
          </a:prstGeom>
          <a:noFill/>
        </p:spPr>
        <p:txBody>
          <a:bodyPr wrap="square" lIns="0" rIns="0" tIns="0" bIns="0" anchor="t">
            <a:noAutofit/>
          </a:bodyPr>
          <a:lstStyle/>
          <a:p>
            <a:pPr algn="l">
              <a:lnSpc>
                <a:spcPct val="110000"/>
              </a:lnSpc>
              <a:spcAft>
                <a:spcPts val="0"/>
              </a:spcAft>
            </a:pPr>
            <a:r>
              <a:rPr sz="1200" i="0" b="1">
                <a:solidFill>
                  <a:srgbClr val="9A7152"/>
                </a:solidFill>
                <a:latin typeface="Arial"/>
              </a:rPr>
              <a:t>Saatva</a:t>
            </a:r>
          </a:p>
        </p:txBody>
      </p:sp>
      <p:sp>
        <p:nvSpPr>
          <p:cNvPr id="29" name="Rectangle 28"/>
          <p:cNvSpPr/>
          <p:nvPr/>
        </p:nvSpPr>
        <p:spPr>
          <a:xfrm>
            <a:off x="7772400" y="2514600"/>
            <a:ext cx="1014461" cy="274320"/>
          </a:xfrm>
          <a:prstGeom prst="rect">
            <a:avLst/>
          </a:prstGeom>
          <a:solidFill>
            <a:srgbClr val="B7C1CC"/>
          </a:solidFill>
          <a:ln>
            <a:noFill/>
          </a:ln>
        </p:spPr>
        <p:txBody>
          <a:bodyPr rtlCol="0" anchor="ctr"/>
          <a:lstStyle/>
          <a:p>
            <a:pPr algn="ctr"/>
          </a:p>
        </p:txBody>
      </p:sp>
      <p:sp>
        <p:nvSpPr>
          <p:cNvPr id="30" name="TextBox 29"/>
          <p:cNvSpPr txBox="1"/>
          <p:nvPr/>
        </p:nvSpPr>
        <p:spPr>
          <a:xfrm>
            <a:off x="7772400" y="2551176"/>
            <a:ext cx="941309" cy="228600"/>
          </a:xfrm>
          <a:prstGeom prst="rect">
            <a:avLst/>
          </a:prstGeom>
          <a:noFill/>
        </p:spPr>
        <p:txBody>
          <a:bodyPr wrap="square" lIns="0" rIns="0" tIns="0" bIns="0" anchor="t">
            <a:noAutofit/>
          </a:bodyPr>
          <a:lstStyle/>
          <a:p>
            <a:pPr algn="r">
              <a:lnSpc>
                <a:spcPct val="110000"/>
              </a:lnSpc>
              <a:spcAft>
                <a:spcPts val="0"/>
              </a:spcAft>
            </a:pPr>
            <a:r>
              <a:rPr sz="1000" i="0" b="0">
                <a:solidFill>
                  <a:srgbClr val="1E2833"/>
                </a:solidFill>
                <a:latin typeface="Arial"/>
              </a:rPr>
              <a:t>0.40×</a:t>
            </a:r>
          </a:p>
        </p:txBody>
      </p:sp>
      <p:sp>
        <p:nvSpPr>
          <p:cNvPr id="31" name="Rectangle 30"/>
          <p:cNvSpPr/>
          <p:nvPr/>
        </p:nvSpPr>
        <p:spPr>
          <a:xfrm>
            <a:off x="7772400" y="2843784"/>
            <a:ext cx="2561515" cy="274320"/>
          </a:xfrm>
          <a:prstGeom prst="rect">
            <a:avLst/>
          </a:prstGeom>
          <a:solidFill>
            <a:srgbClr val="368EF8"/>
          </a:solidFill>
          <a:ln>
            <a:noFill/>
          </a:ln>
        </p:spPr>
        <p:txBody>
          <a:bodyPr rtlCol="0" anchor="ctr"/>
          <a:lstStyle/>
          <a:p>
            <a:pPr algn="ctr"/>
          </a:p>
        </p:txBody>
      </p:sp>
      <p:sp>
        <p:nvSpPr>
          <p:cNvPr id="32" name="TextBox 31"/>
          <p:cNvSpPr txBox="1"/>
          <p:nvPr/>
        </p:nvSpPr>
        <p:spPr>
          <a:xfrm>
            <a:off x="7772400" y="2880360"/>
            <a:ext cx="2488363" cy="228600"/>
          </a:xfrm>
          <a:prstGeom prst="rect">
            <a:avLst/>
          </a:prstGeom>
          <a:noFill/>
        </p:spPr>
        <p:txBody>
          <a:bodyPr wrap="square" lIns="0" rIns="0" tIns="0" bIns="0" anchor="t">
            <a:noAutofit/>
          </a:bodyPr>
          <a:lstStyle/>
          <a:p>
            <a:pPr algn="r">
              <a:lnSpc>
                <a:spcPct val="110000"/>
              </a:lnSpc>
              <a:spcAft>
                <a:spcPts val="0"/>
              </a:spcAft>
            </a:pPr>
            <a:r>
              <a:rPr sz="1000" i="0" b="1">
                <a:solidFill>
                  <a:srgbClr val="FFFFFF"/>
                </a:solidFill>
                <a:latin typeface="Arial"/>
              </a:rPr>
              <a:t>1.01×</a:t>
            </a:r>
          </a:p>
        </p:txBody>
      </p:sp>
      <p:sp>
        <p:nvSpPr>
          <p:cNvPr id="33" name="TextBox 32"/>
          <p:cNvSpPr txBox="1"/>
          <p:nvPr/>
        </p:nvSpPr>
        <p:spPr>
          <a:xfrm>
            <a:off x="6537960" y="3584448"/>
            <a:ext cx="1143000" cy="274320"/>
          </a:xfrm>
          <a:prstGeom prst="rect">
            <a:avLst/>
          </a:prstGeom>
          <a:noFill/>
        </p:spPr>
        <p:txBody>
          <a:bodyPr wrap="square" lIns="0" rIns="0" tIns="0" bIns="0" anchor="t">
            <a:noAutofit/>
          </a:bodyPr>
          <a:lstStyle/>
          <a:p>
            <a:pPr algn="l">
              <a:lnSpc>
                <a:spcPct val="110000"/>
              </a:lnSpc>
              <a:spcAft>
                <a:spcPts val="0"/>
              </a:spcAft>
            </a:pPr>
            <a:r>
              <a:rPr sz="1200" i="0" b="0">
                <a:solidFill>
                  <a:srgbClr val="1E2833"/>
                </a:solidFill>
                <a:latin typeface="Arial"/>
              </a:rPr>
              <a:t>Nectar</a:t>
            </a:r>
          </a:p>
        </p:txBody>
      </p:sp>
      <p:sp>
        <p:nvSpPr>
          <p:cNvPr id="34" name="Rectangle 33"/>
          <p:cNvSpPr/>
          <p:nvPr/>
        </p:nvSpPr>
        <p:spPr>
          <a:xfrm>
            <a:off x="7772400" y="3474720"/>
            <a:ext cx="887653" cy="274320"/>
          </a:xfrm>
          <a:prstGeom prst="rect">
            <a:avLst/>
          </a:prstGeom>
          <a:solidFill>
            <a:srgbClr val="B7C1CC"/>
          </a:solidFill>
          <a:ln>
            <a:noFill/>
          </a:ln>
        </p:spPr>
        <p:txBody>
          <a:bodyPr rtlCol="0" anchor="ctr"/>
          <a:lstStyle/>
          <a:p>
            <a:pPr algn="ctr"/>
          </a:p>
        </p:txBody>
      </p:sp>
      <p:sp>
        <p:nvSpPr>
          <p:cNvPr id="35" name="TextBox 34"/>
          <p:cNvSpPr txBox="1"/>
          <p:nvPr/>
        </p:nvSpPr>
        <p:spPr>
          <a:xfrm>
            <a:off x="7772400" y="3511296"/>
            <a:ext cx="814501" cy="228600"/>
          </a:xfrm>
          <a:prstGeom prst="rect">
            <a:avLst/>
          </a:prstGeom>
          <a:noFill/>
        </p:spPr>
        <p:txBody>
          <a:bodyPr wrap="square" lIns="0" rIns="0" tIns="0" bIns="0" anchor="t">
            <a:noAutofit/>
          </a:bodyPr>
          <a:lstStyle/>
          <a:p>
            <a:pPr algn="r">
              <a:lnSpc>
                <a:spcPct val="110000"/>
              </a:lnSpc>
              <a:spcAft>
                <a:spcPts val="0"/>
              </a:spcAft>
            </a:pPr>
            <a:r>
              <a:rPr sz="1000" i="0" b="0">
                <a:solidFill>
                  <a:srgbClr val="1E2833"/>
                </a:solidFill>
                <a:latin typeface="Arial"/>
              </a:rPr>
              <a:t>0.35×</a:t>
            </a:r>
          </a:p>
        </p:txBody>
      </p:sp>
      <p:sp>
        <p:nvSpPr>
          <p:cNvPr id="36" name="Rectangle 35"/>
          <p:cNvSpPr/>
          <p:nvPr/>
        </p:nvSpPr>
        <p:spPr>
          <a:xfrm>
            <a:off x="7772400" y="3803904"/>
            <a:ext cx="2257176" cy="274320"/>
          </a:xfrm>
          <a:prstGeom prst="rect">
            <a:avLst/>
          </a:prstGeom>
          <a:solidFill>
            <a:srgbClr val="368EF8"/>
          </a:solidFill>
          <a:ln>
            <a:noFill/>
          </a:ln>
        </p:spPr>
        <p:txBody>
          <a:bodyPr rtlCol="0" anchor="ctr"/>
          <a:lstStyle/>
          <a:p>
            <a:pPr algn="ctr"/>
          </a:p>
        </p:txBody>
      </p:sp>
      <p:sp>
        <p:nvSpPr>
          <p:cNvPr id="37" name="TextBox 36"/>
          <p:cNvSpPr txBox="1"/>
          <p:nvPr/>
        </p:nvSpPr>
        <p:spPr>
          <a:xfrm>
            <a:off x="7772400" y="3840480"/>
            <a:ext cx="2184024" cy="228600"/>
          </a:xfrm>
          <a:prstGeom prst="rect">
            <a:avLst/>
          </a:prstGeom>
          <a:noFill/>
        </p:spPr>
        <p:txBody>
          <a:bodyPr wrap="square" lIns="0" rIns="0" tIns="0" bIns="0" anchor="t">
            <a:noAutofit/>
          </a:bodyPr>
          <a:lstStyle/>
          <a:p>
            <a:pPr algn="r">
              <a:lnSpc>
                <a:spcPct val="110000"/>
              </a:lnSpc>
              <a:spcAft>
                <a:spcPts val="0"/>
              </a:spcAft>
            </a:pPr>
            <a:r>
              <a:rPr sz="1000" i="0" b="1">
                <a:solidFill>
                  <a:srgbClr val="FFFFFF"/>
                </a:solidFill>
                <a:latin typeface="Arial"/>
              </a:rPr>
              <a:t>0.89×</a:t>
            </a:r>
          </a:p>
        </p:txBody>
      </p:sp>
      <p:sp>
        <p:nvSpPr>
          <p:cNvPr id="38" name="TextBox 37"/>
          <p:cNvSpPr txBox="1"/>
          <p:nvPr/>
        </p:nvSpPr>
        <p:spPr>
          <a:xfrm>
            <a:off x="6537960" y="4544568"/>
            <a:ext cx="1143000" cy="274320"/>
          </a:xfrm>
          <a:prstGeom prst="rect">
            <a:avLst/>
          </a:prstGeom>
          <a:noFill/>
        </p:spPr>
        <p:txBody>
          <a:bodyPr wrap="square" lIns="0" rIns="0" tIns="0" bIns="0" anchor="t">
            <a:noAutofit/>
          </a:bodyPr>
          <a:lstStyle/>
          <a:p>
            <a:pPr algn="l">
              <a:lnSpc>
                <a:spcPct val="110000"/>
              </a:lnSpc>
              <a:spcAft>
                <a:spcPts val="0"/>
              </a:spcAft>
            </a:pPr>
            <a:r>
              <a:rPr sz="1200" i="0" b="0">
                <a:solidFill>
                  <a:srgbClr val="1E2833"/>
                </a:solidFill>
                <a:latin typeface="Arial"/>
              </a:rPr>
              <a:t>DreamCloud</a:t>
            </a:r>
          </a:p>
        </p:txBody>
      </p:sp>
      <p:sp>
        <p:nvSpPr>
          <p:cNvPr id="39" name="Rectangle 38"/>
          <p:cNvSpPr/>
          <p:nvPr/>
        </p:nvSpPr>
        <p:spPr>
          <a:xfrm>
            <a:off x="7772400" y="4434840"/>
            <a:ext cx="1268076" cy="274320"/>
          </a:xfrm>
          <a:prstGeom prst="rect">
            <a:avLst/>
          </a:prstGeom>
          <a:solidFill>
            <a:srgbClr val="B7C1CC"/>
          </a:solidFill>
          <a:ln>
            <a:noFill/>
          </a:ln>
        </p:spPr>
        <p:txBody>
          <a:bodyPr rtlCol="0" anchor="ctr"/>
          <a:lstStyle/>
          <a:p>
            <a:pPr algn="ctr"/>
          </a:p>
        </p:txBody>
      </p:sp>
      <p:sp>
        <p:nvSpPr>
          <p:cNvPr id="40" name="TextBox 39"/>
          <p:cNvSpPr txBox="1"/>
          <p:nvPr/>
        </p:nvSpPr>
        <p:spPr>
          <a:xfrm>
            <a:off x="7772400" y="4471416"/>
            <a:ext cx="1194924" cy="228600"/>
          </a:xfrm>
          <a:prstGeom prst="rect">
            <a:avLst/>
          </a:prstGeom>
          <a:noFill/>
        </p:spPr>
        <p:txBody>
          <a:bodyPr wrap="square" lIns="0" rIns="0" tIns="0" bIns="0" anchor="t">
            <a:noAutofit/>
          </a:bodyPr>
          <a:lstStyle/>
          <a:p>
            <a:pPr algn="r">
              <a:lnSpc>
                <a:spcPct val="110000"/>
              </a:lnSpc>
              <a:spcAft>
                <a:spcPts val="0"/>
              </a:spcAft>
            </a:pPr>
            <a:r>
              <a:rPr sz="1000" i="0" b="0">
                <a:solidFill>
                  <a:srgbClr val="1E2833"/>
                </a:solidFill>
                <a:latin typeface="Arial"/>
              </a:rPr>
              <a:t>0.50×</a:t>
            </a:r>
          </a:p>
        </p:txBody>
      </p:sp>
      <p:sp>
        <p:nvSpPr>
          <p:cNvPr id="41" name="Rectangle 40"/>
          <p:cNvSpPr/>
          <p:nvPr/>
        </p:nvSpPr>
        <p:spPr>
          <a:xfrm>
            <a:off x="7772400" y="4764024"/>
            <a:ext cx="3220915" cy="274320"/>
          </a:xfrm>
          <a:prstGeom prst="rect">
            <a:avLst/>
          </a:prstGeom>
          <a:solidFill>
            <a:srgbClr val="368EF8"/>
          </a:solidFill>
          <a:ln>
            <a:noFill/>
          </a:ln>
        </p:spPr>
        <p:txBody>
          <a:bodyPr rtlCol="0" anchor="ctr"/>
          <a:lstStyle/>
          <a:p>
            <a:pPr algn="ctr"/>
          </a:p>
        </p:txBody>
      </p:sp>
      <p:sp>
        <p:nvSpPr>
          <p:cNvPr id="42" name="TextBox 41"/>
          <p:cNvSpPr txBox="1"/>
          <p:nvPr/>
        </p:nvSpPr>
        <p:spPr>
          <a:xfrm>
            <a:off x="7772400" y="4800600"/>
            <a:ext cx="3147763" cy="228600"/>
          </a:xfrm>
          <a:prstGeom prst="rect">
            <a:avLst/>
          </a:prstGeom>
          <a:noFill/>
        </p:spPr>
        <p:txBody>
          <a:bodyPr wrap="square" lIns="0" rIns="0" tIns="0" bIns="0" anchor="t">
            <a:noAutofit/>
          </a:bodyPr>
          <a:lstStyle/>
          <a:p>
            <a:pPr algn="r">
              <a:lnSpc>
                <a:spcPct val="110000"/>
              </a:lnSpc>
              <a:spcAft>
                <a:spcPts val="0"/>
              </a:spcAft>
            </a:pPr>
            <a:r>
              <a:rPr sz="1000" i="0" b="1">
                <a:solidFill>
                  <a:srgbClr val="FFFFFF"/>
                </a:solidFill>
                <a:latin typeface="Arial"/>
              </a:rPr>
              <a:t>1.27×</a:t>
            </a:r>
          </a:p>
        </p:txBody>
      </p:sp>
      <p:cxnSp>
        <p:nvCxnSpPr>
          <p:cNvPr id="43" name="Connector 42"/>
          <p:cNvCxnSpPr/>
          <p:nvPr/>
        </p:nvCxnSpPr>
        <p:spPr>
          <a:xfrm>
            <a:off x="7772400" y="2404872"/>
            <a:ext cx="0" cy="2852928"/>
          </a:xfrm>
          <a:prstGeom prst="line">
            <a:avLst/>
          </a:prstGeom>
          <a:ln w="9525">
            <a:solidFill>
              <a:srgbClr val="D6DDE5"/>
            </a:solidFill>
          </a:ln>
        </p:spPr>
      </p:cxnSp>
      <p:cxnSp>
        <p:nvCxnSpPr>
          <p:cNvPr id="44" name="Connector 43"/>
          <p:cNvCxnSpPr/>
          <p:nvPr/>
        </p:nvCxnSpPr>
        <p:spPr>
          <a:xfrm>
            <a:off x="10308553" y="2404872"/>
            <a:ext cx="0" cy="2852928"/>
          </a:xfrm>
          <a:prstGeom prst="line">
            <a:avLst/>
          </a:prstGeom>
          <a:ln w="15875">
            <a:solidFill>
              <a:srgbClr val="0B2A4A"/>
            </a:solidFill>
            <a:prstDash val="dash"/>
          </a:ln>
        </p:spPr>
      </p:cxnSp>
      <p:sp>
        <p:nvSpPr>
          <p:cNvPr id="45" name="TextBox 44"/>
          <p:cNvSpPr txBox="1"/>
          <p:nvPr/>
        </p:nvSpPr>
        <p:spPr>
          <a:xfrm>
            <a:off x="9485593" y="5312664"/>
            <a:ext cx="1645920" cy="228600"/>
          </a:xfrm>
          <a:prstGeom prst="rect">
            <a:avLst/>
          </a:prstGeom>
          <a:noFill/>
        </p:spPr>
        <p:txBody>
          <a:bodyPr wrap="square" lIns="0" rIns="0" tIns="0" bIns="0" anchor="t">
            <a:noAutofit/>
          </a:bodyPr>
          <a:lstStyle/>
          <a:p>
            <a:pPr algn="ctr">
              <a:lnSpc>
                <a:spcPct val="110000"/>
              </a:lnSpc>
              <a:spcAft>
                <a:spcPts val="0"/>
              </a:spcAft>
            </a:pPr>
            <a:r>
              <a:rPr sz="950" i="0" b="1">
                <a:solidFill>
                  <a:srgbClr val="0B2A4A"/>
                </a:solidFill>
                <a:latin typeface="Arial"/>
              </a:rPr>
              <a:t>1.0 = Similarweb</a:t>
            </a:r>
          </a:p>
        </p:txBody>
      </p:sp>
      <p:sp>
        <p:nvSpPr>
          <p:cNvPr id="46" name="TextBox 45"/>
          <p:cNvSpPr txBox="1"/>
          <p:nvPr/>
        </p:nvSpPr>
        <p:spPr>
          <a:xfrm>
            <a:off x="6537960" y="5715000"/>
            <a:ext cx="5105095" cy="457200"/>
          </a:xfrm>
          <a:prstGeom prst="rect">
            <a:avLst/>
          </a:prstGeom>
          <a:noFill/>
        </p:spPr>
        <p:txBody>
          <a:bodyPr wrap="square" lIns="0" rIns="0" tIns="0" bIns="0" anchor="t">
            <a:noAutofit/>
          </a:bodyPr>
          <a:lstStyle/>
          <a:p>
            <a:pPr algn="l">
              <a:lnSpc>
                <a:spcPct val="105000"/>
              </a:lnSpc>
              <a:spcAft>
                <a:spcPts val="0"/>
              </a:spcAft>
            </a:pPr>
            <a:r>
              <a:rPr sz="950" i="0" b="0">
                <a:solidFill>
                  <a:srgbClr val="647282"/>
                </a:solidFill>
                <a:latin typeface="Arial"/>
              </a:rPr>
              <a:t>Walmart is 1.00× with F_retail by construction. Helix has no public visit figure, so it is scaled with F_mattress without its own check.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RESULTS: CLICKS AND CONVERSIONS</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Saatva: ~16.7K US affiliate clicks a day. One day can't rank the mattress brands.</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6</a:t>
            </a:r>
          </a:p>
        </p:txBody>
      </p:sp>
      <p:graphicFrame>
        <p:nvGraphicFramePr>
          <p:cNvPr id="11" name="Table 10"/>
          <p:cNvGraphicFramePr>
            <a:graphicFrameLocks noGrp="1"/>
          </p:cNvGraphicFramePr>
          <p:nvPr/>
        </p:nvGraphicFramePr>
        <p:xfrm>
          <a:off x="548640" y="1645920"/>
          <a:ext cx="11091672" cy="2075688"/>
        </p:xfrm>
        <a:graphic>
          <a:graphicData uri="http://schemas.openxmlformats.org/drawingml/2006/table">
            <a:tbl>
              <a:tblPr firstRow="0" bandRow="0">
                <a:tableStyleId>{2D5ABB26-0587-4C30-8999-92F81FD0307C}</a:tableStyleId>
              </a:tblPr>
              <a:tblGrid>
                <a:gridCol w="1188720"/>
                <a:gridCol w="1005840"/>
                <a:gridCol w="914400"/>
                <a:gridCol w="1051560"/>
                <a:gridCol w="1051560"/>
                <a:gridCol w="1371600"/>
                <a:gridCol w="1325880"/>
                <a:gridCol w="1188720"/>
                <a:gridCol w="1993392"/>
              </a:tblGrid>
              <a:tr h="475488">
                <a:tc>
                  <a:txBody>
                    <a:bodyPr/>
                    <a:lstStyle/>
                    <a:p>
                      <a:pPr algn="l">
                        <a:lnSpc>
                          <a:spcPct val="100000"/>
                        </a:lnSpc>
                        <a:spcAft>
                          <a:spcPts val="0"/>
                        </a:spcAft>
                      </a:pPr>
                      <a:r>
                        <a:rPr sz="1000" i="0" b="1">
                          <a:solidFill>
                            <a:srgbClr val="FFFFFF"/>
                          </a:solidFill>
                          <a:latin typeface="Arial"/>
                        </a:rPr>
                        <a:t>Brand</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Network</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Panel visits</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Visits from affiliate</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Panel affiliate clicks</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Est. US affiliate clicks / day</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95% CI</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Conservative est.</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Est. US converting clicks / day</a:t>
                      </a:r>
                    </a:p>
                  </a:txBody>
                  <a:tcPr marL="73152" marR="73152" marT="27432" marB="27432" anchor="ctr">
                    <a:lnL w="0">
                      <a:noFill/>
                    </a:lnL>
                    <a:lnR w="0">
                      <a:noFill/>
                    </a:lnR>
                    <a:lnT w="0">
                      <a:noFill/>
                    </a:lnT>
                    <a:lnB w="0">
                      <a:noFill/>
                    </a:lnB>
                    <a:solidFill>
                      <a:srgbClr val="0B2A4A"/>
                    </a:solidFill>
                  </a:tcPr>
                </a:tc>
              </a:tr>
              <a:tr h="320040">
                <a:tc>
                  <a:txBody>
                    <a:bodyPr/>
                    <a:lstStyle/>
                    <a:p>
                      <a:pPr algn="l">
                        <a:lnSpc>
                          <a:spcPct val="100000"/>
                        </a:lnSpc>
                        <a:spcAft>
                          <a:spcPts val="0"/>
                        </a:spcAft>
                      </a:pPr>
                      <a:r>
                        <a:rPr sz="1100" i="0" b="1">
                          <a:solidFill>
                            <a:srgbClr val="9A7152"/>
                          </a:solidFill>
                          <a:latin typeface="Arial"/>
                        </a:rPr>
                        <a:t>Saatva</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l">
                        <a:lnSpc>
                          <a:spcPct val="100000"/>
                        </a:lnSpc>
                        <a:spcAft>
                          <a:spcPts val="0"/>
                        </a:spcAft>
                      </a:pPr>
                      <a:r>
                        <a:rPr sz="1100" i="0" b="0">
                          <a:solidFill>
                            <a:srgbClr val="9A7152"/>
                          </a:solidFill>
                          <a:latin typeface="Arial"/>
                        </a:rPr>
                        <a:t>Partnerize</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r">
                        <a:lnSpc>
                          <a:spcPct val="100000"/>
                        </a:lnSpc>
                        <a:spcAft>
                          <a:spcPts val="0"/>
                        </a:spcAft>
                      </a:pPr>
                      <a:r>
                        <a:rPr sz="1100" i="0" b="0">
                          <a:solidFill>
                            <a:srgbClr val="9A7152"/>
                          </a:solidFill>
                          <a:latin typeface="Arial"/>
                        </a:rPr>
                        <a:t>25</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r">
                        <a:lnSpc>
                          <a:spcPct val="100000"/>
                        </a:lnSpc>
                        <a:spcAft>
                          <a:spcPts val="0"/>
                        </a:spcAft>
                      </a:pPr>
                      <a:r>
                        <a:rPr sz="1100" i="0" b="0">
                          <a:solidFill>
                            <a:srgbClr val="9A7152"/>
                          </a:solidFill>
                          <a:latin typeface="Arial"/>
                        </a:rPr>
                        <a:t>16.0%</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r">
                        <a:lnSpc>
                          <a:spcPct val="100000"/>
                        </a:lnSpc>
                        <a:spcAft>
                          <a:spcPts val="0"/>
                        </a:spcAft>
                      </a:pPr>
                      <a:r>
                        <a:rPr sz="1100" i="0" b="0">
                          <a:solidFill>
                            <a:srgbClr val="9A7152"/>
                          </a:solidFill>
                          <a:latin typeface="Arial"/>
                        </a:rPr>
                        <a:t>6 ¹</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r">
                        <a:lnSpc>
                          <a:spcPct val="100000"/>
                        </a:lnSpc>
                        <a:spcAft>
                          <a:spcPts val="0"/>
                        </a:spcAft>
                      </a:pPr>
                      <a:r>
                        <a:rPr sz="1100" i="0" b="1">
                          <a:solidFill>
                            <a:srgbClr val="9A7152"/>
                          </a:solidFill>
                          <a:latin typeface="Arial"/>
                        </a:rPr>
                        <a:t>16.7K</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r">
                        <a:lnSpc>
                          <a:spcPct val="100000"/>
                        </a:lnSpc>
                        <a:spcAft>
                          <a:spcPts val="0"/>
                        </a:spcAft>
                      </a:pPr>
                      <a:r>
                        <a:rPr sz="1100" i="0" b="0">
                          <a:solidFill>
                            <a:srgbClr val="9A7152"/>
                          </a:solidFill>
                          <a:latin typeface="Arial"/>
                        </a:rPr>
                        <a:t>6.1K–36.4K</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r">
                        <a:lnSpc>
                          <a:spcPct val="100000"/>
                        </a:lnSpc>
                        <a:spcAft>
                          <a:spcPts val="0"/>
                        </a:spcAft>
                      </a:pPr>
                      <a:r>
                        <a:rPr sz="1100" i="0" b="0">
                          <a:solidFill>
                            <a:srgbClr val="9A7152"/>
                          </a:solidFill>
                          <a:latin typeface="Arial"/>
                        </a:rPr>
                        <a:t>6.5K</a:t>
                      </a:r>
                    </a:p>
                  </a:txBody>
                  <a:tcPr marL="73152" marR="73152" marT="27432" marB="27432" anchor="ctr">
                    <a:lnL w="0">
                      <a:noFill/>
                    </a:lnL>
                    <a:lnR w="0">
                      <a:noFill/>
                    </a:lnR>
                    <a:lnT w="0">
                      <a:noFill/>
                    </a:lnT>
                    <a:lnB w="9525">
                      <a:solidFill>
                        <a:srgbClr val="D6DDE5"/>
                      </a:solidFill>
                    </a:lnB>
                    <a:solidFill>
                      <a:srgbClr val="F6EFE8"/>
                    </a:solidFill>
                  </a:tcPr>
                </a:tc>
                <a:tc>
                  <a:txBody>
                    <a:bodyPr/>
                    <a:lstStyle/>
                    <a:p>
                      <a:pPr algn="r">
                        <a:lnSpc>
                          <a:spcPct val="100000"/>
                        </a:lnSpc>
                        <a:spcAft>
                          <a:spcPts val="0"/>
                        </a:spcAft>
                      </a:pPr>
                      <a:r>
                        <a:rPr sz="1100" i="0" b="0">
                          <a:solidFill>
                            <a:srgbClr val="9A7152"/>
                          </a:solidFill>
                          <a:latin typeface="Arial"/>
                        </a:rPr>
                        <a:t>84–334 ²</a:t>
                      </a:r>
                    </a:p>
                  </a:txBody>
                  <a:tcPr marL="73152" marR="73152" marT="27432" marB="27432" anchor="ctr">
                    <a:lnL w="0">
                      <a:noFill/>
                    </a:lnL>
                    <a:lnR w="0">
                      <a:noFill/>
                    </a:lnR>
                    <a:lnT w="0">
                      <a:noFill/>
                    </a:lnT>
                    <a:lnB w="9525">
                      <a:solidFill>
                        <a:srgbClr val="D6DDE5"/>
                      </a:solidFill>
                    </a:lnB>
                    <a:solidFill>
                      <a:srgbClr val="F6EFE8"/>
                    </a:solidFill>
                  </a:tcPr>
                </a:tc>
              </a:tr>
              <a:tr h="320040">
                <a:tc>
                  <a:txBody>
                    <a:bodyPr/>
                    <a:lstStyle/>
                    <a:p>
                      <a:pPr algn="l">
                        <a:lnSpc>
                          <a:spcPct val="100000"/>
                        </a:lnSpc>
                        <a:spcAft>
                          <a:spcPts val="0"/>
                        </a:spcAft>
                      </a:pPr>
                      <a:r>
                        <a:rPr sz="1100" i="0" b="1">
                          <a:solidFill>
                            <a:srgbClr val="1E2833"/>
                          </a:solidFill>
                          <a:latin typeface="Arial"/>
                        </a:rPr>
                        <a:t>Nectar</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Impact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51</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3.9%</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4</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1">
                          <a:solidFill>
                            <a:srgbClr val="1E2833"/>
                          </a:solidFill>
                          <a:latin typeface="Arial"/>
                        </a:rPr>
                        <a:t>11.1K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3.0K–28.5K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4.4K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56–223 ²</a:t>
                      </a:r>
                    </a:p>
                  </a:txBody>
                  <a:tcPr marL="73152" marR="73152" marT="27432" marB="27432" anchor="ctr">
                    <a:lnL w="0">
                      <a:noFill/>
                    </a:lnL>
                    <a:lnR w="0">
                      <a:noFill/>
                    </a:lnR>
                    <a:lnT w="0">
                      <a:noFill/>
                    </a:lnT>
                    <a:lnB w="9525">
                      <a:solidFill>
                        <a:srgbClr val="D6DDE5"/>
                      </a:solidFill>
                    </a:lnB>
                    <a:solidFill>
                      <a:srgbClr val="FFFFFF"/>
                    </a:solidFill>
                  </a:tcPr>
                </a:tc>
              </a:tr>
              <a:tr h="320040">
                <a:tc>
                  <a:txBody>
                    <a:bodyPr/>
                    <a:lstStyle/>
                    <a:p>
                      <a:pPr algn="l">
                        <a:lnSpc>
                          <a:spcPct val="100000"/>
                        </a:lnSpc>
                        <a:spcAft>
                          <a:spcPts val="0"/>
                        </a:spcAft>
                      </a:pPr>
                      <a:r>
                        <a:rPr sz="1100" i="0" b="1">
                          <a:solidFill>
                            <a:srgbClr val="1E2833"/>
                          </a:solidFill>
                          <a:latin typeface="Arial"/>
                        </a:rPr>
                        <a:t>Helix</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Impact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19</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10.5%</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1">
                          <a:solidFill>
                            <a:srgbClr val="1E2833"/>
                          </a:solidFill>
                          <a:latin typeface="Arial"/>
                        </a:rPr>
                        <a:t>5.6K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0.6K–20.1K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2.2K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28–111 ²</a:t>
                      </a:r>
                    </a:p>
                  </a:txBody>
                  <a:tcPr marL="73152" marR="73152" marT="27432" marB="27432" anchor="ctr">
                    <a:lnL w="0">
                      <a:noFill/>
                    </a:lnL>
                    <a:lnR w="0">
                      <a:noFill/>
                    </a:lnR>
                    <a:lnT w="0">
                      <a:noFill/>
                    </a:lnT>
                    <a:lnB w="9525">
                      <a:solidFill>
                        <a:srgbClr val="D6DDE5"/>
                      </a:solidFill>
                    </a:lnB>
                    <a:solidFill>
                      <a:srgbClr val="FFFFFF"/>
                    </a:solidFill>
                  </a:tcPr>
                </a:tc>
              </a:tr>
              <a:tr h="320040">
                <a:tc>
                  <a:txBody>
                    <a:bodyPr/>
                    <a:lstStyle/>
                    <a:p>
                      <a:pPr algn="l">
                        <a:lnSpc>
                          <a:spcPct val="100000"/>
                        </a:lnSpc>
                        <a:spcAft>
                          <a:spcPts val="0"/>
                        </a:spcAft>
                      </a:pPr>
                      <a:r>
                        <a:rPr sz="1100" i="0" b="1">
                          <a:solidFill>
                            <a:srgbClr val="1E2833"/>
                          </a:solidFill>
                          <a:latin typeface="Arial"/>
                        </a:rPr>
                        <a:t>DreamCloud</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Impact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27</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7.4%</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1">
                          <a:solidFill>
                            <a:srgbClr val="1E2833"/>
                          </a:solidFill>
                          <a:latin typeface="Arial"/>
                        </a:rPr>
                        <a:t>5.6K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0.6K–20.1K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2.2K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28–111 ²</a:t>
                      </a:r>
                    </a:p>
                  </a:txBody>
                  <a:tcPr marL="73152" marR="73152" marT="27432" marB="27432" anchor="ctr">
                    <a:lnL w="0">
                      <a:noFill/>
                    </a:lnL>
                    <a:lnR w="0">
                      <a:noFill/>
                    </a:lnR>
                    <a:lnT w="0">
                      <a:noFill/>
                    </a:lnT>
                    <a:lnB w="9525">
                      <a:solidFill>
                        <a:srgbClr val="D6DDE5"/>
                      </a:solidFill>
                    </a:lnB>
                    <a:solidFill>
                      <a:srgbClr val="FFFFFF"/>
                    </a:solidFill>
                  </a:tcPr>
                </a:tc>
              </a:tr>
              <a:tr h="320040">
                <a:tc>
                  <a:txBody>
                    <a:bodyPr/>
                    <a:lstStyle/>
                    <a:p>
                      <a:pPr algn="l">
                        <a:lnSpc>
                          <a:spcPct val="100000"/>
                        </a:lnSpc>
                        <a:spcAft>
                          <a:spcPts val="0"/>
                        </a:spcAft>
                      </a:pPr>
                      <a:r>
                        <a:rPr sz="1100" i="0" b="1">
                          <a:solidFill>
                            <a:srgbClr val="1E2833"/>
                          </a:solidFill>
                          <a:latin typeface="Arial"/>
                        </a:rPr>
                        <a:t>Walmart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Impact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16,401</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6.4%</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6,449</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1">
                          <a:solidFill>
                            <a:srgbClr val="1E2833"/>
                          </a:solidFill>
                          <a:latin typeface="Arial"/>
                        </a:rPr>
                        <a:t>7.0M</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6.9M–7.2M</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3.0M</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122K  (1.74% of clicks)</a:t>
                      </a:r>
                    </a:p>
                  </a:txBody>
                  <a:tcPr marL="73152" marR="73152" marT="27432" marB="27432" anchor="ctr">
                    <a:lnL w="0">
                      <a:noFill/>
                    </a:lnL>
                    <a:lnR w="0">
                      <a:noFill/>
                    </a:lnR>
                    <a:lnT w="0">
                      <a:noFill/>
                    </a:lnT>
                    <a:lnB w="9525">
                      <a:solidFill>
                        <a:srgbClr val="D6DDE5"/>
                      </a:solidFill>
                    </a:lnB>
                    <a:solidFill>
                      <a:srgbClr val="FFFFFF"/>
                    </a:solidFill>
                  </a:tcPr>
                </a:tc>
              </a:tr>
            </a:tbl>
          </a:graphicData>
        </a:graphic>
      </p:graphicFrame>
      <p:sp>
        <p:nvSpPr>
          <p:cNvPr id="12" name="TextBox 11"/>
          <p:cNvSpPr txBox="1"/>
          <p:nvPr/>
        </p:nvSpPr>
        <p:spPr>
          <a:xfrm>
            <a:off x="548640" y="3776472"/>
            <a:ext cx="11094415" cy="411480"/>
          </a:xfrm>
          <a:prstGeom prst="rect">
            <a:avLst/>
          </a:prstGeom>
          <a:noFill/>
        </p:spPr>
        <p:txBody>
          <a:bodyPr wrap="square" lIns="0" rIns="0" tIns="0" bIns="0" anchor="t">
            <a:noAutofit/>
          </a:bodyPr>
          <a:lstStyle/>
          <a:p>
            <a:pPr algn="l">
              <a:lnSpc>
                <a:spcPct val="108000"/>
              </a:lnSpc>
              <a:spcAft>
                <a:spcPts val="0"/>
              </a:spcAft>
            </a:pPr>
            <a:r>
              <a:rPr sz="850" i="0" b="0">
                <a:solidFill>
                  <a:srgbClr val="647282"/>
                </a:solidFill>
                <a:latin typeface="Arial"/>
              </a:rPr>
              <a:t>¹ Five landings plus one Partnerize click that never loaded the site.   ² No mattress order, registration or financing application followed an affiliate click that day; the range applies a 0.5–2% category conversion rate.   Conservative: F_retail for the mattress brands, the population ratio for Walmart.   95% CI: Poisson sampling error of the panel count only.</a:t>
            </a:r>
          </a:p>
        </p:txBody>
      </p:sp>
      <p:sp>
        <p:nvSpPr>
          <p:cNvPr id="13" name="TextBox 12"/>
          <p:cNvSpPr txBox="1"/>
          <p:nvPr/>
        </p:nvSpPr>
        <p:spPr>
          <a:xfrm>
            <a:off x="548640" y="4279392"/>
            <a:ext cx="5989320" cy="256032"/>
          </a:xfrm>
          <a:prstGeom prst="rect">
            <a:avLst/>
          </a:prstGeom>
          <a:noFill/>
        </p:spPr>
        <p:txBody>
          <a:bodyPr wrap="square" lIns="0" rIns="0" tIns="0" bIns="0" anchor="t">
            <a:noAutofit/>
          </a:bodyPr>
          <a:lstStyle/>
          <a:p>
            <a:pPr algn="l">
              <a:lnSpc>
                <a:spcPct val="110000"/>
              </a:lnSpc>
              <a:spcAft>
                <a:spcPts val="0"/>
              </a:spcAft>
            </a:pPr>
            <a:r>
              <a:rPr sz="1150" i="0" b="1">
                <a:solidFill>
                  <a:srgbClr val="0B2A4A"/>
                </a:solidFill>
                <a:latin typeface="Arial"/>
              </a:rPr>
              <a:t>Est. US affiliate clicks a day, with 95% CI</a:t>
            </a:r>
          </a:p>
        </p:txBody>
      </p:sp>
      <p:sp>
        <p:nvSpPr>
          <p:cNvPr id="14" name="TextBox 13"/>
          <p:cNvSpPr txBox="1"/>
          <p:nvPr/>
        </p:nvSpPr>
        <p:spPr>
          <a:xfrm>
            <a:off x="548640" y="4718303"/>
            <a:ext cx="1097280" cy="228600"/>
          </a:xfrm>
          <a:prstGeom prst="rect">
            <a:avLst/>
          </a:prstGeom>
          <a:noFill/>
        </p:spPr>
        <p:txBody>
          <a:bodyPr wrap="square" lIns="0" rIns="0" tIns="0" bIns="0" anchor="t">
            <a:noAutofit/>
          </a:bodyPr>
          <a:lstStyle/>
          <a:p>
            <a:pPr algn="l">
              <a:lnSpc>
                <a:spcPct val="110000"/>
              </a:lnSpc>
              <a:spcAft>
                <a:spcPts val="0"/>
              </a:spcAft>
            </a:pPr>
            <a:r>
              <a:rPr sz="1050" i="0" b="1">
                <a:solidFill>
                  <a:srgbClr val="9A7152"/>
                </a:solidFill>
                <a:latin typeface="Arial"/>
              </a:rPr>
              <a:t>Saatva</a:t>
            </a:r>
          </a:p>
        </p:txBody>
      </p:sp>
      <p:sp>
        <p:nvSpPr>
          <p:cNvPr id="15" name="Rectangle 14"/>
          <p:cNvSpPr/>
          <p:nvPr/>
        </p:nvSpPr>
        <p:spPr>
          <a:xfrm>
            <a:off x="2441562" y="4791455"/>
            <a:ext cx="3493766" cy="73152"/>
          </a:xfrm>
          <a:prstGeom prst="rect">
            <a:avLst/>
          </a:prstGeom>
          <a:solidFill>
            <a:srgbClr val="C19678"/>
          </a:solidFill>
          <a:ln>
            <a:noFill/>
          </a:ln>
        </p:spPr>
        <p:txBody>
          <a:bodyPr rtlCol="0" anchor="ctr"/>
          <a:lstStyle/>
          <a:p>
            <a:pPr algn="ctr"/>
          </a:p>
        </p:txBody>
      </p:sp>
      <p:sp>
        <p:nvSpPr>
          <p:cNvPr id="16" name="Oval 15"/>
          <p:cNvSpPr/>
          <p:nvPr/>
        </p:nvSpPr>
        <p:spPr>
          <a:xfrm>
            <a:off x="3592798" y="4754879"/>
            <a:ext cx="146304" cy="146304"/>
          </a:xfrm>
          <a:prstGeom prst="ellipse">
            <a:avLst/>
          </a:prstGeom>
          <a:solidFill>
            <a:srgbClr val="9A7152"/>
          </a:solidFill>
          <a:ln w="15875">
            <a:solidFill>
              <a:srgbClr val="FFFFFF"/>
            </a:solidFill>
          </a:ln>
        </p:spPr>
        <p:txBody>
          <a:bodyPr rtlCol="0" anchor="ctr"/>
          <a:lstStyle/>
          <a:p>
            <a:pPr algn="ctr"/>
          </a:p>
        </p:txBody>
      </p:sp>
      <p:sp>
        <p:nvSpPr>
          <p:cNvPr id="17" name="TextBox 16"/>
          <p:cNvSpPr txBox="1"/>
          <p:nvPr/>
        </p:nvSpPr>
        <p:spPr>
          <a:xfrm>
            <a:off x="3775678" y="4581144"/>
            <a:ext cx="640080" cy="182880"/>
          </a:xfrm>
          <a:prstGeom prst="rect">
            <a:avLst/>
          </a:prstGeom>
          <a:noFill/>
        </p:spPr>
        <p:txBody>
          <a:bodyPr wrap="square" lIns="0" rIns="0" tIns="0" bIns="0" anchor="t">
            <a:noAutofit/>
          </a:bodyPr>
          <a:lstStyle/>
          <a:p>
            <a:pPr algn="l">
              <a:lnSpc>
                <a:spcPct val="110000"/>
              </a:lnSpc>
              <a:spcAft>
                <a:spcPts val="0"/>
              </a:spcAft>
            </a:pPr>
            <a:r>
              <a:rPr sz="850" i="0" b="1">
                <a:solidFill>
                  <a:srgbClr val="1E2833"/>
                </a:solidFill>
                <a:latin typeface="Arial"/>
              </a:rPr>
              <a:t>16.7K</a:t>
            </a:r>
          </a:p>
        </p:txBody>
      </p:sp>
      <p:sp>
        <p:nvSpPr>
          <p:cNvPr id="18" name="TextBox 17"/>
          <p:cNvSpPr txBox="1"/>
          <p:nvPr/>
        </p:nvSpPr>
        <p:spPr>
          <a:xfrm>
            <a:off x="548640" y="5047488"/>
            <a:ext cx="1097280" cy="228600"/>
          </a:xfrm>
          <a:prstGeom prst="rect">
            <a:avLst/>
          </a:prstGeom>
          <a:noFill/>
        </p:spPr>
        <p:txBody>
          <a:bodyPr wrap="square" lIns="0" rIns="0" tIns="0" bIns="0" anchor="t">
            <a:noAutofit/>
          </a:bodyPr>
          <a:lstStyle/>
          <a:p>
            <a:pPr algn="l">
              <a:lnSpc>
                <a:spcPct val="110000"/>
              </a:lnSpc>
              <a:spcAft>
                <a:spcPts val="0"/>
              </a:spcAft>
            </a:pPr>
            <a:r>
              <a:rPr sz="1050" i="0" b="0">
                <a:solidFill>
                  <a:srgbClr val="1E2833"/>
                </a:solidFill>
                <a:latin typeface="Arial"/>
              </a:rPr>
              <a:t>Nectar</a:t>
            </a:r>
          </a:p>
        </p:txBody>
      </p:sp>
      <p:sp>
        <p:nvSpPr>
          <p:cNvPr id="19" name="Rectangle 18"/>
          <p:cNvSpPr/>
          <p:nvPr/>
        </p:nvSpPr>
        <p:spPr>
          <a:xfrm>
            <a:off x="2083227" y="5120640"/>
            <a:ext cx="2945989" cy="73152"/>
          </a:xfrm>
          <a:prstGeom prst="rect">
            <a:avLst/>
          </a:prstGeom>
          <a:solidFill>
            <a:srgbClr val="B7C1CC"/>
          </a:solidFill>
          <a:ln>
            <a:noFill/>
          </a:ln>
        </p:spPr>
        <p:txBody>
          <a:bodyPr rtlCol="0" anchor="ctr"/>
          <a:lstStyle/>
          <a:p>
            <a:pPr algn="ctr"/>
          </a:p>
        </p:txBody>
      </p:sp>
      <p:sp>
        <p:nvSpPr>
          <p:cNvPr id="20" name="Oval 19"/>
          <p:cNvSpPr/>
          <p:nvPr/>
        </p:nvSpPr>
        <p:spPr>
          <a:xfrm>
            <a:off x="2950012" y="5084064"/>
            <a:ext cx="146304" cy="146304"/>
          </a:xfrm>
          <a:prstGeom prst="ellipse">
            <a:avLst/>
          </a:prstGeom>
          <a:solidFill>
            <a:srgbClr val="647282"/>
          </a:solidFill>
          <a:ln w="15875">
            <a:solidFill>
              <a:srgbClr val="FFFFFF"/>
            </a:solidFill>
          </a:ln>
        </p:spPr>
        <p:txBody>
          <a:bodyPr rtlCol="0" anchor="ctr"/>
          <a:lstStyle/>
          <a:p>
            <a:pPr algn="ctr"/>
          </a:p>
        </p:txBody>
      </p:sp>
      <p:sp>
        <p:nvSpPr>
          <p:cNvPr id="21" name="TextBox 20"/>
          <p:cNvSpPr txBox="1"/>
          <p:nvPr/>
        </p:nvSpPr>
        <p:spPr>
          <a:xfrm>
            <a:off x="3132892" y="4910327"/>
            <a:ext cx="640080" cy="182880"/>
          </a:xfrm>
          <a:prstGeom prst="rect">
            <a:avLst/>
          </a:prstGeom>
          <a:noFill/>
        </p:spPr>
        <p:txBody>
          <a:bodyPr wrap="square" lIns="0" rIns="0" tIns="0" bIns="0" anchor="t">
            <a:noAutofit/>
          </a:bodyPr>
          <a:lstStyle/>
          <a:p>
            <a:pPr algn="l">
              <a:lnSpc>
                <a:spcPct val="110000"/>
              </a:lnSpc>
              <a:spcAft>
                <a:spcPts val="0"/>
              </a:spcAft>
            </a:pPr>
            <a:r>
              <a:rPr sz="850" i="0" b="0">
                <a:solidFill>
                  <a:srgbClr val="1E2833"/>
                </a:solidFill>
                <a:latin typeface="Arial"/>
              </a:rPr>
              <a:t>11.1K</a:t>
            </a:r>
          </a:p>
        </p:txBody>
      </p:sp>
      <p:sp>
        <p:nvSpPr>
          <p:cNvPr id="22" name="TextBox 21"/>
          <p:cNvSpPr txBox="1"/>
          <p:nvPr/>
        </p:nvSpPr>
        <p:spPr>
          <a:xfrm>
            <a:off x="548640" y="5376671"/>
            <a:ext cx="1097280" cy="228600"/>
          </a:xfrm>
          <a:prstGeom prst="rect">
            <a:avLst/>
          </a:prstGeom>
          <a:noFill/>
        </p:spPr>
        <p:txBody>
          <a:bodyPr wrap="square" lIns="0" rIns="0" tIns="0" bIns="0" anchor="t">
            <a:noAutofit/>
          </a:bodyPr>
          <a:lstStyle/>
          <a:p>
            <a:pPr algn="l">
              <a:lnSpc>
                <a:spcPct val="110000"/>
              </a:lnSpc>
              <a:spcAft>
                <a:spcPts val="0"/>
              </a:spcAft>
            </a:pPr>
            <a:r>
              <a:rPr sz="1050" i="0" b="0">
                <a:solidFill>
                  <a:srgbClr val="1E2833"/>
                </a:solidFill>
                <a:latin typeface="Arial"/>
              </a:rPr>
              <a:t>Helix</a:t>
            </a:r>
          </a:p>
        </p:txBody>
      </p:sp>
      <p:sp>
        <p:nvSpPr>
          <p:cNvPr id="23" name="Rectangle 22"/>
          <p:cNvSpPr/>
          <p:nvPr/>
        </p:nvSpPr>
        <p:spPr>
          <a:xfrm>
            <a:off x="1809511" y="5449823"/>
            <a:ext cx="2248945" cy="73152"/>
          </a:xfrm>
          <a:prstGeom prst="rect">
            <a:avLst/>
          </a:prstGeom>
          <a:solidFill>
            <a:srgbClr val="B7C1CC"/>
          </a:solidFill>
          <a:ln>
            <a:noFill/>
          </a:ln>
        </p:spPr>
        <p:txBody>
          <a:bodyPr rtlCol="0" anchor="ctr"/>
          <a:lstStyle/>
          <a:p>
            <a:pPr algn="ctr"/>
          </a:p>
        </p:txBody>
      </p:sp>
      <p:sp>
        <p:nvSpPr>
          <p:cNvPr id="24" name="Oval 23"/>
          <p:cNvSpPr/>
          <p:nvPr/>
        </p:nvSpPr>
        <p:spPr>
          <a:xfrm>
            <a:off x="2307110" y="5413247"/>
            <a:ext cx="146304" cy="146304"/>
          </a:xfrm>
          <a:prstGeom prst="ellipse">
            <a:avLst/>
          </a:prstGeom>
          <a:solidFill>
            <a:srgbClr val="647282"/>
          </a:solidFill>
          <a:ln w="15875">
            <a:solidFill>
              <a:srgbClr val="FFFFFF"/>
            </a:solidFill>
          </a:ln>
        </p:spPr>
        <p:txBody>
          <a:bodyPr rtlCol="0" anchor="ctr"/>
          <a:lstStyle/>
          <a:p>
            <a:pPr algn="ctr"/>
          </a:p>
        </p:txBody>
      </p:sp>
      <p:sp>
        <p:nvSpPr>
          <p:cNvPr id="25" name="TextBox 24"/>
          <p:cNvSpPr txBox="1"/>
          <p:nvPr/>
        </p:nvSpPr>
        <p:spPr>
          <a:xfrm>
            <a:off x="2489990" y="5239511"/>
            <a:ext cx="640080" cy="182880"/>
          </a:xfrm>
          <a:prstGeom prst="rect">
            <a:avLst/>
          </a:prstGeom>
          <a:noFill/>
        </p:spPr>
        <p:txBody>
          <a:bodyPr wrap="square" lIns="0" rIns="0" tIns="0" bIns="0" anchor="t">
            <a:noAutofit/>
          </a:bodyPr>
          <a:lstStyle/>
          <a:p>
            <a:pPr algn="l">
              <a:lnSpc>
                <a:spcPct val="110000"/>
              </a:lnSpc>
              <a:spcAft>
                <a:spcPts val="0"/>
              </a:spcAft>
            </a:pPr>
            <a:r>
              <a:rPr sz="850" i="0" b="0">
                <a:solidFill>
                  <a:srgbClr val="1E2833"/>
                </a:solidFill>
                <a:latin typeface="Arial"/>
              </a:rPr>
              <a:t>5.6K</a:t>
            </a:r>
          </a:p>
        </p:txBody>
      </p:sp>
      <p:sp>
        <p:nvSpPr>
          <p:cNvPr id="26" name="TextBox 25"/>
          <p:cNvSpPr txBox="1"/>
          <p:nvPr/>
        </p:nvSpPr>
        <p:spPr>
          <a:xfrm>
            <a:off x="548640" y="5705855"/>
            <a:ext cx="1097280" cy="228600"/>
          </a:xfrm>
          <a:prstGeom prst="rect">
            <a:avLst/>
          </a:prstGeom>
          <a:noFill/>
        </p:spPr>
        <p:txBody>
          <a:bodyPr wrap="square" lIns="0" rIns="0" tIns="0" bIns="0" anchor="t">
            <a:noAutofit/>
          </a:bodyPr>
          <a:lstStyle/>
          <a:p>
            <a:pPr algn="l">
              <a:lnSpc>
                <a:spcPct val="110000"/>
              </a:lnSpc>
              <a:spcAft>
                <a:spcPts val="0"/>
              </a:spcAft>
            </a:pPr>
            <a:r>
              <a:rPr sz="1050" i="0" b="0">
                <a:solidFill>
                  <a:srgbClr val="1E2833"/>
                </a:solidFill>
                <a:latin typeface="Arial"/>
              </a:rPr>
              <a:t>DreamCloud</a:t>
            </a:r>
          </a:p>
        </p:txBody>
      </p:sp>
      <p:sp>
        <p:nvSpPr>
          <p:cNvPr id="27" name="Rectangle 26"/>
          <p:cNvSpPr/>
          <p:nvPr/>
        </p:nvSpPr>
        <p:spPr>
          <a:xfrm>
            <a:off x="1809511" y="5779007"/>
            <a:ext cx="2248945" cy="73152"/>
          </a:xfrm>
          <a:prstGeom prst="rect">
            <a:avLst/>
          </a:prstGeom>
          <a:solidFill>
            <a:srgbClr val="B7C1CC"/>
          </a:solidFill>
          <a:ln>
            <a:noFill/>
          </a:ln>
        </p:spPr>
        <p:txBody>
          <a:bodyPr rtlCol="0" anchor="ctr"/>
          <a:lstStyle/>
          <a:p>
            <a:pPr algn="ctr"/>
          </a:p>
        </p:txBody>
      </p:sp>
      <p:sp>
        <p:nvSpPr>
          <p:cNvPr id="28" name="Oval 27"/>
          <p:cNvSpPr/>
          <p:nvPr/>
        </p:nvSpPr>
        <p:spPr>
          <a:xfrm>
            <a:off x="2307110" y="5742431"/>
            <a:ext cx="146304" cy="146304"/>
          </a:xfrm>
          <a:prstGeom prst="ellipse">
            <a:avLst/>
          </a:prstGeom>
          <a:solidFill>
            <a:srgbClr val="647282"/>
          </a:solidFill>
          <a:ln w="15875">
            <a:solidFill>
              <a:srgbClr val="FFFFFF"/>
            </a:solidFill>
          </a:ln>
        </p:spPr>
        <p:txBody>
          <a:bodyPr rtlCol="0" anchor="ctr"/>
          <a:lstStyle/>
          <a:p>
            <a:pPr algn="ctr"/>
          </a:p>
        </p:txBody>
      </p:sp>
      <p:sp>
        <p:nvSpPr>
          <p:cNvPr id="29" name="TextBox 28"/>
          <p:cNvSpPr txBox="1"/>
          <p:nvPr/>
        </p:nvSpPr>
        <p:spPr>
          <a:xfrm>
            <a:off x="2489990" y="5568696"/>
            <a:ext cx="640080" cy="182880"/>
          </a:xfrm>
          <a:prstGeom prst="rect">
            <a:avLst/>
          </a:prstGeom>
          <a:noFill/>
        </p:spPr>
        <p:txBody>
          <a:bodyPr wrap="square" lIns="0" rIns="0" tIns="0" bIns="0" anchor="t">
            <a:noAutofit/>
          </a:bodyPr>
          <a:lstStyle/>
          <a:p>
            <a:pPr algn="l">
              <a:lnSpc>
                <a:spcPct val="110000"/>
              </a:lnSpc>
              <a:spcAft>
                <a:spcPts val="0"/>
              </a:spcAft>
            </a:pPr>
            <a:r>
              <a:rPr sz="850" i="0" b="0">
                <a:solidFill>
                  <a:srgbClr val="1E2833"/>
                </a:solidFill>
                <a:latin typeface="Arial"/>
              </a:rPr>
              <a:t>5.6K</a:t>
            </a:r>
          </a:p>
        </p:txBody>
      </p:sp>
      <p:cxnSp>
        <p:nvCxnSpPr>
          <p:cNvPr id="30" name="Connector 29"/>
          <p:cNvCxnSpPr/>
          <p:nvPr/>
        </p:nvCxnSpPr>
        <p:spPr>
          <a:xfrm>
            <a:off x="1737360" y="6035039"/>
            <a:ext cx="4617719" cy="0"/>
          </a:xfrm>
          <a:prstGeom prst="line">
            <a:avLst/>
          </a:prstGeom>
          <a:ln w="9525">
            <a:solidFill>
              <a:srgbClr val="D6DDE5"/>
            </a:solidFill>
          </a:ln>
        </p:spPr>
      </p:cxnSp>
      <p:sp>
        <p:nvSpPr>
          <p:cNvPr id="31" name="TextBox 30"/>
          <p:cNvSpPr txBox="1"/>
          <p:nvPr/>
        </p:nvSpPr>
        <p:spPr>
          <a:xfrm>
            <a:off x="1463039" y="6071615"/>
            <a:ext cx="548640" cy="182880"/>
          </a:xfrm>
          <a:prstGeom prst="rect">
            <a:avLst/>
          </a:prstGeom>
          <a:noFill/>
        </p:spPr>
        <p:txBody>
          <a:bodyPr wrap="square" lIns="0" rIns="0" tIns="0" bIns="0" anchor="t">
            <a:noAutofit/>
          </a:bodyPr>
          <a:lstStyle/>
          <a:p>
            <a:pPr algn="ctr">
              <a:lnSpc>
                <a:spcPct val="110000"/>
              </a:lnSpc>
              <a:spcAft>
                <a:spcPts val="0"/>
              </a:spcAft>
            </a:pPr>
            <a:r>
              <a:rPr sz="850" i="0" b="0">
                <a:solidFill>
                  <a:srgbClr val="647282"/>
                </a:solidFill>
                <a:latin typeface="Arial"/>
              </a:rPr>
              <a:t>0</a:t>
            </a:r>
          </a:p>
        </p:txBody>
      </p:sp>
      <p:sp>
        <p:nvSpPr>
          <p:cNvPr id="32" name="TextBox 31"/>
          <p:cNvSpPr txBox="1"/>
          <p:nvPr/>
        </p:nvSpPr>
        <p:spPr>
          <a:xfrm>
            <a:off x="2617470" y="6071615"/>
            <a:ext cx="548640" cy="182880"/>
          </a:xfrm>
          <a:prstGeom prst="rect">
            <a:avLst/>
          </a:prstGeom>
          <a:noFill/>
        </p:spPr>
        <p:txBody>
          <a:bodyPr wrap="square" lIns="0" rIns="0" tIns="0" bIns="0" anchor="t">
            <a:noAutofit/>
          </a:bodyPr>
          <a:lstStyle/>
          <a:p>
            <a:pPr algn="ctr">
              <a:lnSpc>
                <a:spcPct val="110000"/>
              </a:lnSpc>
              <a:spcAft>
                <a:spcPts val="0"/>
              </a:spcAft>
            </a:pPr>
            <a:r>
              <a:rPr sz="850" i="0" b="0">
                <a:solidFill>
                  <a:srgbClr val="647282"/>
                </a:solidFill>
                <a:latin typeface="Arial"/>
              </a:rPr>
              <a:t>10K</a:t>
            </a:r>
          </a:p>
        </p:txBody>
      </p:sp>
      <p:sp>
        <p:nvSpPr>
          <p:cNvPr id="33" name="TextBox 32"/>
          <p:cNvSpPr txBox="1"/>
          <p:nvPr/>
        </p:nvSpPr>
        <p:spPr>
          <a:xfrm>
            <a:off x="3771899" y="6071615"/>
            <a:ext cx="548640" cy="182880"/>
          </a:xfrm>
          <a:prstGeom prst="rect">
            <a:avLst/>
          </a:prstGeom>
          <a:noFill/>
        </p:spPr>
        <p:txBody>
          <a:bodyPr wrap="square" lIns="0" rIns="0" tIns="0" bIns="0" anchor="t">
            <a:noAutofit/>
          </a:bodyPr>
          <a:lstStyle/>
          <a:p>
            <a:pPr algn="ctr">
              <a:lnSpc>
                <a:spcPct val="110000"/>
              </a:lnSpc>
              <a:spcAft>
                <a:spcPts val="0"/>
              </a:spcAft>
            </a:pPr>
            <a:r>
              <a:rPr sz="850" i="0" b="0">
                <a:solidFill>
                  <a:srgbClr val="647282"/>
                </a:solidFill>
                <a:latin typeface="Arial"/>
              </a:rPr>
              <a:t>20K</a:t>
            </a:r>
          </a:p>
        </p:txBody>
      </p:sp>
      <p:sp>
        <p:nvSpPr>
          <p:cNvPr id="34" name="TextBox 33"/>
          <p:cNvSpPr txBox="1"/>
          <p:nvPr/>
        </p:nvSpPr>
        <p:spPr>
          <a:xfrm>
            <a:off x="4926329" y="6071615"/>
            <a:ext cx="548640" cy="182880"/>
          </a:xfrm>
          <a:prstGeom prst="rect">
            <a:avLst/>
          </a:prstGeom>
          <a:noFill/>
        </p:spPr>
        <p:txBody>
          <a:bodyPr wrap="square" lIns="0" rIns="0" tIns="0" bIns="0" anchor="t">
            <a:noAutofit/>
          </a:bodyPr>
          <a:lstStyle/>
          <a:p>
            <a:pPr algn="ctr">
              <a:lnSpc>
                <a:spcPct val="110000"/>
              </a:lnSpc>
              <a:spcAft>
                <a:spcPts val="0"/>
              </a:spcAft>
            </a:pPr>
            <a:r>
              <a:rPr sz="850" i="0" b="0">
                <a:solidFill>
                  <a:srgbClr val="647282"/>
                </a:solidFill>
                <a:latin typeface="Arial"/>
              </a:rPr>
              <a:t>30K</a:t>
            </a:r>
          </a:p>
        </p:txBody>
      </p:sp>
      <p:sp>
        <p:nvSpPr>
          <p:cNvPr id="35" name="TextBox 34"/>
          <p:cNvSpPr txBox="1"/>
          <p:nvPr/>
        </p:nvSpPr>
        <p:spPr>
          <a:xfrm>
            <a:off x="6080759" y="6071615"/>
            <a:ext cx="548640" cy="182880"/>
          </a:xfrm>
          <a:prstGeom prst="rect">
            <a:avLst/>
          </a:prstGeom>
          <a:noFill/>
        </p:spPr>
        <p:txBody>
          <a:bodyPr wrap="square" lIns="0" rIns="0" tIns="0" bIns="0" anchor="t">
            <a:noAutofit/>
          </a:bodyPr>
          <a:lstStyle/>
          <a:p>
            <a:pPr algn="ctr">
              <a:lnSpc>
                <a:spcPct val="110000"/>
              </a:lnSpc>
              <a:spcAft>
                <a:spcPts val="0"/>
              </a:spcAft>
            </a:pPr>
            <a:r>
              <a:rPr sz="850" i="0" b="0">
                <a:solidFill>
                  <a:srgbClr val="647282"/>
                </a:solidFill>
                <a:latin typeface="Arial"/>
              </a:rPr>
              <a:t>40K</a:t>
            </a:r>
          </a:p>
        </p:txBody>
      </p:sp>
      <p:sp>
        <p:nvSpPr>
          <p:cNvPr id="36" name="Rectangle 35"/>
          <p:cNvSpPr/>
          <p:nvPr/>
        </p:nvSpPr>
        <p:spPr>
          <a:xfrm>
            <a:off x="6903720" y="4279392"/>
            <a:ext cx="4739335" cy="786384"/>
          </a:xfrm>
          <a:prstGeom prst="rect">
            <a:avLst/>
          </a:prstGeom>
          <a:solidFill>
            <a:srgbClr val="EAF2FE"/>
          </a:solidFill>
          <a:ln>
            <a:noFill/>
          </a:ln>
        </p:spPr>
        <p:txBody>
          <a:bodyPr rtlCol="0" anchor="ctr"/>
          <a:lstStyle/>
          <a:p>
            <a:pPr algn="ctr"/>
          </a:p>
        </p:txBody>
      </p:sp>
      <p:sp>
        <p:nvSpPr>
          <p:cNvPr id="37" name="TextBox 36"/>
          <p:cNvSpPr txBox="1"/>
          <p:nvPr/>
        </p:nvSpPr>
        <p:spPr>
          <a:xfrm>
            <a:off x="7068312" y="4370831"/>
            <a:ext cx="4410151" cy="640080"/>
          </a:xfrm>
          <a:prstGeom prst="rect">
            <a:avLst/>
          </a:prstGeom>
          <a:noFill/>
        </p:spPr>
        <p:txBody>
          <a:bodyPr wrap="square" lIns="0" rIns="0" tIns="0" bIns="0" anchor="t">
            <a:noAutofit/>
          </a:bodyPr>
          <a:lstStyle/>
          <a:p>
            <a:pPr algn="l">
              <a:lnSpc>
                <a:spcPct val="108000"/>
              </a:lnSpc>
              <a:spcAft>
                <a:spcPts val="0"/>
              </a:spcAft>
            </a:pPr>
            <a:r>
              <a:rPr sz="1050" i="0" b="1">
                <a:solidFill>
                  <a:srgbClr val="0B2A4A"/>
                </a:solidFill>
                <a:latin typeface="Arial"/>
              </a:rPr>
              <a:t>Consistent with Similarweb.</a:t>
            </a:r>
            <a:r>
              <a:rPr sz="1050" i="0" b="0">
                <a:solidFill>
                  <a:srgbClr val="1E2833"/>
                </a:solidFill>
                <a:latin typeface="Arial"/>
              </a:rPr>
              <a:t> Affiliate is 23.7% of saatva.com's traffic, about 16K US visits a day. The scale is partly calibrated on the same source, so this is a consistency check, not proof.</a:t>
            </a:r>
          </a:p>
        </p:txBody>
      </p:sp>
      <p:sp>
        <p:nvSpPr>
          <p:cNvPr id="38" name="Rectangle 37"/>
          <p:cNvSpPr/>
          <p:nvPr/>
        </p:nvSpPr>
        <p:spPr>
          <a:xfrm>
            <a:off x="6903720" y="5175504"/>
            <a:ext cx="4739335" cy="786384"/>
          </a:xfrm>
          <a:prstGeom prst="rect">
            <a:avLst/>
          </a:prstGeom>
          <a:solidFill>
            <a:srgbClr val="F3F6F9"/>
          </a:solidFill>
          <a:ln>
            <a:noFill/>
          </a:ln>
        </p:spPr>
        <p:txBody>
          <a:bodyPr rtlCol="0" anchor="ctr"/>
          <a:lstStyle/>
          <a:p>
            <a:pPr algn="ctr"/>
          </a:p>
        </p:txBody>
      </p:sp>
      <p:sp>
        <p:nvSpPr>
          <p:cNvPr id="39" name="TextBox 38"/>
          <p:cNvSpPr txBox="1"/>
          <p:nvPr/>
        </p:nvSpPr>
        <p:spPr>
          <a:xfrm>
            <a:off x="7068312" y="5266944"/>
            <a:ext cx="4410151" cy="640080"/>
          </a:xfrm>
          <a:prstGeom prst="rect">
            <a:avLst/>
          </a:prstGeom>
          <a:noFill/>
        </p:spPr>
        <p:txBody>
          <a:bodyPr wrap="square" lIns="0" rIns="0" tIns="0" bIns="0" anchor="t">
            <a:noAutofit/>
          </a:bodyPr>
          <a:lstStyle/>
          <a:p>
            <a:pPr algn="l">
              <a:lnSpc>
                <a:spcPct val="108000"/>
              </a:lnSpc>
              <a:spcAft>
                <a:spcPts val="0"/>
              </a:spcAft>
            </a:pPr>
            <a:r>
              <a:rPr sz="1050" i="0" b="1">
                <a:solidFill>
                  <a:srgbClr val="0B2A4A"/>
                </a:solidFill>
                <a:latin typeface="Arial"/>
              </a:rPr>
              <a:t>The intervals overlap.</a:t>
            </a:r>
            <a:r>
              <a:rPr sz="1050" i="0" b="0">
                <a:solidFill>
                  <a:srgbClr val="1E2833"/>
                </a:solidFill>
                <a:latin typeface="Arial"/>
              </a:rPr>
              <a:t> Saatva, Nectar, Helix and DreamCloud can't be ranked on one day's clicks. The share of visits from affiliates is the robust comparison (next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RESULTS: TRAFFIC MIX</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Affiliate brings 16% of Saatva's visits, 1.5–4× the share at its mattress rivals</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7</a:t>
            </a:r>
          </a:p>
        </p:txBody>
      </p:sp>
      <p:sp>
        <p:nvSpPr>
          <p:cNvPr id="11" name="Rectangle 10"/>
          <p:cNvSpPr/>
          <p:nvPr/>
        </p:nvSpPr>
        <p:spPr>
          <a:xfrm>
            <a:off x="548640" y="1737360"/>
            <a:ext cx="146304" cy="146304"/>
          </a:xfrm>
          <a:prstGeom prst="rect">
            <a:avLst/>
          </a:prstGeom>
          <a:solidFill>
            <a:srgbClr val="368EF8"/>
          </a:solidFill>
          <a:ln>
            <a:noFill/>
          </a:ln>
        </p:spPr>
        <p:txBody>
          <a:bodyPr rtlCol="0" anchor="ctr"/>
          <a:lstStyle/>
          <a:p>
            <a:pPr algn="ctr"/>
          </a:p>
        </p:txBody>
      </p:sp>
      <p:sp>
        <p:nvSpPr>
          <p:cNvPr id="12" name="TextBox 11"/>
          <p:cNvSpPr txBox="1"/>
          <p:nvPr/>
        </p:nvSpPr>
        <p:spPr>
          <a:xfrm>
            <a:off x="758952" y="1691640"/>
            <a:ext cx="329184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Affiliate</a:t>
            </a:r>
          </a:p>
        </p:txBody>
      </p:sp>
      <p:sp>
        <p:nvSpPr>
          <p:cNvPr id="13" name="Rectangle 12"/>
          <p:cNvSpPr/>
          <p:nvPr/>
        </p:nvSpPr>
        <p:spPr>
          <a:xfrm>
            <a:off x="1474012" y="1737360"/>
            <a:ext cx="146304" cy="146304"/>
          </a:xfrm>
          <a:prstGeom prst="rect">
            <a:avLst/>
          </a:prstGeom>
          <a:solidFill>
            <a:srgbClr val="6F8196"/>
          </a:solidFill>
          <a:ln>
            <a:noFill/>
          </a:ln>
        </p:spPr>
        <p:txBody>
          <a:bodyPr rtlCol="0" anchor="ctr"/>
          <a:lstStyle/>
          <a:p>
            <a:pPr algn="ctr"/>
          </a:p>
        </p:txBody>
      </p:sp>
      <p:sp>
        <p:nvSpPr>
          <p:cNvPr id="14" name="TextBox 13"/>
          <p:cNvSpPr txBox="1"/>
          <p:nvPr/>
        </p:nvSpPr>
        <p:spPr>
          <a:xfrm>
            <a:off x="1684324" y="1691640"/>
            <a:ext cx="329184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Paid search</a:t>
            </a:r>
          </a:p>
        </p:txBody>
      </p:sp>
      <p:sp>
        <p:nvSpPr>
          <p:cNvPr id="15" name="Rectangle 14"/>
          <p:cNvSpPr/>
          <p:nvPr/>
        </p:nvSpPr>
        <p:spPr>
          <a:xfrm>
            <a:off x="2523744" y="1737360"/>
            <a:ext cx="146304" cy="146304"/>
          </a:xfrm>
          <a:prstGeom prst="rect">
            <a:avLst/>
          </a:prstGeom>
          <a:solidFill>
            <a:srgbClr val="AEBBC8"/>
          </a:solidFill>
          <a:ln>
            <a:noFill/>
          </a:ln>
        </p:spPr>
        <p:txBody>
          <a:bodyPr rtlCol="0" anchor="ctr"/>
          <a:lstStyle/>
          <a:p>
            <a:pPr algn="ctr"/>
          </a:p>
        </p:txBody>
      </p:sp>
      <p:sp>
        <p:nvSpPr>
          <p:cNvPr id="16" name="TextBox 15"/>
          <p:cNvSpPr txBox="1"/>
          <p:nvPr/>
        </p:nvSpPr>
        <p:spPr>
          <a:xfrm>
            <a:off x="2734056" y="1691640"/>
            <a:ext cx="329184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Other campaigns (email, social, display/TV)</a:t>
            </a:r>
          </a:p>
        </p:txBody>
      </p:sp>
      <p:sp>
        <p:nvSpPr>
          <p:cNvPr id="17" name="Rectangle 16"/>
          <p:cNvSpPr/>
          <p:nvPr/>
        </p:nvSpPr>
        <p:spPr>
          <a:xfrm>
            <a:off x="5563209" y="1737360"/>
            <a:ext cx="146304" cy="146304"/>
          </a:xfrm>
          <a:prstGeom prst="rect">
            <a:avLst/>
          </a:prstGeom>
          <a:solidFill>
            <a:srgbClr val="E2E7ED"/>
          </a:solidFill>
          <a:ln>
            <a:noFill/>
          </a:ln>
        </p:spPr>
        <p:txBody>
          <a:bodyPr rtlCol="0" anchor="ctr"/>
          <a:lstStyle/>
          <a:p>
            <a:pPr algn="ctr"/>
          </a:p>
        </p:txBody>
      </p:sp>
      <p:sp>
        <p:nvSpPr>
          <p:cNvPr id="18" name="TextBox 17"/>
          <p:cNvSpPr txBox="1"/>
          <p:nvPr/>
        </p:nvSpPr>
        <p:spPr>
          <a:xfrm>
            <a:off x="5773521" y="1691640"/>
            <a:ext cx="329184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Untagged: organic, direct, referral</a:t>
            </a:r>
          </a:p>
        </p:txBody>
      </p:sp>
      <p:sp>
        <p:nvSpPr>
          <p:cNvPr id="19" name="Rectangle 18"/>
          <p:cNvSpPr/>
          <p:nvPr/>
        </p:nvSpPr>
        <p:spPr>
          <a:xfrm>
            <a:off x="384048" y="2240280"/>
            <a:ext cx="64008" cy="457200"/>
          </a:xfrm>
          <a:prstGeom prst="rect">
            <a:avLst/>
          </a:prstGeom>
          <a:solidFill>
            <a:srgbClr val="C19678"/>
          </a:solidFill>
          <a:ln>
            <a:noFill/>
          </a:ln>
        </p:spPr>
        <p:txBody>
          <a:bodyPr rtlCol="0" anchor="ctr"/>
          <a:lstStyle/>
          <a:p>
            <a:pPr algn="ctr"/>
          </a:p>
        </p:txBody>
      </p:sp>
      <p:sp>
        <p:nvSpPr>
          <p:cNvPr id="20" name="TextBox 19"/>
          <p:cNvSpPr txBox="1"/>
          <p:nvPr/>
        </p:nvSpPr>
        <p:spPr>
          <a:xfrm>
            <a:off x="548640" y="2258568"/>
            <a:ext cx="1280160" cy="237744"/>
          </a:xfrm>
          <a:prstGeom prst="rect">
            <a:avLst/>
          </a:prstGeom>
          <a:noFill/>
        </p:spPr>
        <p:txBody>
          <a:bodyPr wrap="square" lIns="0" rIns="0" tIns="0" bIns="0" anchor="t">
            <a:noAutofit/>
          </a:bodyPr>
          <a:lstStyle/>
          <a:p>
            <a:pPr algn="l">
              <a:lnSpc>
                <a:spcPct val="110000"/>
              </a:lnSpc>
              <a:spcAft>
                <a:spcPts val="0"/>
              </a:spcAft>
            </a:pPr>
            <a:r>
              <a:rPr sz="1250" i="0" b="1">
                <a:solidFill>
                  <a:srgbClr val="9A7152"/>
                </a:solidFill>
                <a:latin typeface="Arial"/>
              </a:rPr>
              <a:t>Saatva</a:t>
            </a:r>
          </a:p>
        </p:txBody>
      </p:sp>
      <p:sp>
        <p:nvSpPr>
          <p:cNvPr id="21" name="TextBox 20"/>
          <p:cNvSpPr txBox="1"/>
          <p:nvPr/>
        </p:nvSpPr>
        <p:spPr>
          <a:xfrm>
            <a:off x="548640" y="2487168"/>
            <a:ext cx="1280160" cy="201168"/>
          </a:xfrm>
          <a:prstGeom prst="rect">
            <a:avLst/>
          </a:prstGeom>
          <a:noFill/>
        </p:spPr>
        <p:txBody>
          <a:bodyPr wrap="square" lIns="0" rIns="0" tIns="0" bIns="0" anchor="t">
            <a:noAutofit/>
          </a:bodyPr>
          <a:lstStyle/>
          <a:p>
            <a:pPr algn="l">
              <a:lnSpc>
                <a:spcPct val="110000"/>
              </a:lnSpc>
              <a:spcAft>
                <a:spcPts val="0"/>
              </a:spcAft>
            </a:pPr>
            <a:r>
              <a:rPr sz="900" i="0" b="0">
                <a:solidFill>
                  <a:srgbClr val="647282"/>
                </a:solidFill>
                <a:latin typeface="Arial"/>
              </a:rPr>
              <a:t>25 visits</a:t>
            </a:r>
          </a:p>
        </p:txBody>
      </p:sp>
      <p:sp>
        <p:nvSpPr>
          <p:cNvPr id="22" name="Rectangle 21"/>
          <p:cNvSpPr/>
          <p:nvPr/>
        </p:nvSpPr>
        <p:spPr>
          <a:xfrm>
            <a:off x="1874519" y="2240280"/>
            <a:ext cx="848563" cy="457200"/>
          </a:xfrm>
          <a:prstGeom prst="rect">
            <a:avLst/>
          </a:prstGeom>
          <a:solidFill>
            <a:srgbClr val="368EF8"/>
          </a:solidFill>
          <a:ln w="9525">
            <a:solidFill>
              <a:srgbClr val="FFFFFF"/>
            </a:solidFill>
          </a:ln>
        </p:spPr>
        <p:txBody>
          <a:bodyPr rtlCol="0" anchor="ctr"/>
          <a:lstStyle/>
          <a:p>
            <a:pPr algn="ctr"/>
          </a:p>
        </p:txBody>
      </p:sp>
      <p:sp>
        <p:nvSpPr>
          <p:cNvPr id="23" name="TextBox 22"/>
          <p:cNvSpPr txBox="1"/>
          <p:nvPr/>
        </p:nvSpPr>
        <p:spPr>
          <a:xfrm>
            <a:off x="1874519" y="2359152"/>
            <a:ext cx="848563" cy="228600"/>
          </a:xfrm>
          <a:prstGeom prst="rect">
            <a:avLst/>
          </a:prstGeom>
          <a:noFill/>
        </p:spPr>
        <p:txBody>
          <a:bodyPr wrap="square" lIns="0" rIns="0" tIns="0" bIns="0" anchor="t">
            <a:noAutofit/>
          </a:bodyPr>
          <a:lstStyle/>
          <a:p>
            <a:pPr algn="ctr">
              <a:lnSpc>
                <a:spcPct val="110000"/>
              </a:lnSpc>
              <a:spcAft>
                <a:spcPts val="0"/>
              </a:spcAft>
            </a:pPr>
            <a:r>
              <a:rPr sz="1000" i="0" b="1">
                <a:solidFill>
                  <a:srgbClr val="FFFFFF"/>
                </a:solidFill>
                <a:latin typeface="Arial"/>
              </a:rPr>
              <a:t>16%</a:t>
            </a:r>
          </a:p>
        </p:txBody>
      </p:sp>
      <p:sp>
        <p:nvSpPr>
          <p:cNvPr id="24" name="Rectangle 23"/>
          <p:cNvSpPr/>
          <p:nvPr/>
        </p:nvSpPr>
        <p:spPr>
          <a:xfrm>
            <a:off x="2723083" y="2240280"/>
            <a:ext cx="848563" cy="457200"/>
          </a:xfrm>
          <a:prstGeom prst="rect">
            <a:avLst/>
          </a:prstGeom>
          <a:solidFill>
            <a:srgbClr val="6F8196"/>
          </a:solidFill>
          <a:ln w="9525">
            <a:solidFill>
              <a:srgbClr val="FFFFFF"/>
            </a:solidFill>
          </a:ln>
        </p:spPr>
        <p:txBody>
          <a:bodyPr rtlCol="0" anchor="ctr"/>
          <a:lstStyle/>
          <a:p>
            <a:pPr algn="ctr"/>
          </a:p>
        </p:txBody>
      </p:sp>
      <p:sp>
        <p:nvSpPr>
          <p:cNvPr id="25" name="TextBox 24"/>
          <p:cNvSpPr txBox="1"/>
          <p:nvPr/>
        </p:nvSpPr>
        <p:spPr>
          <a:xfrm>
            <a:off x="2723083" y="2359152"/>
            <a:ext cx="848563"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FFFFFF"/>
                </a:solidFill>
                <a:latin typeface="Arial"/>
              </a:rPr>
              <a:t>16%</a:t>
            </a:r>
          </a:p>
        </p:txBody>
      </p:sp>
      <p:sp>
        <p:nvSpPr>
          <p:cNvPr id="26" name="Rectangle 25"/>
          <p:cNvSpPr/>
          <p:nvPr/>
        </p:nvSpPr>
        <p:spPr>
          <a:xfrm>
            <a:off x="3571646" y="2240280"/>
            <a:ext cx="636422" cy="457200"/>
          </a:xfrm>
          <a:prstGeom prst="rect">
            <a:avLst/>
          </a:prstGeom>
          <a:solidFill>
            <a:srgbClr val="AEBBC8"/>
          </a:solidFill>
          <a:ln w="9525">
            <a:solidFill>
              <a:srgbClr val="FFFFFF"/>
            </a:solidFill>
          </a:ln>
        </p:spPr>
        <p:txBody>
          <a:bodyPr rtlCol="0" anchor="ctr"/>
          <a:lstStyle/>
          <a:p>
            <a:pPr algn="ctr"/>
          </a:p>
        </p:txBody>
      </p:sp>
      <p:sp>
        <p:nvSpPr>
          <p:cNvPr id="27" name="TextBox 26"/>
          <p:cNvSpPr txBox="1"/>
          <p:nvPr/>
        </p:nvSpPr>
        <p:spPr>
          <a:xfrm>
            <a:off x="3571646" y="2359152"/>
            <a:ext cx="636422"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1E2833"/>
                </a:solidFill>
                <a:latin typeface="Arial"/>
              </a:rPr>
              <a:t>12%</a:t>
            </a:r>
          </a:p>
        </p:txBody>
      </p:sp>
      <p:sp>
        <p:nvSpPr>
          <p:cNvPr id="28" name="Rectangle 27"/>
          <p:cNvSpPr/>
          <p:nvPr/>
        </p:nvSpPr>
        <p:spPr>
          <a:xfrm>
            <a:off x="4208068" y="2240280"/>
            <a:ext cx="2969971" cy="457200"/>
          </a:xfrm>
          <a:prstGeom prst="rect">
            <a:avLst/>
          </a:prstGeom>
          <a:solidFill>
            <a:srgbClr val="E2E7ED"/>
          </a:solidFill>
          <a:ln w="9525">
            <a:solidFill>
              <a:srgbClr val="FFFFFF"/>
            </a:solidFill>
          </a:ln>
        </p:spPr>
        <p:txBody>
          <a:bodyPr rtlCol="0" anchor="ctr"/>
          <a:lstStyle/>
          <a:p>
            <a:pPr algn="ctr"/>
          </a:p>
        </p:txBody>
      </p:sp>
      <p:sp>
        <p:nvSpPr>
          <p:cNvPr id="29" name="TextBox 28"/>
          <p:cNvSpPr txBox="1"/>
          <p:nvPr/>
        </p:nvSpPr>
        <p:spPr>
          <a:xfrm>
            <a:off x="4208068" y="2359152"/>
            <a:ext cx="2969971"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1E2833"/>
                </a:solidFill>
                <a:latin typeface="Arial"/>
              </a:rPr>
              <a:t>56%</a:t>
            </a:r>
          </a:p>
        </p:txBody>
      </p:sp>
      <p:sp>
        <p:nvSpPr>
          <p:cNvPr id="30" name="TextBox 29"/>
          <p:cNvSpPr txBox="1"/>
          <p:nvPr/>
        </p:nvSpPr>
        <p:spPr>
          <a:xfrm>
            <a:off x="7315200" y="2331720"/>
            <a:ext cx="822960" cy="274320"/>
          </a:xfrm>
          <a:prstGeom prst="rect">
            <a:avLst/>
          </a:prstGeom>
          <a:noFill/>
        </p:spPr>
        <p:txBody>
          <a:bodyPr wrap="square" lIns="0" rIns="0" tIns="0" bIns="0" anchor="t">
            <a:noAutofit/>
          </a:bodyPr>
          <a:lstStyle/>
          <a:p>
            <a:pPr algn="l">
              <a:lnSpc>
                <a:spcPct val="110000"/>
              </a:lnSpc>
              <a:spcAft>
                <a:spcPts val="0"/>
              </a:spcAft>
            </a:pPr>
            <a:r>
              <a:rPr sz="1400" i="0" b="1">
                <a:solidFill>
                  <a:srgbClr val="006BA1"/>
                </a:solidFill>
                <a:latin typeface="Arial"/>
              </a:rPr>
              <a:t>16.0%</a:t>
            </a:r>
          </a:p>
        </p:txBody>
      </p:sp>
      <p:sp>
        <p:nvSpPr>
          <p:cNvPr id="31" name="TextBox 30"/>
          <p:cNvSpPr txBox="1"/>
          <p:nvPr/>
        </p:nvSpPr>
        <p:spPr>
          <a:xfrm>
            <a:off x="548640" y="3008376"/>
            <a:ext cx="1280160" cy="237744"/>
          </a:xfrm>
          <a:prstGeom prst="rect">
            <a:avLst/>
          </a:prstGeom>
          <a:noFill/>
        </p:spPr>
        <p:txBody>
          <a:bodyPr wrap="square" lIns="0" rIns="0" tIns="0" bIns="0" anchor="t">
            <a:noAutofit/>
          </a:bodyPr>
          <a:lstStyle/>
          <a:p>
            <a:pPr algn="l">
              <a:lnSpc>
                <a:spcPct val="110000"/>
              </a:lnSpc>
              <a:spcAft>
                <a:spcPts val="0"/>
              </a:spcAft>
            </a:pPr>
            <a:r>
              <a:rPr sz="1250" i="0" b="1">
                <a:solidFill>
                  <a:srgbClr val="1E2833"/>
                </a:solidFill>
                <a:latin typeface="Arial"/>
              </a:rPr>
              <a:t>Helix</a:t>
            </a:r>
          </a:p>
        </p:txBody>
      </p:sp>
      <p:sp>
        <p:nvSpPr>
          <p:cNvPr id="32" name="TextBox 31"/>
          <p:cNvSpPr txBox="1"/>
          <p:nvPr/>
        </p:nvSpPr>
        <p:spPr>
          <a:xfrm>
            <a:off x="548640" y="3236976"/>
            <a:ext cx="1280160" cy="201168"/>
          </a:xfrm>
          <a:prstGeom prst="rect">
            <a:avLst/>
          </a:prstGeom>
          <a:noFill/>
        </p:spPr>
        <p:txBody>
          <a:bodyPr wrap="square" lIns="0" rIns="0" tIns="0" bIns="0" anchor="t">
            <a:noAutofit/>
          </a:bodyPr>
          <a:lstStyle/>
          <a:p>
            <a:pPr algn="l">
              <a:lnSpc>
                <a:spcPct val="110000"/>
              </a:lnSpc>
              <a:spcAft>
                <a:spcPts val="0"/>
              </a:spcAft>
            </a:pPr>
            <a:r>
              <a:rPr sz="900" i="0" b="0">
                <a:solidFill>
                  <a:srgbClr val="647282"/>
                </a:solidFill>
                <a:latin typeface="Arial"/>
              </a:rPr>
              <a:t>19 visits</a:t>
            </a:r>
          </a:p>
        </p:txBody>
      </p:sp>
      <p:sp>
        <p:nvSpPr>
          <p:cNvPr id="33" name="Rectangle 32"/>
          <p:cNvSpPr/>
          <p:nvPr/>
        </p:nvSpPr>
        <p:spPr>
          <a:xfrm>
            <a:off x="1874519" y="2990088"/>
            <a:ext cx="558265" cy="457200"/>
          </a:xfrm>
          <a:prstGeom prst="rect">
            <a:avLst/>
          </a:prstGeom>
          <a:solidFill>
            <a:srgbClr val="368EF8"/>
          </a:solidFill>
          <a:ln w="9525">
            <a:solidFill>
              <a:srgbClr val="FFFFFF"/>
            </a:solidFill>
          </a:ln>
        </p:spPr>
        <p:txBody>
          <a:bodyPr rtlCol="0" anchor="ctr"/>
          <a:lstStyle/>
          <a:p>
            <a:pPr algn="ctr"/>
          </a:p>
        </p:txBody>
      </p:sp>
      <p:sp>
        <p:nvSpPr>
          <p:cNvPr id="34" name="TextBox 33"/>
          <p:cNvSpPr txBox="1"/>
          <p:nvPr/>
        </p:nvSpPr>
        <p:spPr>
          <a:xfrm>
            <a:off x="1874519" y="3108960"/>
            <a:ext cx="558265" cy="228600"/>
          </a:xfrm>
          <a:prstGeom prst="rect">
            <a:avLst/>
          </a:prstGeom>
          <a:noFill/>
        </p:spPr>
        <p:txBody>
          <a:bodyPr wrap="square" lIns="0" rIns="0" tIns="0" bIns="0" anchor="t">
            <a:noAutofit/>
          </a:bodyPr>
          <a:lstStyle/>
          <a:p>
            <a:pPr algn="ctr">
              <a:lnSpc>
                <a:spcPct val="110000"/>
              </a:lnSpc>
              <a:spcAft>
                <a:spcPts val="0"/>
              </a:spcAft>
            </a:pPr>
            <a:r>
              <a:rPr sz="1000" i="0" b="1">
                <a:solidFill>
                  <a:srgbClr val="FFFFFF"/>
                </a:solidFill>
                <a:latin typeface="Arial"/>
              </a:rPr>
              <a:t>11%</a:t>
            </a:r>
          </a:p>
        </p:txBody>
      </p:sp>
      <p:sp>
        <p:nvSpPr>
          <p:cNvPr id="35" name="Rectangle 34"/>
          <p:cNvSpPr/>
          <p:nvPr/>
        </p:nvSpPr>
        <p:spPr>
          <a:xfrm>
            <a:off x="2432785" y="2990088"/>
            <a:ext cx="279132" cy="457200"/>
          </a:xfrm>
          <a:prstGeom prst="rect">
            <a:avLst/>
          </a:prstGeom>
          <a:solidFill>
            <a:srgbClr val="6F8196"/>
          </a:solidFill>
          <a:ln w="9525">
            <a:solidFill>
              <a:srgbClr val="FFFFFF"/>
            </a:solidFill>
          </a:ln>
        </p:spPr>
        <p:txBody>
          <a:bodyPr rtlCol="0" anchor="ctr"/>
          <a:lstStyle/>
          <a:p>
            <a:pPr algn="ctr"/>
          </a:p>
        </p:txBody>
      </p:sp>
      <p:sp>
        <p:nvSpPr>
          <p:cNvPr id="36" name="Rectangle 35"/>
          <p:cNvSpPr/>
          <p:nvPr/>
        </p:nvSpPr>
        <p:spPr>
          <a:xfrm>
            <a:off x="2711917" y="2990088"/>
            <a:ext cx="279132" cy="457200"/>
          </a:xfrm>
          <a:prstGeom prst="rect">
            <a:avLst/>
          </a:prstGeom>
          <a:solidFill>
            <a:srgbClr val="AEBBC8"/>
          </a:solidFill>
          <a:ln w="9525">
            <a:solidFill>
              <a:srgbClr val="FFFFFF"/>
            </a:solidFill>
          </a:ln>
        </p:spPr>
        <p:txBody>
          <a:bodyPr rtlCol="0" anchor="ctr"/>
          <a:lstStyle/>
          <a:p>
            <a:pPr algn="ctr"/>
          </a:p>
        </p:txBody>
      </p:sp>
      <p:sp>
        <p:nvSpPr>
          <p:cNvPr id="37" name="Rectangle 36"/>
          <p:cNvSpPr/>
          <p:nvPr/>
        </p:nvSpPr>
        <p:spPr>
          <a:xfrm>
            <a:off x="2991050" y="2990088"/>
            <a:ext cx="4186989" cy="457200"/>
          </a:xfrm>
          <a:prstGeom prst="rect">
            <a:avLst/>
          </a:prstGeom>
          <a:solidFill>
            <a:srgbClr val="E2E7ED"/>
          </a:solidFill>
          <a:ln w="9525">
            <a:solidFill>
              <a:srgbClr val="FFFFFF"/>
            </a:solidFill>
          </a:ln>
        </p:spPr>
        <p:txBody>
          <a:bodyPr rtlCol="0" anchor="ctr"/>
          <a:lstStyle/>
          <a:p>
            <a:pPr algn="ctr"/>
          </a:p>
        </p:txBody>
      </p:sp>
      <p:sp>
        <p:nvSpPr>
          <p:cNvPr id="38" name="TextBox 37"/>
          <p:cNvSpPr txBox="1"/>
          <p:nvPr/>
        </p:nvSpPr>
        <p:spPr>
          <a:xfrm>
            <a:off x="2991050" y="3108960"/>
            <a:ext cx="4186989"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1E2833"/>
                </a:solidFill>
                <a:latin typeface="Arial"/>
              </a:rPr>
              <a:t>79%</a:t>
            </a:r>
          </a:p>
        </p:txBody>
      </p:sp>
      <p:sp>
        <p:nvSpPr>
          <p:cNvPr id="39" name="TextBox 38"/>
          <p:cNvSpPr txBox="1"/>
          <p:nvPr/>
        </p:nvSpPr>
        <p:spPr>
          <a:xfrm>
            <a:off x="7315200" y="3081528"/>
            <a:ext cx="822960" cy="274320"/>
          </a:xfrm>
          <a:prstGeom prst="rect">
            <a:avLst/>
          </a:prstGeom>
          <a:noFill/>
        </p:spPr>
        <p:txBody>
          <a:bodyPr wrap="square" lIns="0" rIns="0" tIns="0" bIns="0" anchor="t">
            <a:noAutofit/>
          </a:bodyPr>
          <a:lstStyle/>
          <a:p>
            <a:pPr algn="l">
              <a:lnSpc>
                <a:spcPct val="110000"/>
              </a:lnSpc>
              <a:spcAft>
                <a:spcPts val="0"/>
              </a:spcAft>
            </a:pPr>
            <a:r>
              <a:rPr sz="1400" i="0" b="1">
                <a:solidFill>
                  <a:srgbClr val="006BA1"/>
                </a:solidFill>
                <a:latin typeface="Arial"/>
              </a:rPr>
              <a:t>10.5%</a:t>
            </a:r>
          </a:p>
        </p:txBody>
      </p:sp>
      <p:sp>
        <p:nvSpPr>
          <p:cNvPr id="40" name="TextBox 39"/>
          <p:cNvSpPr txBox="1"/>
          <p:nvPr/>
        </p:nvSpPr>
        <p:spPr>
          <a:xfrm>
            <a:off x="548640" y="3758183"/>
            <a:ext cx="1280160" cy="237744"/>
          </a:xfrm>
          <a:prstGeom prst="rect">
            <a:avLst/>
          </a:prstGeom>
          <a:noFill/>
        </p:spPr>
        <p:txBody>
          <a:bodyPr wrap="square" lIns="0" rIns="0" tIns="0" bIns="0" anchor="t">
            <a:noAutofit/>
          </a:bodyPr>
          <a:lstStyle/>
          <a:p>
            <a:pPr algn="l">
              <a:lnSpc>
                <a:spcPct val="110000"/>
              </a:lnSpc>
              <a:spcAft>
                <a:spcPts val="0"/>
              </a:spcAft>
            </a:pPr>
            <a:r>
              <a:rPr sz="1250" i="0" b="1">
                <a:solidFill>
                  <a:srgbClr val="1E2833"/>
                </a:solidFill>
                <a:latin typeface="Arial"/>
              </a:rPr>
              <a:t>DreamCloud</a:t>
            </a:r>
          </a:p>
        </p:txBody>
      </p:sp>
      <p:sp>
        <p:nvSpPr>
          <p:cNvPr id="41" name="TextBox 40"/>
          <p:cNvSpPr txBox="1"/>
          <p:nvPr/>
        </p:nvSpPr>
        <p:spPr>
          <a:xfrm>
            <a:off x="548640" y="3986783"/>
            <a:ext cx="1280160" cy="201168"/>
          </a:xfrm>
          <a:prstGeom prst="rect">
            <a:avLst/>
          </a:prstGeom>
          <a:noFill/>
        </p:spPr>
        <p:txBody>
          <a:bodyPr wrap="square" lIns="0" rIns="0" tIns="0" bIns="0" anchor="t">
            <a:noAutofit/>
          </a:bodyPr>
          <a:lstStyle/>
          <a:p>
            <a:pPr algn="l">
              <a:lnSpc>
                <a:spcPct val="110000"/>
              </a:lnSpc>
              <a:spcAft>
                <a:spcPts val="0"/>
              </a:spcAft>
            </a:pPr>
            <a:r>
              <a:rPr sz="900" i="0" b="0">
                <a:solidFill>
                  <a:srgbClr val="647282"/>
                </a:solidFill>
                <a:latin typeface="Arial"/>
              </a:rPr>
              <a:t>27 visits</a:t>
            </a:r>
          </a:p>
        </p:txBody>
      </p:sp>
      <p:sp>
        <p:nvSpPr>
          <p:cNvPr id="42" name="Rectangle 41"/>
          <p:cNvSpPr/>
          <p:nvPr/>
        </p:nvSpPr>
        <p:spPr>
          <a:xfrm>
            <a:off x="1874519" y="3739896"/>
            <a:ext cx="392853" cy="457200"/>
          </a:xfrm>
          <a:prstGeom prst="rect">
            <a:avLst/>
          </a:prstGeom>
          <a:solidFill>
            <a:srgbClr val="368EF8"/>
          </a:solidFill>
          <a:ln w="9525">
            <a:solidFill>
              <a:srgbClr val="FFFFFF"/>
            </a:solidFill>
          </a:ln>
        </p:spPr>
        <p:txBody>
          <a:bodyPr rtlCol="0" anchor="ctr"/>
          <a:lstStyle/>
          <a:p>
            <a:pPr algn="ctr"/>
          </a:p>
        </p:txBody>
      </p:sp>
      <p:sp>
        <p:nvSpPr>
          <p:cNvPr id="43" name="Rectangle 42"/>
          <p:cNvSpPr/>
          <p:nvPr/>
        </p:nvSpPr>
        <p:spPr>
          <a:xfrm>
            <a:off x="2267373" y="3739896"/>
            <a:ext cx="1964266" cy="457200"/>
          </a:xfrm>
          <a:prstGeom prst="rect">
            <a:avLst/>
          </a:prstGeom>
          <a:solidFill>
            <a:srgbClr val="6F8196"/>
          </a:solidFill>
          <a:ln w="9525">
            <a:solidFill>
              <a:srgbClr val="FFFFFF"/>
            </a:solidFill>
          </a:ln>
        </p:spPr>
        <p:txBody>
          <a:bodyPr rtlCol="0" anchor="ctr"/>
          <a:lstStyle/>
          <a:p>
            <a:pPr algn="ctr"/>
          </a:p>
        </p:txBody>
      </p:sp>
      <p:sp>
        <p:nvSpPr>
          <p:cNvPr id="44" name="TextBox 43"/>
          <p:cNvSpPr txBox="1"/>
          <p:nvPr/>
        </p:nvSpPr>
        <p:spPr>
          <a:xfrm>
            <a:off x="2267373" y="3858768"/>
            <a:ext cx="1964266"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FFFFFF"/>
                </a:solidFill>
                <a:latin typeface="Arial"/>
              </a:rPr>
              <a:t>37%</a:t>
            </a:r>
          </a:p>
        </p:txBody>
      </p:sp>
      <p:sp>
        <p:nvSpPr>
          <p:cNvPr id="45" name="Rectangle 44"/>
          <p:cNvSpPr/>
          <p:nvPr/>
        </p:nvSpPr>
        <p:spPr>
          <a:xfrm>
            <a:off x="4231640" y="3739896"/>
            <a:ext cx="589279" cy="457200"/>
          </a:xfrm>
          <a:prstGeom prst="rect">
            <a:avLst/>
          </a:prstGeom>
          <a:solidFill>
            <a:srgbClr val="AEBBC8"/>
          </a:solidFill>
          <a:ln w="9525">
            <a:solidFill>
              <a:srgbClr val="FFFFFF"/>
            </a:solidFill>
          </a:ln>
        </p:spPr>
        <p:txBody>
          <a:bodyPr rtlCol="0" anchor="ctr"/>
          <a:lstStyle/>
          <a:p>
            <a:pPr algn="ctr"/>
          </a:p>
        </p:txBody>
      </p:sp>
      <p:sp>
        <p:nvSpPr>
          <p:cNvPr id="46" name="TextBox 45"/>
          <p:cNvSpPr txBox="1"/>
          <p:nvPr/>
        </p:nvSpPr>
        <p:spPr>
          <a:xfrm>
            <a:off x="4231640" y="3858768"/>
            <a:ext cx="589279"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1E2833"/>
                </a:solidFill>
                <a:latin typeface="Arial"/>
              </a:rPr>
              <a:t>11%</a:t>
            </a:r>
          </a:p>
        </p:txBody>
      </p:sp>
      <p:sp>
        <p:nvSpPr>
          <p:cNvPr id="47" name="Rectangle 46"/>
          <p:cNvSpPr/>
          <p:nvPr/>
        </p:nvSpPr>
        <p:spPr>
          <a:xfrm>
            <a:off x="4820920" y="3739896"/>
            <a:ext cx="2357119" cy="457200"/>
          </a:xfrm>
          <a:prstGeom prst="rect">
            <a:avLst/>
          </a:prstGeom>
          <a:solidFill>
            <a:srgbClr val="E2E7ED"/>
          </a:solidFill>
          <a:ln w="9525">
            <a:solidFill>
              <a:srgbClr val="FFFFFF"/>
            </a:solidFill>
          </a:ln>
        </p:spPr>
        <p:txBody>
          <a:bodyPr rtlCol="0" anchor="ctr"/>
          <a:lstStyle/>
          <a:p>
            <a:pPr algn="ctr"/>
          </a:p>
        </p:txBody>
      </p:sp>
      <p:sp>
        <p:nvSpPr>
          <p:cNvPr id="48" name="TextBox 47"/>
          <p:cNvSpPr txBox="1"/>
          <p:nvPr/>
        </p:nvSpPr>
        <p:spPr>
          <a:xfrm>
            <a:off x="4820920" y="3858768"/>
            <a:ext cx="2357119"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1E2833"/>
                </a:solidFill>
                <a:latin typeface="Arial"/>
              </a:rPr>
              <a:t>44%</a:t>
            </a:r>
          </a:p>
        </p:txBody>
      </p:sp>
      <p:sp>
        <p:nvSpPr>
          <p:cNvPr id="49" name="TextBox 48"/>
          <p:cNvSpPr txBox="1"/>
          <p:nvPr/>
        </p:nvSpPr>
        <p:spPr>
          <a:xfrm>
            <a:off x="7315200" y="3831335"/>
            <a:ext cx="822960" cy="274320"/>
          </a:xfrm>
          <a:prstGeom prst="rect">
            <a:avLst/>
          </a:prstGeom>
          <a:noFill/>
        </p:spPr>
        <p:txBody>
          <a:bodyPr wrap="square" lIns="0" rIns="0" tIns="0" bIns="0" anchor="t">
            <a:noAutofit/>
          </a:bodyPr>
          <a:lstStyle/>
          <a:p>
            <a:pPr algn="l">
              <a:lnSpc>
                <a:spcPct val="110000"/>
              </a:lnSpc>
              <a:spcAft>
                <a:spcPts val="0"/>
              </a:spcAft>
            </a:pPr>
            <a:r>
              <a:rPr sz="1400" i="0" b="1">
                <a:solidFill>
                  <a:srgbClr val="006BA1"/>
                </a:solidFill>
                <a:latin typeface="Arial"/>
              </a:rPr>
              <a:t>7.4%</a:t>
            </a:r>
          </a:p>
        </p:txBody>
      </p:sp>
      <p:sp>
        <p:nvSpPr>
          <p:cNvPr id="50" name="TextBox 49"/>
          <p:cNvSpPr txBox="1"/>
          <p:nvPr/>
        </p:nvSpPr>
        <p:spPr>
          <a:xfrm>
            <a:off x="548640" y="4507992"/>
            <a:ext cx="1280160" cy="237744"/>
          </a:xfrm>
          <a:prstGeom prst="rect">
            <a:avLst/>
          </a:prstGeom>
          <a:noFill/>
        </p:spPr>
        <p:txBody>
          <a:bodyPr wrap="square" lIns="0" rIns="0" tIns="0" bIns="0" anchor="t">
            <a:noAutofit/>
          </a:bodyPr>
          <a:lstStyle/>
          <a:p>
            <a:pPr algn="l">
              <a:lnSpc>
                <a:spcPct val="110000"/>
              </a:lnSpc>
              <a:spcAft>
                <a:spcPts val="0"/>
              </a:spcAft>
            </a:pPr>
            <a:r>
              <a:rPr sz="1250" i="0" b="1">
                <a:solidFill>
                  <a:srgbClr val="1E2833"/>
                </a:solidFill>
                <a:latin typeface="Arial"/>
              </a:rPr>
              <a:t>Nectar</a:t>
            </a:r>
          </a:p>
        </p:txBody>
      </p:sp>
      <p:sp>
        <p:nvSpPr>
          <p:cNvPr id="51" name="TextBox 50"/>
          <p:cNvSpPr txBox="1"/>
          <p:nvPr/>
        </p:nvSpPr>
        <p:spPr>
          <a:xfrm>
            <a:off x="548640" y="4736592"/>
            <a:ext cx="1280160" cy="201168"/>
          </a:xfrm>
          <a:prstGeom prst="rect">
            <a:avLst/>
          </a:prstGeom>
          <a:noFill/>
        </p:spPr>
        <p:txBody>
          <a:bodyPr wrap="square" lIns="0" rIns="0" tIns="0" bIns="0" anchor="t">
            <a:noAutofit/>
          </a:bodyPr>
          <a:lstStyle/>
          <a:p>
            <a:pPr algn="l">
              <a:lnSpc>
                <a:spcPct val="110000"/>
              </a:lnSpc>
              <a:spcAft>
                <a:spcPts val="0"/>
              </a:spcAft>
            </a:pPr>
            <a:r>
              <a:rPr sz="900" i="0" b="0">
                <a:solidFill>
                  <a:srgbClr val="647282"/>
                </a:solidFill>
                <a:latin typeface="Arial"/>
              </a:rPr>
              <a:t>51 visits</a:t>
            </a:r>
          </a:p>
        </p:txBody>
      </p:sp>
      <p:sp>
        <p:nvSpPr>
          <p:cNvPr id="52" name="Rectangle 51"/>
          <p:cNvSpPr/>
          <p:nvPr/>
        </p:nvSpPr>
        <p:spPr>
          <a:xfrm>
            <a:off x="1874519" y="4489704"/>
            <a:ext cx="207981" cy="457200"/>
          </a:xfrm>
          <a:prstGeom prst="rect">
            <a:avLst/>
          </a:prstGeom>
          <a:solidFill>
            <a:srgbClr val="368EF8"/>
          </a:solidFill>
          <a:ln w="9525">
            <a:solidFill>
              <a:srgbClr val="FFFFFF"/>
            </a:solidFill>
          </a:ln>
        </p:spPr>
        <p:txBody>
          <a:bodyPr rtlCol="0" anchor="ctr"/>
          <a:lstStyle/>
          <a:p>
            <a:pPr algn="ctr"/>
          </a:p>
        </p:txBody>
      </p:sp>
      <p:sp>
        <p:nvSpPr>
          <p:cNvPr id="53" name="Rectangle 52"/>
          <p:cNvSpPr/>
          <p:nvPr/>
        </p:nvSpPr>
        <p:spPr>
          <a:xfrm>
            <a:off x="2082501" y="4489704"/>
            <a:ext cx="2287792" cy="457200"/>
          </a:xfrm>
          <a:prstGeom prst="rect">
            <a:avLst/>
          </a:prstGeom>
          <a:solidFill>
            <a:srgbClr val="6F8196"/>
          </a:solidFill>
          <a:ln w="9525">
            <a:solidFill>
              <a:srgbClr val="FFFFFF"/>
            </a:solidFill>
          </a:ln>
        </p:spPr>
        <p:txBody>
          <a:bodyPr rtlCol="0" anchor="ctr"/>
          <a:lstStyle/>
          <a:p>
            <a:pPr algn="ctr"/>
          </a:p>
        </p:txBody>
      </p:sp>
      <p:sp>
        <p:nvSpPr>
          <p:cNvPr id="54" name="TextBox 53"/>
          <p:cNvSpPr txBox="1"/>
          <p:nvPr/>
        </p:nvSpPr>
        <p:spPr>
          <a:xfrm>
            <a:off x="2082501" y="4608576"/>
            <a:ext cx="2287792"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FFFFFF"/>
                </a:solidFill>
                <a:latin typeface="Arial"/>
              </a:rPr>
              <a:t>43%</a:t>
            </a:r>
          </a:p>
        </p:txBody>
      </p:sp>
      <p:sp>
        <p:nvSpPr>
          <p:cNvPr id="55" name="Rectangle 54"/>
          <p:cNvSpPr/>
          <p:nvPr/>
        </p:nvSpPr>
        <p:spPr>
          <a:xfrm>
            <a:off x="4370294" y="4489704"/>
            <a:ext cx="311971" cy="457200"/>
          </a:xfrm>
          <a:prstGeom prst="rect">
            <a:avLst/>
          </a:prstGeom>
          <a:solidFill>
            <a:srgbClr val="AEBBC8"/>
          </a:solidFill>
          <a:ln w="9525">
            <a:solidFill>
              <a:srgbClr val="FFFFFF"/>
            </a:solidFill>
          </a:ln>
        </p:spPr>
        <p:txBody>
          <a:bodyPr rtlCol="0" anchor="ctr"/>
          <a:lstStyle/>
          <a:p>
            <a:pPr algn="ctr"/>
          </a:p>
        </p:txBody>
      </p:sp>
      <p:sp>
        <p:nvSpPr>
          <p:cNvPr id="56" name="Rectangle 55"/>
          <p:cNvSpPr/>
          <p:nvPr/>
        </p:nvSpPr>
        <p:spPr>
          <a:xfrm>
            <a:off x="4682265" y="4489704"/>
            <a:ext cx="2495774" cy="457200"/>
          </a:xfrm>
          <a:prstGeom prst="rect">
            <a:avLst/>
          </a:prstGeom>
          <a:solidFill>
            <a:srgbClr val="E2E7ED"/>
          </a:solidFill>
          <a:ln w="9525">
            <a:solidFill>
              <a:srgbClr val="FFFFFF"/>
            </a:solidFill>
          </a:ln>
        </p:spPr>
        <p:txBody>
          <a:bodyPr rtlCol="0" anchor="ctr"/>
          <a:lstStyle/>
          <a:p>
            <a:pPr algn="ctr"/>
          </a:p>
        </p:txBody>
      </p:sp>
      <p:sp>
        <p:nvSpPr>
          <p:cNvPr id="57" name="TextBox 56"/>
          <p:cNvSpPr txBox="1"/>
          <p:nvPr/>
        </p:nvSpPr>
        <p:spPr>
          <a:xfrm>
            <a:off x="4682265" y="4608576"/>
            <a:ext cx="2495774"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1E2833"/>
                </a:solidFill>
                <a:latin typeface="Arial"/>
              </a:rPr>
              <a:t>47%</a:t>
            </a:r>
          </a:p>
        </p:txBody>
      </p:sp>
      <p:sp>
        <p:nvSpPr>
          <p:cNvPr id="58" name="TextBox 57"/>
          <p:cNvSpPr txBox="1"/>
          <p:nvPr/>
        </p:nvSpPr>
        <p:spPr>
          <a:xfrm>
            <a:off x="7315200" y="4581144"/>
            <a:ext cx="822960" cy="274320"/>
          </a:xfrm>
          <a:prstGeom prst="rect">
            <a:avLst/>
          </a:prstGeom>
          <a:noFill/>
        </p:spPr>
        <p:txBody>
          <a:bodyPr wrap="square" lIns="0" rIns="0" tIns="0" bIns="0" anchor="t">
            <a:noAutofit/>
          </a:bodyPr>
          <a:lstStyle/>
          <a:p>
            <a:pPr algn="l">
              <a:lnSpc>
                <a:spcPct val="110000"/>
              </a:lnSpc>
              <a:spcAft>
                <a:spcPts val="0"/>
              </a:spcAft>
            </a:pPr>
            <a:r>
              <a:rPr sz="1400" i="0" b="1">
                <a:solidFill>
                  <a:srgbClr val="006BA1"/>
                </a:solidFill>
                <a:latin typeface="Arial"/>
              </a:rPr>
              <a:t>3.9%</a:t>
            </a:r>
          </a:p>
        </p:txBody>
      </p:sp>
      <p:sp>
        <p:nvSpPr>
          <p:cNvPr id="59" name="TextBox 58"/>
          <p:cNvSpPr txBox="1"/>
          <p:nvPr/>
        </p:nvSpPr>
        <p:spPr>
          <a:xfrm>
            <a:off x="548640" y="5440680"/>
            <a:ext cx="1280160" cy="237744"/>
          </a:xfrm>
          <a:prstGeom prst="rect">
            <a:avLst/>
          </a:prstGeom>
          <a:noFill/>
        </p:spPr>
        <p:txBody>
          <a:bodyPr wrap="square" lIns="0" rIns="0" tIns="0" bIns="0" anchor="t">
            <a:noAutofit/>
          </a:bodyPr>
          <a:lstStyle/>
          <a:p>
            <a:pPr algn="l">
              <a:lnSpc>
                <a:spcPct val="110000"/>
              </a:lnSpc>
              <a:spcAft>
                <a:spcPts val="0"/>
              </a:spcAft>
            </a:pPr>
            <a:r>
              <a:rPr sz="1250" i="0" b="1">
                <a:solidFill>
                  <a:srgbClr val="1E2833"/>
                </a:solidFill>
                <a:latin typeface="Arial"/>
              </a:rPr>
              <a:t>Walmart</a:t>
            </a:r>
          </a:p>
        </p:txBody>
      </p:sp>
      <p:sp>
        <p:nvSpPr>
          <p:cNvPr id="60" name="TextBox 59"/>
          <p:cNvSpPr txBox="1"/>
          <p:nvPr/>
        </p:nvSpPr>
        <p:spPr>
          <a:xfrm>
            <a:off x="548640" y="5669280"/>
            <a:ext cx="1280160" cy="201168"/>
          </a:xfrm>
          <a:prstGeom prst="rect">
            <a:avLst/>
          </a:prstGeom>
          <a:noFill/>
        </p:spPr>
        <p:txBody>
          <a:bodyPr wrap="square" lIns="0" rIns="0" tIns="0" bIns="0" anchor="t">
            <a:noAutofit/>
          </a:bodyPr>
          <a:lstStyle/>
          <a:p>
            <a:pPr algn="l">
              <a:lnSpc>
                <a:spcPct val="110000"/>
              </a:lnSpc>
              <a:spcAft>
                <a:spcPts val="0"/>
              </a:spcAft>
            </a:pPr>
            <a:r>
              <a:rPr sz="900" i="0" b="0">
                <a:solidFill>
                  <a:srgbClr val="647282"/>
                </a:solidFill>
                <a:latin typeface="Arial"/>
              </a:rPr>
              <a:t>16,401 visits</a:t>
            </a:r>
          </a:p>
        </p:txBody>
      </p:sp>
      <p:sp>
        <p:nvSpPr>
          <p:cNvPr id="61" name="Rectangle 60"/>
          <p:cNvSpPr/>
          <p:nvPr/>
        </p:nvSpPr>
        <p:spPr>
          <a:xfrm>
            <a:off x="1874519" y="5422392"/>
            <a:ext cx="340504" cy="457200"/>
          </a:xfrm>
          <a:prstGeom prst="rect">
            <a:avLst/>
          </a:prstGeom>
          <a:solidFill>
            <a:srgbClr val="368EF8"/>
          </a:solidFill>
          <a:ln w="9525">
            <a:solidFill>
              <a:srgbClr val="FFFFFF"/>
            </a:solidFill>
          </a:ln>
        </p:spPr>
        <p:txBody>
          <a:bodyPr rtlCol="0" anchor="ctr"/>
          <a:lstStyle/>
          <a:p>
            <a:pPr algn="ctr"/>
          </a:p>
        </p:txBody>
      </p:sp>
      <p:sp>
        <p:nvSpPr>
          <p:cNvPr id="62" name="Rectangle 61"/>
          <p:cNvSpPr/>
          <p:nvPr/>
        </p:nvSpPr>
        <p:spPr>
          <a:xfrm>
            <a:off x="2215024" y="5422392"/>
            <a:ext cx="711404" cy="457200"/>
          </a:xfrm>
          <a:prstGeom prst="rect">
            <a:avLst/>
          </a:prstGeom>
          <a:solidFill>
            <a:srgbClr val="6F8196"/>
          </a:solidFill>
          <a:ln w="9525">
            <a:solidFill>
              <a:srgbClr val="FFFFFF"/>
            </a:solidFill>
          </a:ln>
        </p:spPr>
        <p:txBody>
          <a:bodyPr rtlCol="0" anchor="ctr"/>
          <a:lstStyle/>
          <a:p>
            <a:pPr algn="ctr"/>
          </a:p>
        </p:txBody>
      </p:sp>
      <p:sp>
        <p:nvSpPr>
          <p:cNvPr id="63" name="TextBox 62"/>
          <p:cNvSpPr txBox="1"/>
          <p:nvPr/>
        </p:nvSpPr>
        <p:spPr>
          <a:xfrm>
            <a:off x="2215024" y="5541264"/>
            <a:ext cx="711404"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FFFFFF"/>
                </a:solidFill>
                <a:latin typeface="Arial"/>
              </a:rPr>
              <a:t>13%</a:t>
            </a:r>
          </a:p>
        </p:txBody>
      </p:sp>
      <p:sp>
        <p:nvSpPr>
          <p:cNvPr id="64" name="Rectangle 63"/>
          <p:cNvSpPr/>
          <p:nvPr/>
        </p:nvSpPr>
        <p:spPr>
          <a:xfrm>
            <a:off x="2926428" y="5422392"/>
            <a:ext cx="35246" cy="457200"/>
          </a:xfrm>
          <a:prstGeom prst="rect">
            <a:avLst/>
          </a:prstGeom>
          <a:solidFill>
            <a:srgbClr val="AEBBC8"/>
          </a:solidFill>
          <a:ln w="9525">
            <a:solidFill>
              <a:srgbClr val="FFFFFF"/>
            </a:solidFill>
          </a:ln>
        </p:spPr>
        <p:txBody>
          <a:bodyPr rtlCol="0" anchor="ctr"/>
          <a:lstStyle/>
          <a:p>
            <a:pPr algn="ctr"/>
          </a:p>
        </p:txBody>
      </p:sp>
      <p:sp>
        <p:nvSpPr>
          <p:cNvPr id="65" name="Rectangle 64"/>
          <p:cNvSpPr/>
          <p:nvPr/>
        </p:nvSpPr>
        <p:spPr>
          <a:xfrm>
            <a:off x="2961675" y="5422392"/>
            <a:ext cx="4216364" cy="457200"/>
          </a:xfrm>
          <a:prstGeom prst="rect">
            <a:avLst/>
          </a:prstGeom>
          <a:solidFill>
            <a:srgbClr val="E2E7ED"/>
          </a:solidFill>
          <a:ln w="9525">
            <a:solidFill>
              <a:srgbClr val="FFFFFF"/>
            </a:solidFill>
          </a:ln>
        </p:spPr>
        <p:txBody>
          <a:bodyPr rtlCol="0" anchor="ctr"/>
          <a:lstStyle/>
          <a:p>
            <a:pPr algn="ctr"/>
          </a:p>
        </p:txBody>
      </p:sp>
      <p:sp>
        <p:nvSpPr>
          <p:cNvPr id="66" name="TextBox 65"/>
          <p:cNvSpPr txBox="1"/>
          <p:nvPr/>
        </p:nvSpPr>
        <p:spPr>
          <a:xfrm>
            <a:off x="2961675" y="5541264"/>
            <a:ext cx="4216364" cy="228600"/>
          </a:xfrm>
          <a:prstGeom prst="rect">
            <a:avLst/>
          </a:prstGeom>
          <a:noFill/>
        </p:spPr>
        <p:txBody>
          <a:bodyPr wrap="square" lIns="0" rIns="0" tIns="0" bIns="0" anchor="t">
            <a:noAutofit/>
          </a:bodyPr>
          <a:lstStyle/>
          <a:p>
            <a:pPr algn="ctr">
              <a:lnSpc>
                <a:spcPct val="110000"/>
              </a:lnSpc>
              <a:spcAft>
                <a:spcPts val="0"/>
              </a:spcAft>
            </a:pPr>
            <a:r>
              <a:rPr sz="1000" i="0" b="0">
                <a:solidFill>
                  <a:srgbClr val="1E2833"/>
                </a:solidFill>
                <a:latin typeface="Arial"/>
              </a:rPr>
              <a:t>80%</a:t>
            </a:r>
          </a:p>
        </p:txBody>
      </p:sp>
      <p:sp>
        <p:nvSpPr>
          <p:cNvPr id="67" name="TextBox 66"/>
          <p:cNvSpPr txBox="1"/>
          <p:nvPr/>
        </p:nvSpPr>
        <p:spPr>
          <a:xfrm>
            <a:off x="7315200" y="5513832"/>
            <a:ext cx="822960" cy="274320"/>
          </a:xfrm>
          <a:prstGeom prst="rect">
            <a:avLst/>
          </a:prstGeom>
          <a:noFill/>
        </p:spPr>
        <p:txBody>
          <a:bodyPr wrap="square" lIns="0" rIns="0" tIns="0" bIns="0" anchor="t">
            <a:noAutofit/>
          </a:bodyPr>
          <a:lstStyle/>
          <a:p>
            <a:pPr algn="l">
              <a:lnSpc>
                <a:spcPct val="110000"/>
              </a:lnSpc>
              <a:spcAft>
                <a:spcPts val="0"/>
              </a:spcAft>
            </a:pPr>
            <a:r>
              <a:rPr sz="1400" i="0" b="1">
                <a:solidFill>
                  <a:srgbClr val="006BA1"/>
                </a:solidFill>
                <a:latin typeface="Arial"/>
              </a:rPr>
              <a:t>6.4%</a:t>
            </a:r>
          </a:p>
        </p:txBody>
      </p:sp>
      <p:sp>
        <p:nvSpPr>
          <p:cNvPr id="68" name="TextBox 67"/>
          <p:cNvSpPr txBox="1"/>
          <p:nvPr/>
        </p:nvSpPr>
        <p:spPr>
          <a:xfrm>
            <a:off x="7315200" y="1947672"/>
            <a:ext cx="914400" cy="228600"/>
          </a:xfrm>
          <a:prstGeom prst="rect">
            <a:avLst/>
          </a:prstGeom>
          <a:noFill/>
        </p:spPr>
        <p:txBody>
          <a:bodyPr wrap="square" lIns="0" rIns="0" tIns="0" bIns="0" anchor="t">
            <a:noAutofit/>
          </a:bodyPr>
          <a:lstStyle/>
          <a:p>
            <a:pPr algn="l">
              <a:lnSpc>
                <a:spcPct val="110000"/>
              </a:lnSpc>
              <a:spcAft>
                <a:spcPts val="0"/>
              </a:spcAft>
            </a:pPr>
            <a:r>
              <a:rPr sz="950" i="0" b="1">
                <a:solidFill>
                  <a:srgbClr val="647282"/>
                </a:solidFill>
                <a:latin typeface="Arial"/>
              </a:rPr>
              <a:t>Affiliate</a:t>
            </a:r>
          </a:p>
        </p:txBody>
      </p:sp>
      <p:cxnSp>
        <p:nvCxnSpPr>
          <p:cNvPr id="69" name="Connector 68"/>
          <p:cNvCxnSpPr/>
          <p:nvPr/>
        </p:nvCxnSpPr>
        <p:spPr>
          <a:xfrm>
            <a:off x="548640" y="5266944"/>
            <a:ext cx="7543800" cy="0"/>
          </a:xfrm>
          <a:prstGeom prst="line">
            <a:avLst/>
          </a:prstGeom>
          <a:ln w="6350">
            <a:solidFill>
              <a:srgbClr val="D6DDE5"/>
            </a:solidFill>
            <a:prstDash val="dash"/>
          </a:ln>
        </p:spPr>
      </p:cxnSp>
      <p:sp>
        <p:nvSpPr>
          <p:cNvPr id="70" name="TextBox 69"/>
          <p:cNvSpPr txBox="1"/>
          <p:nvPr/>
        </p:nvSpPr>
        <p:spPr>
          <a:xfrm>
            <a:off x="548640" y="5925312"/>
            <a:ext cx="7498079" cy="228600"/>
          </a:xfrm>
          <a:prstGeom prst="rect">
            <a:avLst/>
          </a:prstGeom>
          <a:noFill/>
        </p:spPr>
        <p:txBody>
          <a:bodyPr wrap="square" lIns="0" rIns="0" tIns="0" bIns="0" anchor="t">
            <a:noAutofit/>
          </a:bodyPr>
          <a:lstStyle/>
          <a:p>
            <a:pPr algn="l">
              <a:lnSpc>
                <a:spcPct val="110000"/>
              </a:lnSpc>
              <a:spcAft>
                <a:spcPts val="0"/>
              </a:spcAft>
            </a:pPr>
            <a:r>
              <a:rPr sz="900" i="0" b="0">
                <a:solidFill>
                  <a:srgbClr val="647282"/>
                </a:solidFill>
                <a:latin typeface="Arial"/>
              </a:rPr>
              <a:t>Share of US panel visits by the entry page's traffic source, 1 May 2026. Walmart is the retail benchmark.</a:t>
            </a:r>
          </a:p>
        </p:txBody>
      </p:sp>
      <p:sp>
        <p:nvSpPr>
          <p:cNvPr id="71" name="Rectangle 70"/>
          <p:cNvSpPr/>
          <p:nvPr/>
        </p:nvSpPr>
        <p:spPr>
          <a:xfrm>
            <a:off x="8549640" y="1691640"/>
            <a:ext cx="3093415" cy="2743200"/>
          </a:xfrm>
          <a:prstGeom prst="rect">
            <a:avLst/>
          </a:prstGeom>
          <a:solidFill>
            <a:srgbClr val="F3F6F9"/>
          </a:solidFill>
          <a:ln>
            <a:noFill/>
          </a:ln>
        </p:spPr>
        <p:txBody>
          <a:bodyPr rtlCol="0" anchor="ctr"/>
          <a:lstStyle/>
          <a:p>
            <a:pPr algn="ctr"/>
          </a:p>
        </p:txBody>
      </p:sp>
      <p:sp>
        <p:nvSpPr>
          <p:cNvPr id="72" name="TextBox 71"/>
          <p:cNvSpPr txBox="1"/>
          <p:nvPr/>
        </p:nvSpPr>
        <p:spPr>
          <a:xfrm>
            <a:off x="8750808" y="1837944"/>
            <a:ext cx="2727655" cy="457200"/>
          </a:xfrm>
          <a:prstGeom prst="rect">
            <a:avLst/>
          </a:prstGeom>
          <a:noFill/>
        </p:spPr>
        <p:txBody>
          <a:bodyPr wrap="square" lIns="0" rIns="0" tIns="0" bIns="0" anchor="t">
            <a:noAutofit/>
          </a:bodyPr>
          <a:lstStyle/>
          <a:p>
            <a:pPr algn="l">
              <a:lnSpc>
                <a:spcPct val="100000"/>
              </a:lnSpc>
              <a:spcAft>
                <a:spcPts val="0"/>
              </a:spcAft>
            </a:pPr>
            <a:r>
              <a:rPr sz="1200" i="0" b="1">
                <a:solidFill>
                  <a:srgbClr val="0B2A4A"/>
                </a:solidFill>
                <a:latin typeface="Arial"/>
              </a:rPr>
              <a:t>Similarweb agrees: top traffic channel (Aug 2026)</a:t>
            </a:r>
          </a:p>
        </p:txBody>
      </p:sp>
      <p:sp>
        <p:nvSpPr>
          <p:cNvPr id="73" name="TextBox 72"/>
          <p:cNvSpPr txBox="1"/>
          <p:nvPr/>
        </p:nvSpPr>
        <p:spPr>
          <a:xfrm>
            <a:off x="8750808" y="2423160"/>
            <a:ext cx="1097280" cy="274320"/>
          </a:xfrm>
          <a:prstGeom prst="rect">
            <a:avLst/>
          </a:prstGeom>
          <a:noFill/>
        </p:spPr>
        <p:txBody>
          <a:bodyPr wrap="square" lIns="0" rIns="0" tIns="0" bIns="0" anchor="t">
            <a:noAutofit/>
          </a:bodyPr>
          <a:lstStyle/>
          <a:p>
            <a:pPr algn="l">
              <a:lnSpc>
                <a:spcPct val="110000"/>
              </a:lnSpc>
              <a:spcAft>
                <a:spcPts val="0"/>
              </a:spcAft>
            </a:pPr>
            <a:r>
              <a:rPr sz="1150" i="0" b="1">
                <a:solidFill>
                  <a:srgbClr val="9A7152"/>
                </a:solidFill>
                <a:latin typeface="Arial"/>
              </a:rPr>
              <a:t>Saatva</a:t>
            </a:r>
          </a:p>
        </p:txBody>
      </p:sp>
      <p:sp>
        <p:nvSpPr>
          <p:cNvPr id="74" name="Rounded Rectangle 73"/>
          <p:cNvSpPr/>
          <p:nvPr/>
        </p:nvSpPr>
        <p:spPr>
          <a:xfrm>
            <a:off x="9848088" y="2414016"/>
            <a:ext cx="1051560" cy="237744"/>
          </a:xfrm>
          <a:prstGeom prst="roundRect">
            <a:avLst>
              <a:gd name="adj" fmla="val 50000"/>
            </a:avLst>
          </a:prstGeom>
          <a:solidFill>
            <a:srgbClr val="EAF2FE"/>
          </a:solidFill>
          <a:ln>
            <a:noFill/>
          </a:ln>
        </p:spPr>
        <p:txBody>
          <a:bodyPr rtlCol="0" anchor="ctr" wrap="square" lIns="27432" rIns="27432" tIns="18288" bIns="18288">
            <a:noAutofit/>
          </a:bodyPr>
          <a:lstStyle/>
          <a:p>
            <a:pPr algn="ctr">
              <a:lnSpc>
                <a:spcPct val="110000"/>
              </a:lnSpc>
              <a:spcAft>
                <a:spcPts val="0"/>
              </a:spcAft>
            </a:pPr>
            <a:r>
              <a:rPr sz="900" i="0" b="1">
                <a:solidFill>
                  <a:srgbClr val="006BA1"/>
                </a:solidFill>
                <a:latin typeface="Arial"/>
              </a:rPr>
              <a:t>Affiliate</a:t>
            </a:r>
          </a:p>
        </p:txBody>
      </p:sp>
      <p:sp>
        <p:nvSpPr>
          <p:cNvPr id="75" name="TextBox 74"/>
          <p:cNvSpPr txBox="1"/>
          <p:nvPr/>
        </p:nvSpPr>
        <p:spPr>
          <a:xfrm>
            <a:off x="10945367" y="2423160"/>
            <a:ext cx="512064" cy="274320"/>
          </a:xfrm>
          <a:prstGeom prst="rect">
            <a:avLst/>
          </a:prstGeom>
          <a:noFill/>
        </p:spPr>
        <p:txBody>
          <a:bodyPr wrap="square" lIns="0" rIns="0" tIns="0" bIns="0" anchor="t">
            <a:noAutofit/>
          </a:bodyPr>
          <a:lstStyle/>
          <a:p>
            <a:pPr algn="r">
              <a:lnSpc>
                <a:spcPct val="110000"/>
              </a:lnSpc>
              <a:spcAft>
                <a:spcPts val="0"/>
              </a:spcAft>
            </a:pPr>
            <a:r>
              <a:rPr sz="1150" i="0" b="0">
                <a:solidFill>
                  <a:srgbClr val="1E2833"/>
                </a:solidFill>
                <a:latin typeface="Arial"/>
              </a:rPr>
              <a:t>23.7%</a:t>
            </a:r>
          </a:p>
        </p:txBody>
      </p:sp>
      <p:sp>
        <p:nvSpPr>
          <p:cNvPr id="76" name="TextBox 75"/>
          <p:cNvSpPr txBox="1"/>
          <p:nvPr/>
        </p:nvSpPr>
        <p:spPr>
          <a:xfrm>
            <a:off x="8750808" y="2880360"/>
            <a:ext cx="1097280" cy="27432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Helix</a:t>
            </a:r>
          </a:p>
        </p:txBody>
      </p:sp>
      <p:sp>
        <p:nvSpPr>
          <p:cNvPr id="77" name="Rounded Rectangle 76"/>
          <p:cNvSpPr/>
          <p:nvPr/>
        </p:nvSpPr>
        <p:spPr>
          <a:xfrm>
            <a:off x="9848088" y="2871216"/>
            <a:ext cx="1051560" cy="237744"/>
          </a:xfrm>
          <a:prstGeom prst="roundRect">
            <a:avLst>
              <a:gd name="adj" fmla="val 50000"/>
            </a:avLst>
          </a:prstGeom>
          <a:solidFill>
            <a:srgbClr val="EAF2FE"/>
          </a:solidFill>
          <a:ln>
            <a:noFill/>
          </a:ln>
        </p:spPr>
        <p:txBody>
          <a:bodyPr rtlCol="0" anchor="ctr" wrap="square" lIns="27432" rIns="27432" tIns="18288" bIns="18288">
            <a:noAutofit/>
          </a:bodyPr>
          <a:lstStyle/>
          <a:p>
            <a:pPr algn="ctr">
              <a:lnSpc>
                <a:spcPct val="110000"/>
              </a:lnSpc>
              <a:spcAft>
                <a:spcPts val="0"/>
              </a:spcAft>
            </a:pPr>
            <a:r>
              <a:rPr sz="900" i="0" b="1">
                <a:solidFill>
                  <a:srgbClr val="006BA1"/>
                </a:solidFill>
                <a:latin typeface="Arial"/>
              </a:rPr>
              <a:t>Affiliate</a:t>
            </a:r>
          </a:p>
        </p:txBody>
      </p:sp>
      <p:sp>
        <p:nvSpPr>
          <p:cNvPr id="78" name="TextBox 77"/>
          <p:cNvSpPr txBox="1"/>
          <p:nvPr/>
        </p:nvSpPr>
        <p:spPr>
          <a:xfrm>
            <a:off x="10945367" y="2880360"/>
            <a:ext cx="512064" cy="274320"/>
          </a:xfrm>
          <a:prstGeom prst="rect">
            <a:avLst/>
          </a:prstGeom>
          <a:noFill/>
        </p:spPr>
        <p:txBody>
          <a:bodyPr wrap="square" lIns="0" rIns="0" tIns="0" bIns="0" anchor="t">
            <a:noAutofit/>
          </a:bodyPr>
          <a:lstStyle/>
          <a:p>
            <a:pPr algn="r">
              <a:lnSpc>
                <a:spcPct val="110000"/>
              </a:lnSpc>
              <a:spcAft>
                <a:spcPts val="0"/>
              </a:spcAft>
            </a:pPr>
            <a:r>
              <a:rPr sz="1150" i="0" b="0">
                <a:solidFill>
                  <a:srgbClr val="1E2833"/>
                </a:solidFill>
                <a:latin typeface="Arial"/>
              </a:rPr>
              <a:t>21.0%</a:t>
            </a:r>
          </a:p>
        </p:txBody>
      </p:sp>
      <p:sp>
        <p:nvSpPr>
          <p:cNvPr id="79" name="TextBox 78"/>
          <p:cNvSpPr txBox="1"/>
          <p:nvPr/>
        </p:nvSpPr>
        <p:spPr>
          <a:xfrm>
            <a:off x="8750808" y="3337560"/>
            <a:ext cx="1097280" cy="27432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Nectar</a:t>
            </a:r>
          </a:p>
        </p:txBody>
      </p:sp>
      <p:sp>
        <p:nvSpPr>
          <p:cNvPr id="80" name="Rounded Rectangle 79"/>
          <p:cNvSpPr/>
          <p:nvPr/>
        </p:nvSpPr>
        <p:spPr>
          <a:xfrm>
            <a:off x="9848088" y="3328416"/>
            <a:ext cx="1051560" cy="237744"/>
          </a:xfrm>
          <a:prstGeom prst="roundRect">
            <a:avLst>
              <a:gd name="adj" fmla="val 50000"/>
            </a:avLst>
          </a:prstGeom>
          <a:solidFill>
            <a:srgbClr val="F3F6F9"/>
          </a:solidFill>
          <a:ln>
            <a:noFill/>
          </a:ln>
        </p:spPr>
        <p:txBody>
          <a:bodyPr rtlCol="0" anchor="ctr" wrap="square" lIns="27432" rIns="27432" tIns="18288" bIns="18288">
            <a:noAutofit/>
          </a:bodyPr>
          <a:lstStyle/>
          <a:p>
            <a:pPr algn="ctr">
              <a:lnSpc>
                <a:spcPct val="110000"/>
              </a:lnSpc>
              <a:spcAft>
                <a:spcPts val="0"/>
              </a:spcAft>
            </a:pPr>
            <a:r>
              <a:rPr sz="900" i="0" b="1">
                <a:solidFill>
                  <a:srgbClr val="6F8196"/>
                </a:solidFill>
                <a:latin typeface="Arial"/>
              </a:rPr>
              <a:t>Paid search</a:t>
            </a:r>
          </a:p>
        </p:txBody>
      </p:sp>
      <p:sp>
        <p:nvSpPr>
          <p:cNvPr id="81" name="Rounded Rectangle 80"/>
          <p:cNvSpPr/>
          <p:nvPr/>
        </p:nvSpPr>
        <p:spPr>
          <a:xfrm>
            <a:off x="9848088" y="3328416"/>
            <a:ext cx="1051560" cy="237744"/>
          </a:xfrm>
          <a:prstGeom prst="roundRect">
            <a:avLst>
              <a:gd name="adj" fmla="val 50000"/>
            </a:avLst>
          </a:prstGeom>
          <a:noFill/>
          <a:ln w="9525">
            <a:solidFill>
              <a:srgbClr val="AEBBC8"/>
            </a:solidFill>
          </a:ln>
        </p:spPr>
        <p:txBody>
          <a:bodyPr rtlCol="0" anchor="ctr"/>
          <a:lstStyle/>
          <a:p>
            <a:pPr algn="ctr"/>
          </a:p>
        </p:txBody>
      </p:sp>
      <p:sp>
        <p:nvSpPr>
          <p:cNvPr id="82" name="TextBox 81"/>
          <p:cNvSpPr txBox="1"/>
          <p:nvPr/>
        </p:nvSpPr>
        <p:spPr>
          <a:xfrm>
            <a:off x="10945367" y="3337560"/>
            <a:ext cx="512064" cy="274320"/>
          </a:xfrm>
          <a:prstGeom prst="rect">
            <a:avLst/>
          </a:prstGeom>
          <a:noFill/>
        </p:spPr>
        <p:txBody>
          <a:bodyPr wrap="square" lIns="0" rIns="0" tIns="0" bIns="0" anchor="t">
            <a:noAutofit/>
          </a:bodyPr>
          <a:lstStyle/>
          <a:p>
            <a:pPr algn="r">
              <a:lnSpc>
                <a:spcPct val="110000"/>
              </a:lnSpc>
              <a:spcAft>
                <a:spcPts val="0"/>
              </a:spcAft>
            </a:pPr>
          </a:p>
        </p:txBody>
      </p:sp>
      <p:sp>
        <p:nvSpPr>
          <p:cNvPr id="83" name="TextBox 82"/>
          <p:cNvSpPr txBox="1"/>
          <p:nvPr/>
        </p:nvSpPr>
        <p:spPr>
          <a:xfrm>
            <a:off x="8750808" y="3794760"/>
            <a:ext cx="1097280" cy="27432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DreamCloud</a:t>
            </a:r>
          </a:p>
        </p:txBody>
      </p:sp>
      <p:sp>
        <p:nvSpPr>
          <p:cNvPr id="84" name="Rounded Rectangle 83"/>
          <p:cNvSpPr/>
          <p:nvPr/>
        </p:nvSpPr>
        <p:spPr>
          <a:xfrm>
            <a:off x="9848088" y="3785616"/>
            <a:ext cx="1051560" cy="237744"/>
          </a:xfrm>
          <a:prstGeom prst="roundRect">
            <a:avLst>
              <a:gd name="adj" fmla="val 50000"/>
            </a:avLst>
          </a:prstGeom>
          <a:solidFill>
            <a:srgbClr val="F3F6F9"/>
          </a:solidFill>
          <a:ln>
            <a:noFill/>
          </a:ln>
        </p:spPr>
        <p:txBody>
          <a:bodyPr rtlCol="0" anchor="ctr" wrap="square" lIns="27432" rIns="27432" tIns="18288" bIns="18288">
            <a:noAutofit/>
          </a:bodyPr>
          <a:lstStyle/>
          <a:p>
            <a:pPr algn="ctr">
              <a:lnSpc>
                <a:spcPct val="110000"/>
              </a:lnSpc>
              <a:spcAft>
                <a:spcPts val="0"/>
              </a:spcAft>
            </a:pPr>
            <a:r>
              <a:rPr sz="900" i="0" b="1">
                <a:solidFill>
                  <a:srgbClr val="6F8196"/>
                </a:solidFill>
                <a:latin typeface="Arial"/>
              </a:rPr>
              <a:t>Paid search</a:t>
            </a:r>
          </a:p>
        </p:txBody>
      </p:sp>
      <p:sp>
        <p:nvSpPr>
          <p:cNvPr id="85" name="Rounded Rectangle 84"/>
          <p:cNvSpPr/>
          <p:nvPr/>
        </p:nvSpPr>
        <p:spPr>
          <a:xfrm>
            <a:off x="9848088" y="3785616"/>
            <a:ext cx="1051560" cy="237744"/>
          </a:xfrm>
          <a:prstGeom prst="roundRect">
            <a:avLst>
              <a:gd name="adj" fmla="val 50000"/>
            </a:avLst>
          </a:prstGeom>
          <a:noFill/>
          <a:ln w="9525">
            <a:solidFill>
              <a:srgbClr val="AEBBC8"/>
            </a:solidFill>
          </a:ln>
        </p:spPr>
        <p:txBody>
          <a:bodyPr rtlCol="0" anchor="ctr"/>
          <a:lstStyle/>
          <a:p>
            <a:pPr algn="ctr"/>
          </a:p>
        </p:txBody>
      </p:sp>
      <p:sp>
        <p:nvSpPr>
          <p:cNvPr id="86" name="TextBox 85"/>
          <p:cNvSpPr txBox="1"/>
          <p:nvPr/>
        </p:nvSpPr>
        <p:spPr>
          <a:xfrm>
            <a:off x="10945367" y="3794760"/>
            <a:ext cx="512064" cy="274320"/>
          </a:xfrm>
          <a:prstGeom prst="rect">
            <a:avLst/>
          </a:prstGeom>
          <a:noFill/>
        </p:spPr>
        <p:txBody>
          <a:bodyPr wrap="square" lIns="0" rIns="0" tIns="0" bIns="0" anchor="t">
            <a:noAutofit/>
          </a:bodyPr>
          <a:lstStyle/>
          <a:p>
            <a:pPr algn="r">
              <a:lnSpc>
                <a:spcPct val="110000"/>
              </a:lnSpc>
              <a:spcAft>
                <a:spcPts val="0"/>
              </a:spcAft>
            </a:pPr>
          </a:p>
        </p:txBody>
      </p:sp>
      <p:sp>
        <p:nvSpPr>
          <p:cNvPr id="87" name="Rectangle 86"/>
          <p:cNvSpPr/>
          <p:nvPr/>
        </p:nvSpPr>
        <p:spPr>
          <a:xfrm>
            <a:off x="8549640" y="4617720"/>
            <a:ext cx="3093415" cy="1417320"/>
          </a:xfrm>
          <a:prstGeom prst="rect">
            <a:avLst/>
          </a:prstGeom>
          <a:solidFill>
            <a:srgbClr val="0B2A4A"/>
          </a:solidFill>
          <a:ln>
            <a:noFill/>
          </a:ln>
        </p:spPr>
        <p:txBody>
          <a:bodyPr rtlCol="0" anchor="ctr" wrap="square" lIns="201168" rIns="201168" tIns="18288" bIns="18288">
            <a:noAutofit/>
          </a:bodyPr>
          <a:lstStyle/>
          <a:p>
            <a:pPr algn="l">
              <a:lnSpc>
                <a:spcPct val="112000"/>
              </a:lnSpc>
              <a:spcAft>
                <a:spcPts val="0"/>
              </a:spcAft>
            </a:pPr>
            <a:r>
              <a:rPr sz="1250" i="0" b="0">
                <a:solidFill>
                  <a:srgbClr val="FFFFFF"/>
                </a:solidFill>
                <a:latin typeface="Arial"/>
              </a:rPr>
              <a:t>Affiliate is Saatva's competitive edge, so it is also where hijacked commissions cost Saatva the most.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RESULTS: PUBLISHERS</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Rivals reach shoppers through review and HSA/FSA partners not seen in Saatva's traffic</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8</a:t>
            </a:r>
          </a:p>
        </p:txBody>
      </p:sp>
      <p:sp>
        <p:nvSpPr>
          <p:cNvPr id="11" name="Rectangle 10"/>
          <p:cNvSpPr/>
          <p:nvPr/>
        </p:nvSpPr>
        <p:spPr>
          <a:xfrm>
            <a:off x="548640" y="1691640"/>
            <a:ext cx="5715000" cy="420624"/>
          </a:xfrm>
          <a:prstGeom prst="rect">
            <a:avLst/>
          </a:prstGeom>
          <a:solidFill>
            <a:srgbClr val="C19678"/>
          </a:solidFill>
          <a:ln>
            <a:noFill/>
          </a:ln>
        </p:spPr>
        <p:txBody>
          <a:bodyPr rtlCol="0" anchor="ctr" wrap="square" lIns="164592" rIns="164592" tIns="18288" bIns="18288">
            <a:noAutofit/>
          </a:bodyPr>
          <a:lstStyle/>
          <a:p>
            <a:pPr algn="l">
              <a:lnSpc>
                <a:spcPct val="110000"/>
              </a:lnSpc>
              <a:spcAft>
                <a:spcPts val="0"/>
              </a:spcAft>
            </a:pPr>
            <a:r>
              <a:rPr sz="1200" i="0" b="1">
                <a:solidFill>
                  <a:srgbClr val="FFFFFF"/>
                </a:solidFill>
                <a:latin typeface="Arial"/>
              </a:rPr>
              <a:t>Saatva: 6 affiliate clicks from 4 publishers (Partnerize)</a:t>
            </a:r>
          </a:p>
        </p:txBody>
      </p:sp>
      <p:sp>
        <p:nvSpPr>
          <p:cNvPr id="12" name="TextBox 11"/>
          <p:cNvSpPr txBox="1"/>
          <p:nvPr/>
        </p:nvSpPr>
        <p:spPr>
          <a:xfrm>
            <a:off x="713232" y="2240280"/>
            <a:ext cx="1828800" cy="201168"/>
          </a:xfrm>
          <a:prstGeom prst="rect">
            <a:avLst/>
          </a:prstGeom>
          <a:noFill/>
        </p:spPr>
        <p:txBody>
          <a:bodyPr wrap="square" lIns="0" rIns="0" tIns="0" bIns="0" anchor="t">
            <a:noAutofit/>
          </a:bodyPr>
          <a:lstStyle/>
          <a:p>
            <a:pPr algn="l">
              <a:lnSpc>
                <a:spcPct val="110000"/>
              </a:lnSpc>
              <a:spcAft>
                <a:spcPts val="0"/>
              </a:spcAft>
            </a:pPr>
            <a:r>
              <a:rPr sz="900" i="0" b="1">
                <a:solidFill>
                  <a:srgbClr val="647282"/>
                </a:solidFill>
                <a:latin typeface="Arial"/>
              </a:rPr>
              <a:t>Publisher id</a:t>
            </a:r>
          </a:p>
        </p:txBody>
      </p:sp>
      <p:sp>
        <p:nvSpPr>
          <p:cNvPr id="13" name="TextBox 12"/>
          <p:cNvSpPr txBox="1"/>
          <p:nvPr/>
        </p:nvSpPr>
        <p:spPr>
          <a:xfrm>
            <a:off x="4434840" y="2240280"/>
            <a:ext cx="457200" cy="201168"/>
          </a:xfrm>
          <a:prstGeom prst="rect">
            <a:avLst/>
          </a:prstGeom>
          <a:noFill/>
        </p:spPr>
        <p:txBody>
          <a:bodyPr wrap="square" lIns="0" rIns="0" tIns="0" bIns="0" anchor="t">
            <a:noAutofit/>
          </a:bodyPr>
          <a:lstStyle/>
          <a:p>
            <a:pPr algn="ctr">
              <a:lnSpc>
                <a:spcPct val="110000"/>
              </a:lnSpc>
              <a:spcAft>
                <a:spcPts val="0"/>
              </a:spcAft>
            </a:pPr>
            <a:r>
              <a:rPr sz="900" i="0" b="1">
                <a:solidFill>
                  <a:srgbClr val="647282"/>
                </a:solidFill>
                <a:latin typeface="Arial"/>
              </a:rPr>
              <a:t>Clicks</a:t>
            </a:r>
          </a:p>
        </p:txBody>
      </p:sp>
      <p:sp>
        <p:nvSpPr>
          <p:cNvPr id="14" name="TextBox 13"/>
          <p:cNvSpPr txBox="1"/>
          <p:nvPr/>
        </p:nvSpPr>
        <p:spPr>
          <a:xfrm>
            <a:off x="713232" y="2514600"/>
            <a:ext cx="3657600" cy="22860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mattressnrd</a:t>
            </a:r>
          </a:p>
        </p:txBody>
      </p:sp>
      <p:sp>
        <p:nvSpPr>
          <p:cNvPr id="15" name="TextBox 14"/>
          <p:cNvSpPr txBox="1"/>
          <p:nvPr/>
        </p:nvSpPr>
        <p:spPr>
          <a:xfrm>
            <a:off x="713232" y="2761488"/>
            <a:ext cx="365760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Likely Mattress Nerd, a review site</a:t>
            </a:r>
          </a:p>
        </p:txBody>
      </p:sp>
      <p:sp>
        <p:nvSpPr>
          <p:cNvPr id="16" name="TextBox 15"/>
          <p:cNvSpPr txBox="1"/>
          <p:nvPr/>
        </p:nvSpPr>
        <p:spPr>
          <a:xfrm>
            <a:off x="4434840" y="2606040"/>
            <a:ext cx="457200" cy="274320"/>
          </a:xfrm>
          <a:prstGeom prst="rect">
            <a:avLst/>
          </a:prstGeom>
          <a:noFill/>
        </p:spPr>
        <p:txBody>
          <a:bodyPr wrap="square" lIns="0" rIns="0" tIns="0" bIns="0" anchor="t">
            <a:noAutofit/>
          </a:bodyPr>
          <a:lstStyle/>
          <a:p>
            <a:pPr algn="ctr">
              <a:lnSpc>
                <a:spcPct val="110000"/>
              </a:lnSpc>
              <a:spcAft>
                <a:spcPts val="0"/>
              </a:spcAft>
            </a:pPr>
            <a:r>
              <a:rPr sz="1400" i="0" b="1">
                <a:solidFill>
                  <a:srgbClr val="1E2833"/>
                </a:solidFill>
                <a:latin typeface="Arial"/>
              </a:rPr>
              <a:t>3</a:t>
            </a:r>
          </a:p>
        </p:txBody>
      </p:sp>
      <p:sp>
        <p:nvSpPr>
          <p:cNvPr id="17" name="Rounded Rectangle 16"/>
          <p:cNvSpPr/>
          <p:nvPr/>
        </p:nvSpPr>
        <p:spPr>
          <a:xfrm>
            <a:off x="4983479" y="2606040"/>
            <a:ext cx="1143000" cy="237744"/>
          </a:xfrm>
          <a:prstGeom prst="roundRect">
            <a:avLst>
              <a:gd name="adj" fmla="val 50000"/>
            </a:avLst>
          </a:prstGeom>
          <a:solidFill>
            <a:srgbClr val="EAF2FE"/>
          </a:solidFill>
          <a:ln>
            <a:noFill/>
          </a:ln>
        </p:spPr>
        <p:txBody>
          <a:bodyPr rtlCol="0" anchor="ctr" wrap="square" lIns="27432" rIns="27432" tIns="18288" bIns="18288">
            <a:noAutofit/>
          </a:bodyPr>
          <a:lstStyle/>
          <a:p>
            <a:pPr algn="ctr">
              <a:lnSpc>
                <a:spcPct val="110000"/>
              </a:lnSpc>
              <a:spcAft>
                <a:spcPts val="0"/>
              </a:spcAft>
            </a:pPr>
            <a:r>
              <a:rPr sz="900" i="0" b="1">
                <a:solidFill>
                  <a:srgbClr val="006BA1"/>
                </a:solidFill>
                <a:latin typeface="Arial"/>
              </a:rPr>
              <a:t>Content</a:t>
            </a:r>
          </a:p>
        </p:txBody>
      </p:sp>
      <p:cxnSp>
        <p:nvCxnSpPr>
          <p:cNvPr id="18" name="Connector 17"/>
          <p:cNvCxnSpPr/>
          <p:nvPr/>
        </p:nvCxnSpPr>
        <p:spPr>
          <a:xfrm>
            <a:off x="713232" y="3081528"/>
            <a:ext cx="5413247" cy="0"/>
          </a:xfrm>
          <a:prstGeom prst="line">
            <a:avLst/>
          </a:prstGeom>
          <a:ln w="6350">
            <a:solidFill>
              <a:srgbClr val="D6DDE5"/>
            </a:solidFill>
          </a:ln>
        </p:spPr>
      </p:cxnSp>
      <p:sp>
        <p:nvSpPr>
          <p:cNvPr id="19" name="TextBox 18"/>
          <p:cNvSpPr txBox="1"/>
          <p:nvPr/>
        </p:nvSpPr>
        <p:spPr>
          <a:xfrm>
            <a:off x="713232" y="3172968"/>
            <a:ext cx="3657600" cy="22860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trafficpoint12345</a:t>
            </a:r>
          </a:p>
        </p:txBody>
      </p:sp>
      <p:sp>
        <p:nvSpPr>
          <p:cNvPr id="20" name="TextBox 19"/>
          <p:cNvSpPr txBox="1"/>
          <p:nvPr/>
        </p:nvSpPr>
        <p:spPr>
          <a:xfrm>
            <a:off x="713232" y="3419856"/>
            <a:ext cx="365760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TrafficPoint: paid-search listicle, 6 brands in a minute</a:t>
            </a:r>
          </a:p>
        </p:txBody>
      </p:sp>
      <p:sp>
        <p:nvSpPr>
          <p:cNvPr id="21" name="TextBox 20"/>
          <p:cNvSpPr txBox="1"/>
          <p:nvPr/>
        </p:nvSpPr>
        <p:spPr>
          <a:xfrm>
            <a:off x="4434840" y="3264408"/>
            <a:ext cx="457200" cy="274320"/>
          </a:xfrm>
          <a:prstGeom prst="rect">
            <a:avLst/>
          </a:prstGeom>
          <a:noFill/>
        </p:spPr>
        <p:txBody>
          <a:bodyPr wrap="square" lIns="0" rIns="0" tIns="0" bIns="0" anchor="t">
            <a:noAutofit/>
          </a:bodyPr>
          <a:lstStyle/>
          <a:p>
            <a:pPr algn="ctr">
              <a:lnSpc>
                <a:spcPct val="110000"/>
              </a:lnSpc>
              <a:spcAft>
                <a:spcPts val="0"/>
              </a:spcAft>
            </a:pPr>
            <a:r>
              <a:rPr sz="1400" i="0" b="1">
                <a:solidFill>
                  <a:srgbClr val="1E2833"/>
                </a:solidFill>
                <a:latin typeface="Arial"/>
              </a:rPr>
              <a:t>1</a:t>
            </a:r>
          </a:p>
        </p:txBody>
      </p:sp>
      <p:sp>
        <p:nvSpPr>
          <p:cNvPr id="22" name="Rounded Rectangle 21"/>
          <p:cNvSpPr/>
          <p:nvPr/>
        </p:nvSpPr>
        <p:spPr>
          <a:xfrm>
            <a:off x="4983479" y="3264408"/>
            <a:ext cx="1143000" cy="237744"/>
          </a:xfrm>
          <a:prstGeom prst="roundRect">
            <a:avLst>
              <a:gd name="adj" fmla="val 50000"/>
            </a:avLst>
          </a:prstGeom>
          <a:solidFill>
            <a:srgbClr val="F3F6F9"/>
          </a:solidFill>
          <a:ln>
            <a:noFill/>
          </a:ln>
        </p:spPr>
        <p:txBody>
          <a:bodyPr rtlCol="0" anchor="ctr" wrap="square" lIns="27432" rIns="27432" tIns="18288" bIns="18288">
            <a:noAutofit/>
          </a:bodyPr>
          <a:lstStyle/>
          <a:p>
            <a:pPr algn="ctr">
              <a:lnSpc>
                <a:spcPct val="110000"/>
              </a:lnSpc>
              <a:spcAft>
                <a:spcPts val="0"/>
              </a:spcAft>
            </a:pPr>
            <a:r>
              <a:rPr sz="900" i="0" b="1">
                <a:solidFill>
                  <a:srgbClr val="6F8196"/>
                </a:solidFill>
                <a:latin typeface="Arial"/>
              </a:rPr>
              <a:t>Review</a:t>
            </a:r>
          </a:p>
        </p:txBody>
      </p:sp>
      <p:cxnSp>
        <p:nvCxnSpPr>
          <p:cNvPr id="23" name="Connector 22"/>
          <p:cNvCxnSpPr/>
          <p:nvPr/>
        </p:nvCxnSpPr>
        <p:spPr>
          <a:xfrm>
            <a:off x="713232" y="3739896"/>
            <a:ext cx="5413247" cy="0"/>
          </a:xfrm>
          <a:prstGeom prst="line">
            <a:avLst/>
          </a:prstGeom>
          <a:ln w="6350">
            <a:solidFill>
              <a:srgbClr val="D6DDE5"/>
            </a:solidFill>
          </a:ln>
        </p:spPr>
      </p:cxnSp>
      <p:sp>
        <p:nvSpPr>
          <p:cNvPr id="24" name="TextBox 23"/>
          <p:cNvSpPr txBox="1"/>
          <p:nvPr/>
        </p:nvSpPr>
        <p:spPr>
          <a:xfrm>
            <a:off x="713232" y="3831335"/>
            <a:ext cx="3657600" cy="22860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brandxemail</a:t>
            </a:r>
          </a:p>
        </p:txBody>
      </p:sp>
      <p:sp>
        <p:nvSpPr>
          <p:cNvPr id="25" name="TextBox 24"/>
          <p:cNvSpPr txBox="1"/>
          <p:nvPr/>
        </p:nvSpPr>
        <p:spPr>
          <a:xfrm>
            <a:off x="713232" y="4078223"/>
            <a:ext cx="365760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Listed as email; the click came from a Google ad</a:t>
            </a:r>
          </a:p>
        </p:txBody>
      </p:sp>
      <p:sp>
        <p:nvSpPr>
          <p:cNvPr id="26" name="TextBox 25"/>
          <p:cNvSpPr txBox="1"/>
          <p:nvPr/>
        </p:nvSpPr>
        <p:spPr>
          <a:xfrm>
            <a:off x="4434840" y="3922775"/>
            <a:ext cx="457200" cy="274320"/>
          </a:xfrm>
          <a:prstGeom prst="rect">
            <a:avLst/>
          </a:prstGeom>
          <a:noFill/>
        </p:spPr>
        <p:txBody>
          <a:bodyPr wrap="square" lIns="0" rIns="0" tIns="0" bIns="0" anchor="t">
            <a:noAutofit/>
          </a:bodyPr>
          <a:lstStyle/>
          <a:p>
            <a:pPr algn="ctr">
              <a:lnSpc>
                <a:spcPct val="110000"/>
              </a:lnSpc>
              <a:spcAft>
                <a:spcPts val="0"/>
              </a:spcAft>
            </a:pPr>
            <a:r>
              <a:rPr sz="1400" i="0" b="1">
                <a:solidFill>
                  <a:srgbClr val="1E2833"/>
                </a:solidFill>
                <a:latin typeface="Arial"/>
              </a:rPr>
              <a:t>1</a:t>
            </a:r>
          </a:p>
        </p:txBody>
      </p:sp>
      <p:sp>
        <p:nvSpPr>
          <p:cNvPr id="27" name="Rounded Rectangle 26"/>
          <p:cNvSpPr/>
          <p:nvPr/>
        </p:nvSpPr>
        <p:spPr>
          <a:xfrm>
            <a:off x="4983479" y="3922775"/>
            <a:ext cx="1143000" cy="237744"/>
          </a:xfrm>
          <a:prstGeom prst="roundRect">
            <a:avLst>
              <a:gd name="adj" fmla="val 50000"/>
            </a:avLst>
          </a:prstGeom>
          <a:solidFill>
            <a:srgbClr val="FFF1E5"/>
          </a:solidFill>
          <a:ln>
            <a:noFill/>
          </a:ln>
        </p:spPr>
        <p:txBody>
          <a:bodyPr rtlCol="0" anchor="ctr" wrap="square" lIns="27432" rIns="27432" tIns="18288" bIns="18288">
            <a:noAutofit/>
          </a:bodyPr>
          <a:lstStyle/>
          <a:p>
            <a:pPr algn="ctr">
              <a:lnSpc>
                <a:spcPct val="110000"/>
              </a:lnSpc>
              <a:spcAft>
                <a:spcPts val="0"/>
              </a:spcAft>
            </a:pPr>
            <a:r>
              <a:rPr sz="900" i="0" b="1">
                <a:solidFill>
                  <a:srgbClr val="C9620E"/>
                </a:solidFill>
                <a:latin typeface="Arial"/>
              </a:rPr>
              <a:t>Policy check</a:t>
            </a:r>
          </a:p>
        </p:txBody>
      </p:sp>
      <p:cxnSp>
        <p:nvCxnSpPr>
          <p:cNvPr id="28" name="Connector 27"/>
          <p:cNvCxnSpPr/>
          <p:nvPr/>
        </p:nvCxnSpPr>
        <p:spPr>
          <a:xfrm>
            <a:off x="713232" y="4398264"/>
            <a:ext cx="5413247" cy="0"/>
          </a:xfrm>
          <a:prstGeom prst="line">
            <a:avLst/>
          </a:prstGeom>
          <a:ln w="6350">
            <a:solidFill>
              <a:srgbClr val="D6DDE5"/>
            </a:solidFill>
          </a:ln>
        </p:spPr>
      </p:cxnSp>
      <p:sp>
        <p:nvSpPr>
          <p:cNvPr id="29" name="TextBox 28"/>
          <p:cNvSpPr txBox="1"/>
          <p:nvPr/>
        </p:nvSpPr>
        <p:spPr>
          <a:xfrm>
            <a:off x="713232" y="4489704"/>
            <a:ext cx="3657600" cy="22860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camref:1011laqH9</a:t>
            </a:r>
          </a:p>
        </p:txBody>
      </p:sp>
      <p:sp>
        <p:nvSpPr>
          <p:cNvPr id="30" name="TextBox 29"/>
          <p:cNvSpPr txBox="1"/>
          <p:nvPr/>
        </p:nvSpPr>
        <p:spPr>
          <a:xfrm>
            <a:off x="713232" y="4736592"/>
            <a:ext cx="365760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Unknown; fired by a "new tab" browser extension</a:t>
            </a:r>
          </a:p>
        </p:txBody>
      </p:sp>
      <p:sp>
        <p:nvSpPr>
          <p:cNvPr id="31" name="TextBox 30"/>
          <p:cNvSpPr txBox="1"/>
          <p:nvPr/>
        </p:nvSpPr>
        <p:spPr>
          <a:xfrm>
            <a:off x="4434840" y="4581144"/>
            <a:ext cx="457200" cy="274320"/>
          </a:xfrm>
          <a:prstGeom prst="rect">
            <a:avLst/>
          </a:prstGeom>
          <a:noFill/>
        </p:spPr>
        <p:txBody>
          <a:bodyPr wrap="square" lIns="0" rIns="0" tIns="0" bIns="0" anchor="t">
            <a:noAutofit/>
          </a:bodyPr>
          <a:lstStyle/>
          <a:p>
            <a:pPr algn="ctr">
              <a:lnSpc>
                <a:spcPct val="110000"/>
              </a:lnSpc>
              <a:spcAft>
                <a:spcPts val="0"/>
              </a:spcAft>
            </a:pPr>
            <a:r>
              <a:rPr sz="1400" i="0" b="1">
                <a:solidFill>
                  <a:srgbClr val="1E2833"/>
                </a:solidFill>
                <a:latin typeface="Arial"/>
              </a:rPr>
              <a:t>1</a:t>
            </a:r>
          </a:p>
        </p:txBody>
      </p:sp>
      <p:sp>
        <p:nvSpPr>
          <p:cNvPr id="32" name="Rounded Rectangle 31"/>
          <p:cNvSpPr/>
          <p:nvPr/>
        </p:nvSpPr>
        <p:spPr>
          <a:xfrm>
            <a:off x="4983479" y="4581144"/>
            <a:ext cx="1143000" cy="237744"/>
          </a:xfrm>
          <a:prstGeom prst="roundRect">
            <a:avLst>
              <a:gd name="adj" fmla="val 50000"/>
            </a:avLst>
          </a:prstGeom>
          <a:solidFill>
            <a:srgbClr val="FF9438"/>
          </a:solidFill>
          <a:ln>
            <a:noFill/>
          </a:ln>
        </p:spPr>
        <p:txBody>
          <a:bodyPr rtlCol="0" anchor="ctr" wrap="square" lIns="27432" rIns="27432" tIns="18288" bIns="18288">
            <a:noAutofit/>
          </a:bodyPr>
          <a:lstStyle/>
          <a:p>
            <a:pPr algn="ctr">
              <a:lnSpc>
                <a:spcPct val="110000"/>
              </a:lnSpc>
              <a:spcAft>
                <a:spcPts val="0"/>
              </a:spcAft>
            </a:pPr>
            <a:r>
              <a:rPr sz="900" i="0" b="1">
                <a:solidFill>
                  <a:srgbClr val="FFFFFF"/>
                </a:solidFill>
                <a:latin typeface="Arial"/>
              </a:rPr>
              <a:t>Cookie stuffing</a:t>
            </a:r>
          </a:p>
        </p:txBody>
      </p:sp>
      <p:cxnSp>
        <p:nvCxnSpPr>
          <p:cNvPr id="33" name="Connector 32"/>
          <p:cNvCxnSpPr/>
          <p:nvPr/>
        </p:nvCxnSpPr>
        <p:spPr>
          <a:xfrm>
            <a:off x="713232" y="5056632"/>
            <a:ext cx="5413247" cy="0"/>
          </a:xfrm>
          <a:prstGeom prst="line">
            <a:avLst/>
          </a:prstGeom>
          <a:ln w="6350">
            <a:solidFill>
              <a:srgbClr val="D6DDE5"/>
            </a:solidFill>
          </a:ln>
        </p:spPr>
      </p:cxnSp>
      <p:sp>
        <p:nvSpPr>
          <p:cNvPr id="34" name="Rectangle 33"/>
          <p:cNvSpPr/>
          <p:nvPr/>
        </p:nvSpPr>
        <p:spPr>
          <a:xfrm>
            <a:off x="6583679" y="1691640"/>
            <a:ext cx="5059375" cy="420624"/>
          </a:xfrm>
          <a:prstGeom prst="rect">
            <a:avLst/>
          </a:prstGeom>
          <a:solidFill>
            <a:srgbClr val="0B2A4A"/>
          </a:solidFill>
          <a:ln>
            <a:noFill/>
          </a:ln>
        </p:spPr>
        <p:txBody>
          <a:bodyPr rtlCol="0" anchor="ctr" wrap="square" lIns="164592" rIns="164592" tIns="18288" bIns="18288">
            <a:noAutofit/>
          </a:bodyPr>
          <a:lstStyle/>
          <a:p>
            <a:pPr algn="l">
              <a:lnSpc>
                <a:spcPct val="110000"/>
              </a:lnSpc>
              <a:spcAft>
                <a:spcPts val="0"/>
              </a:spcAft>
            </a:pPr>
            <a:r>
              <a:rPr sz="1200" i="0" b="1">
                <a:solidFill>
                  <a:srgbClr val="FFFFFF"/>
                </a:solidFill>
                <a:latin typeface="Arial"/>
              </a:rPr>
              <a:t>Rivals' partners not seen in Saatva's traffic</a:t>
            </a:r>
          </a:p>
        </p:txBody>
      </p:sp>
      <p:sp>
        <p:nvSpPr>
          <p:cNvPr id="35" name="TextBox 34"/>
          <p:cNvSpPr txBox="1"/>
          <p:nvPr/>
        </p:nvSpPr>
        <p:spPr>
          <a:xfrm>
            <a:off x="6748271" y="2240280"/>
            <a:ext cx="1371600" cy="201168"/>
          </a:xfrm>
          <a:prstGeom prst="rect">
            <a:avLst/>
          </a:prstGeom>
          <a:noFill/>
        </p:spPr>
        <p:txBody>
          <a:bodyPr wrap="square" lIns="0" rIns="0" tIns="0" bIns="0" anchor="t">
            <a:noAutofit/>
          </a:bodyPr>
          <a:lstStyle/>
          <a:p>
            <a:pPr algn="l">
              <a:lnSpc>
                <a:spcPct val="110000"/>
              </a:lnSpc>
              <a:spcAft>
                <a:spcPts val="0"/>
              </a:spcAft>
            </a:pPr>
            <a:r>
              <a:rPr sz="900" i="0" b="1">
                <a:solidFill>
                  <a:srgbClr val="647282"/>
                </a:solidFill>
                <a:latin typeface="Arial"/>
              </a:rPr>
              <a:t>Brand</a:t>
            </a:r>
          </a:p>
        </p:txBody>
      </p:sp>
      <p:sp>
        <p:nvSpPr>
          <p:cNvPr id="36" name="TextBox 35"/>
          <p:cNvSpPr txBox="1"/>
          <p:nvPr/>
        </p:nvSpPr>
        <p:spPr>
          <a:xfrm>
            <a:off x="7955279" y="2240280"/>
            <a:ext cx="3200400" cy="201168"/>
          </a:xfrm>
          <a:prstGeom prst="rect">
            <a:avLst/>
          </a:prstGeom>
          <a:noFill/>
        </p:spPr>
        <p:txBody>
          <a:bodyPr wrap="square" lIns="0" rIns="0" tIns="0" bIns="0" anchor="t">
            <a:noAutofit/>
          </a:bodyPr>
          <a:lstStyle/>
          <a:p>
            <a:pPr algn="l">
              <a:lnSpc>
                <a:spcPct val="110000"/>
              </a:lnSpc>
              <a:spcAft>
                <a:spcPts val="0"/>
              </a:spcAft>
            </a:pPr>
            <a:r>
              <a:rPr sz="900" i="0" b="1">
                <a:solidFill>
                  <a:srgbClr val="647282"/>
                </a:solidFill>
                <a:latin typeface="Arial"/>
              </a:rPr>
              <a:t>Partner sending the click</a:t>
            </a:r>
          </a:p>
        </p:txBody>
      </p:sp>
      <p:sp>
        <p:nvSpPr>
          <p:cNvPr id="37" name="TextBox 36"/>
          <p:cNvSpPr txBox="1"/>
          <p:nvPr/>
        </p:nvSpPr>
        <p:spPr>
          <a:xfrm>
            <a:off x="6748271" y="2606040"/>
            <a:ext cx="1188720" cy="27432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Helix</a:t>
            </a:r>
          </a:p>
        </p:txBody>
      </p:sp>
      <p:sp>
        <p:nvSpPr>
          <p:cNvPr id="38" name="TextBox 37"/>
          <p:cNvSpPr txBox="1"/>
          <p:nvPr/>
        </p:nvSpPr>
        <p:spPr>
          <a:xfrm>
            <a:off x="7955279" y="2514600"/>
            <a:ext cx="3550615" cy="22860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mattressclarity.com</a:t>
            </a:r>
          </a:p>
        </p:txBody>
      </p:sp>
      <p:sp>
        <p:nvSpPr>
          <p:cNvPr id="39" name="TextBox 38"/>
          <p:cNvSpPr txBox="1"/>
          <p:nvPr/>
        </p:nvSpPr>
        <p:spPr>
          <a:xfrm>
            <a:off x="7955279" y="2761488"/>
            <a:ext cx="3550615"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Review site</a:t>
            </a:r>
          </a:p>
        </p:txBody>
      </p:sp>
      <p:cxnSp>
        <p:nvCxnSpPr>
          <p:cNvPr id="40" name="Connector 39"/>
          <p:cNvCxnSpPr/>
          <p:nvPr/>
        </p:nvCxnSpPr>
        <p:spPr>
          <a:xfrm>
            <a:off x="6748271" y="3081528"/>
            <a:ext cx="4757624" cy="0"/>
          </a:xfrm>
          <a:prstGeom prst="line">
            <a:avLst/>
          </a:prstGeom>
          <a:ln w="6350">
            <a:solidFill>
              <a:srgbClr val="D6DDE5"/>
            </a:solidFill>
          </a:ln>
        </p:spPr>
      </p:cxnSp>
      <p:sp>
        <p:nvSpPr>
          <p:cNvPr id="41" name="TextBox 40"/>
          <p:cNvSpPr txBox="1"/>
          <p:nvPr/>
        </p:nvSpPr>
        <p:spPr>
          <a:xfrm>
            <a:off x="6748271" y="3264408"/>
            <a:ext cx="1188720" cy="27432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DreamCloud</a:t>
            </a:r>
          </a:p>
        </p:txBody>
      </p:sp>
      <p:sp>
        <p:nvSpPr>
          <p:cNvPr id="42" name="TextBox 41"/>
          <p:cNvSpPr txBox="1"/>
          <p:nvPr/>
        </p:nvSpPr>
        <p:spPr>
          <a:xfrm>
            <a:off x="7955279" y="3172968"/>
            <a:ext cx="3550615" cy="22860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WickFire (likely), via buyersguide.org</a:t>
            </a:r>
          </a:p>
        </p:txBody>
      </p:sp>
      <p:sp>
        <p:nvSpPr>
          <p:cNvPr id="43" name="TextBox 42"/>
          <p:cNvSpPr txBox="1"/>
          <p:nvPr/>
        </p:nvSpPr>
        <p:spPr>
          <a:xfrm>
            <a:off x="7955279" y="3419856"/>
            <a:ext cx="3550615"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Comparison / buyer's guide</a:t>
            </a:r>
          </a:p>
        </p:txBody>
      </p:sp>
      <p:cxnSp>
        <p:nvCxnSpPr>
          <p:cNvPr id="44" name="Connector 43"/>
          <p:cNvCxnSpPr/>
          <p:nvPr/>
        </p:nvCxnSpPr>
        <p:spPr>
          <a:xfrm>
            <a:off x="6748271" y="3739896"/>
            <a:ext cx="4757624" cy="0"/>
          </a:xfrm>
          <a:prstGeom prst="line">
            <a:avLst/>
          </a:prstGeom>
          <a:ln w="6350">
            <a:solidFill>
              <a:srgbClr val="D6DDE5"/>
            </a:solidFill>
          </a:ln>
        </p:spPr>
      </p:cxnSp>
      <p:sp>
        <p:nvSpPr>
          <p:cNvPr id="45" name="TextBox 44"/>
          <p:cNvSpPr txBox="1"/>
          <p:nvPr/>
        </p:nvSpPr>
        <p:spPr>
          <a:xfrm>
            <a:off x="6748271" y="3922775"/>
            <a:ext cx="1188720" cy="27432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Nectar</a:t>
            </a:r>
          </a:p>
        </p:txBody>
      </p:sp>
      <p:sp>
        <p:nvSpPr>
          <p:cNvPr id="46" name="TextBox 45"/>
          <p:cNvSpPr txBox="1"/>
          <p:nvPr/>
        </p:nvSpPr>
        <p:spPr>
          <a:xfrm>
            <a:off x="7955279" y="3831335"/>
            <a:ext cx="3550615" cy="228600"/>
          </a:xfrm>
          <a:prstGeom prst="rect">
            <a:avLst/>
          </a:prstGeom>
          <a:noFill/>
        </p:spPr>
        <p:txBody>
          <a:bodyPr wrap="square" lIns="0" rIns="0" tIns="0" bIns="0" anchor="t">
            <a:noAutofit/>
          </a:bodyPr>
          <a:lstStyle/>
          <a:p>
            <a:pPr algn="l">
              <a:lnSpc>
                <a:spcPct val="110000"/>
              </a:lnSpc>
              <a:spcAft>
                <a:spcPts val="0"/>
              </a:spcAft>
            </a:pPr>
            <a:r>
              <a:rPr sz="1150" i="0" b="1">
                <a:solidFill>
                  <a:srgbClr val="1E2833"/>
                </a:solidFill>
                <a:latin typeface="Arial"/>
              </a:rPr>
              <a:t>Truemed</a:t>
            </a:r>
          </a:p>
        </p:txBody>
      </p:sp>
      <p:sp>
        <p:nvSpPr>
          <p:cNvPr id="47" name="TextBox 46"/>
          <p:cNvSpPr txBox="1"/>
          <p:nvPr/>
        </p:nvSpPr>
        <p:spPr>
          <a:xfrm>
            <a:off x="7955279" y="4078223"/>
            <a:ext cx="3550615"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HSA/FSA payment: pay with pre-tax health funds</a:t>
            </a:r>
          </a:p>
        </p:txBody>
      </p:sp>
      <p:cxnSp>
        <p:nvCxnSpPr>
          <p:cNvPr id="48" name="Connector 47"/>
          <p:cNvCxnSpPr/>
          <p:nvPr/>
        </p:nvCxnSpPr>
        <p:spPr>
          <a:xfrm>
            <a:off x="6748271" y="4398264"/>
            <a:ext cx="4757624" cy="0"/>
          </a:xfrm>
          <a:prstGeom prst="line">
            <a:avLst/>
          </a:prstGeom>
          <a:ln w="6350">
            <a:solidFill>
              <a:srgbClr val="D6DDE5"/>
            </a:solidFill>
          </a:ln>
        </p:spPr>
      </p:cxnSp>
      <p:sp>
        <p:nvSpPr>
          <p:cNvPr id="49" name="TextBox 48"/>
          <p:cNvSpPr txBox="1"/>
          <p:nvPr/>
        </p:nvSpPr>
        <p:spPr>
          <a:xfrm>
            <a:off x="6748271" y="4526280"/>
            <a:ext cx="4785055" cy="457200"/>
          </a:xfrm>
          <a:prstGeom prst="rect">
            <a:avLst/>
          </a:prstGeom>
          <a:noFill/>
        </p:spPr>
        <p:txBody>
          <a:bodyPr wrap="square" lIns="0" rIns="0" tIns="0" bIns="0" anchor="t">
            <a:noAutofit/>
          </a:bodyPr>
          <a:lstStyle/>
          <a:p>
            <a:pPr algn="l">
              <a:lnSpc>
                <a:spcPct val="110000"/>
              </a:lnSpc>
              <a:spcAft>
                <a:spcPts val="0"/>
              </a:spcAft>
            </a:pPr>
            <a:r>
              <a:rPr sz="950" i="1" b="0">
                <a:solidFill>
                  <a:srgbClr val="647282"/>
                </a:solidFill>
                <a:latin typeface="Arial"/>
              </a:rPr>
              <a:t>Partner = the site the user was on just before the click.</a:t>
            </a:r>
          </a:p>
        </p:txBody>
      </p:sp>
      <p:sp>
        <p:nvSpPr>
          <p:cNvPr id="50" name="Rectangle 49"/>
          <p:cNvSpPr/>
          <p:nvPr/>
        </p:nvSpPr>
        <p:spPr>
          <a:xfrm>
            <a:off x="548640" y="5376672"/>
            <a:ext cx="11094415" cy="749808"/>
          </a:xfrm>
          <a:prstGeom prst="rect">
            <a:avLst/>
          </a:prstGeom>
          <a:solidFill>
            <a:srgbClr val="F6EFE8"/>
          </a:solidFill>
          <a:ln>
            <a:noFill/>
          </a:ln>
        </p:spPr>
        <p:txBody>
          <a:bodyPr rtlCol="0" anchor="ctr"/>
          <a:lstStyle/>
          <a:p>
            <a:pPr algn="ctr"/>
          </a:p>
        </p:txBody>
      </p:sp>
      <p:sp>
        <p:nvSpPr>
          <p:cNvPr id="51" name="Rectangle 50"/>
          <p:cNvSpPr/>
          <p:nvPr/>
        </p:nvSpPr>
        <p:spPr>
          <a:xfrm>
            <a:off x="548640" y="5376672"/>
            <a:ext cx="64008" cy="749808"/>
          </a:xfrm>
          <a:prstGeom prst="rect">
            <a:avLst/>
          </a:prstGeom>
          <a:solidFill>
            <a:srgbClr val="C19678"/>
          </a:solidFill>
          <a:ln>
            <a:noFill/>
          </a:ln>
        </p:spPr>
        <p:txBody>
          <a:bodyPr rtlCol="0" anchor="ctr"/>
          <a:lstStyle/>
          <a:p>
            <a:pPr algn="ctr"/>
          </a:p>
        </p:txBody>
      </p:sp>
      <p:sp>
        <p:nvSpPr>
          <p:cNvPr id="52" name="TextBox 51"/>
          <p:cNvSpPr txBox="1"/>
          <p:nvPr/>
        </p:nvSpPr>
        <p:spPr>
          <a:xfrm>
            <a:off x="777240" y="5468112"/>
            <a:ext cx="10682935" cy="594360"/>
          </a:xfrm>
          <a:prstGeom prst="rect">
            <a:avLst/>
          </a:prstGeom>
          <a:noFill/>
        </p:spPr>
        <p:txBody>
          <a:bodyPr wrap="square" lIns="0" rIns="0" tIns="0" bIns="0" anchor="t">
            <a:noAutofit/>
          </a:bodyPr>
          <a:lstStyle/>
          <a:p>
            <a:pPr algn="l">
              <a:lnSpc>
                <a:spcPct val="110000"/>
              </a:lnSpc>
              <a:spcAft>
                <a:spcPts val="0"/>
              </a:spcAft>
            </a:pPr>
            <a:r>
              <a:rPr sz="1100" i="0" b="1">
                <a:solidFill>
                  <a:srgbClr val="9A7152"/>
                </a:solidFill>
                <a:latin typeface="Arial"/>
              </a:rPr>
              <a:t>Coupons:</a:t>
            </a:r>
            <a:r>
              <a:rPr sz="1100" i="0" b="0">
                <a:solidFill>
                  <a:srgbClr val="1E2833"/>
                </a:solidFill>
                <a:latin typeface="Arial"/>
              </a:rPr>
              <a:t> every Saatva affiliate landing auto-applied a coupon, and Mattress Nerd and TrafficPoint used the same code. A shared code can't identify the publisher, and a leaked code earns commission anywhere.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RECOMMENDATIONS: GROWTH</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Grow where competitors already win, and pay for the assist, not the last touch</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9</a:t>
            </a:r>
          </a:p>
        </p:txBody>
      </p:sp>
      <p:sp>
        <p:nvSpPr>
          <p:cNvPr id="11" name="Oval 10"/>
          <p:cNvSpPr/>
          <p:nvPr/>
        </p:nvSpPr>
        <p:spPr>
          <a:xfrm>
            <a:off x="548640" y="1746504"/>
            <a:ext cx="420624" cy="420624"/>
          </a:xfrm>
          <a:prstGeom prst="ellipse">
            <a:avLst/>
          </a:prstGeom>
          <a:solidFill>
            <a:srgbClr val="C19678"/>
          </a:solidFill>
          <a:ln>
            <a:noFill/>
          </a:ln>
        </p:spPr>
        <p:txBody>
          <a:bodyPr rtlCol="0" anchor="ctr" wrap="square" lIns="0" rIns="0" tIns="18288" bIns="18288">
            <a:noAutofit/>
          </a:bodyPr>
          <a:lstStyle/>
          <a:p>
            <a:pPr algn="ctr">
              <a:lnSpc>
                <a:spcPct val="110000"/>
              </a:lnSpc>
              <a:spcAft>
                <a:spcPts val="0"/>
              </a:spcAft>
            </a:pPr>
            <a:r>
              <a:rPr sz="1400" i="0" b="1">
                <a:solidFill>
                  <a:srgbClr val="FFFFFF"/>
                </a:solidFill>
                <a:latin typeface="Arial"/>
              </a:rPr>
              <a:t>1</a:t>
            </a:r>
          </a:p>
        </p:txBody>
      </p:sp>
      <p:sp>
        <p:nvSpPr>
          <p:cNvPr id="12" name="TextBox 11"/>
          <p:cNvSpPr txBox="1"/>
          <p:nvPr/>
        </p:nvSpPr>
        <p:spPr>
          <a:xfrm>
            <a:off x="1188719" y="1709928"/>
            <a:ext cx="5760720" cy="274320"/>
          </a:xfrm>
          <a:prstGeom prst="rect">
            <a:avLst/>
          </a:prstGeom>
          <a:noFill/>
        </p:spPr>
        <p:txBody>
          <a:bodyPr wrap="square" lIns="0" rIns="0" tIns="0" bIns="0" anchor="t">
            <a:noAutofit/>
          </a:bodyPr>
          <a:lstStyle/>
          <a:p>
            <a:pPr algn="l">
              <a:lnSpc>
                <a:spcPct val="110000"/>
              </a:lnSpc>
              <a:spcAft>
                <a:spcPts val="0"/>
              </a:spcAft>
            </a:pPr>
            <a:r>
              <a:rPr sz="1300" i="0" b="1">
                <a:solidFill>
                  <a:srgbClr val="0B2A4A"/>
                </a:solidFill>
                <a:latin typeface="Arial"/>
              </a:rPr>
              <a:t>Recruit review, comparison and HSA/FSA partners</a:t>
            </a:r>
          </a:p>
        </p:txBody>
      </p:sp>
      <p:sp>
        <p:nvSpPr>
          <p:cNvPr id="13" name="TextBox 12"/>
          <p:cNvSpPr txBox="1"/>
          <p:nvPr/>
        </p:nvSpPr>
        <p:spPr>
          <a:xfrm>
            <a:off x="1188719" y="2002536"/>
            <a:ext cx="5760720" cy="502920"/>
          </a:xfrm>
          <a:prstGeom prst="rect">
            <a:avLst/>
          </a:prstGeom>
          <a:noFill/>
        </p:spPr>
        <p:txBody>
          <a:bodyPr wrap="square" lIns="0" rIns="0" tIns="0" bIns="0" anchor="t">
            <a:noAutofit/>
          </a:bodyPr>
          <a:lstStyle/>
          <a:p>
            <a:pPr algn="l">
              <a:lnSpc>
                <a:spcPct val="106000"/>
              </a:lnSpc>
              <a:spcAft>
                <a:spcPts val="0"/>
              </a:spcAft>
            </a:pPr>
            <a:r>
              <a:rPr sz="1050" i="0" b="0">
                <a:solidFill>
                  <a:srgbClr val="1E2833"/>
                </a:solidFill>
                <a:latin typeface="Arial"/>
              </a:rPr>
              <a:t>Start with partners rivals already use: review sites (Mattress Clarity), buyer's guides (buyersguide.org) and HSA/FSA payment (Truemed).</a:t>
            </a:r>
          </a:p>
        </p:txBody>
      </p:sp>
      <p:sp>
        <p:nvSpPr>
          <p:cNvPr id="14" name="Rectangle 13"/>
          <p:cNvSpPr/>
          <p:nvPr/>
        </p:nvSpPr>
        <p:spPr>
          <a:xfrm>
            <a:off x="7086600" y="1709928"/>
            <a:ext cx="4556455" cy="768096"/>
          </a:xfrm>
          <a:prstGeom prst="rect">
            <a:avLst/>
          </a:prstGeom>
          <a:solidFill>
            <a:srgbClr val="F3F6F9"/>
          </a:solidFill>
          <a:ln>
            <a:noFill/>
          </a:ln>
        </p:spPr>
        <p:txBody>
          <a:bodyPr rtlCol="0" anchor="ctr"/>
          <a:lstStyle/>
          <a:p>
            <a:pPr algn="ctr"/>
          </a:p>
        </p:txBody>
      </p:sp>
      <p:sp>
        <p:nvSpPr>
          <p:cNvPr id="15" name="TextBox 14"/>
          <p:cNvSpPr txBox="1"/>
          <p:nvPr/>
        </p:nvSpPr>
        <p:spPr>
          <a:xfrm>
            <a:off x="7242048" y="1783080"/>
            <a:ext cx="4263847" cy="640080"/>
          </a:xfrm>
          <a:prstGeom prst="rect">
            <a:avLst/>
          </a:prstGeom>
          <a:noFill/>
        </p:spPr>
        <p:txBody>
          <a:bodyPr wrap="square" lIns="0" rIns="0" tIns="0" bIns="0" anchor="t">
            <a:noAutofit/>
          </a:bodyPr>
          <a:lstStyle/>
          <a:p>
            <a:pPr algn="l">
              <a:lnSpc>
                <a:spcPct val="105000"/>
              </a:lnSpc>
              <a:spcAft>
                <a:spcPts val="200"/>
              </a:spcAft>
            </a:pPr>
            <a:r>
              <a:rPr sz="800" i="0" b="1" spc="100">
                <a:solidFill>
                  <a:srgbClr val="647282"/>
                </a:solidFill>
                <a:latin typeface="Arial"/>
              </a:rPr>
              <a:t>EVIDENCE</a:t>
            </a:r>
          </a:p>
          <a:p>
            <a:pPr algn="l">
              <a:lnSpc>
                <a:spcPct val="105000"/>
              </a:lnSpc>
              <a:spcAft>
                <a:spcPts val="0"/>
              </a:spcAft>
            </a:pPr>
            <a:r>
              <a:rPr sz="1000" i="0" b="0">
                <a:solidFill>
                  <a:srgbClr val="1E2833"/>
                </a:solidFill>
                <a:latin typeface="Arial"/>
              </a:rPr>
              <a:t>Each sent shoppers to Helix, DreamCloud or Nectar; none appeared in Saatva's traffic.</a:t>
            </a:r>
          </a:p>
        </p:txBody>
      </p:sp>
      <p:cxnSp>
        <p:nvCxnSpPr>
          <p:cNvPr id="16" name="Connector 15"/>
          <p:cNvCxnSpPr/>
          <p:nvPr/>
        </p:nvCxnSpPr>
        <p:spPr>
          <a:xfrm>
            <a:off x="1188719" y="2532888"/>
            <a:ext cx="5715001" cy="0"/>
          </a:xfrm>
          <a:prstGeom prst="line">
            <a:avLst/>
          </a:prstGeom>
          <a:ln w="6350">
            <a:solidFill>
              <a:srgbClr val="D6DDE5"/>
            </a:solidFill>
          </a:ln>
        </p:spPr>
      </p:cxnSp>
      <p:sp>
        <p:nvSpPr>
          <p:cNvPr id="17" name="Oval 16"/>
          <p:cNvSpPr/>
          <p:nvPr/>
        </p:nvSpPr>
        <p:spPr>
          <a:xfrm>
            <a:off x="548640" y="2642616"/>
            <a:ext cx="420624" cy="420624"/>
          </a:xfrm>
          <a:prstGeom prst="ellipse">
            <a:avLst/>
          </a:prstGeom>
          <a:solidFill>
            <a:srgbClr val="C19678"/>
          </a:solidFill>
          <a:ln>
            <a:noFill/>
          </a:ln>
        </p:spPr>
        <p:txBody>
          <a:bodyPr rtlCol="0" anchor="ctr" wrap="square" lIns="0" rIns="0" tIns="18288" bIns="18288">
            <a:noAutofit/>
          </a:bodyPr>
          <a:lstStyle/>
          <a:p>
            <a:pPr algn="ctr">
              <a:lnSpc>
                <a:spcPct val="110000"/>
              </a:lnSpc>
              <a:spcAft>
                <a:spcPts val="0"/>
              </a:spcAft>
            </a:pPr>
            <a:r>
              <a:rPr sz="1400" i="0" b="1">
                <a:solidFill>
                  <a:srgbClr val="FFFFFF"/>
                </a:solidFill>
                <a:latin typeface="Arial"/>
              </a:rPr>
              <a:t>2</a:t>
            </a:r>
          </a:p>
        </p:txBody>
      </p:sp>
      <p:sp>
        <p:nvSpPr>
          <p:cNvPr id="18" name="TextBox 17"/>
          <p:cNvSpPr txBox="1"/>
          <p:nvPr/>
        </p:nvSpPr>
        <p:spPr>
          <a:xfrm>
            <a:off x="1188719" y="2606040"/>
            <a:ext cx="5760720" cy="274320"/>
          </a:xfrm>
          <a:prstGeom prst="rect">
            <a:avLst/>
          </a:prstGeom>
          <a:noFill/>
        </p:spPr>
        <p:txBody>
          <a:bodyPr wrap="square" lIns="0" rIns="0" tIns="0" bIns="0" anchor="t">
            <a:noAutofit/>
          </a:bodyPr>
          <a:lstStyle/>
          <a:p>
            <a:pPr algn="l">
              <a:lnSpc>
                <a:spcPct val="110000"/>
              </a:lnSpc>
              <a:spcAft>
                <a:spcPts val="0"/>
              </a:spcAft>
            </a:pPr>
            <a:r>
              <a:rPr sz="1300" i="0" b="1">
                <a:solidFill>
                  <a:srgbClr val="0B2A4A"/>
                </a:solidFill>
                <a:latin typeface="Arial"/>
              </a:rPr>
              <a:t>Give every publisher its own coupon code</a:t>
            </a:r>
          </a:p>
        </p:txBody>
      </p:sp>
      <p:sp>
        <p:nvSpPr>
          <p:cNvPr id="19" name="TextBox 18"/>
          <p:cNvSpPr txBox="1"/>
          <p:nvPr/>
        </p:nvSpPr>
        <p:spPr>
          <a:xfrm>
            <a:off x="1188719" y="2898648"/>
            <a:ext cx="5760720" cy="502920"/>
          </a:xfrm>
          <a:prstGeom prst="rect">
            <a:avLst/>
          </a:prstGeom>
          <a:noFill/>
        </p:spPr>
        <p:txBody>
          <a:bodyPr wrap="square" lIns="0" rIns="0" tIns="0" bIns="0" anchor="t">
            <a:noAutofit/>
          </a:bodyPr>
          <a:lstStyle/>
          <a:p>
            <a:pPr algn="l">
              <a:lnSpc>
                <a:spcPct val="106000"/>
              </a:lnSpc>
              <a:spcAft>
                <a:spcPts val="0"/>
              </a:spcAft>
            </a:pPr>
            <a:r>
              <a:rPr sz="1050" i="0" b="0">
                <a:solidFill>
                  <a:srgbClr val="1E2833"/>
                </a:solidFill>
                <a:latin typeface="Arial"/>
              </a:rPr>
              <a:t>Unique codes show which partner drove the sale, and stop leaked codes from earning commission elsewhere.</a:t>
            </a:r>
          </a:p>
        </p:txBody>
      </p:sp>
      <p:sp>
        <p:nvSpPr>
          <p:cNvPr id="20" name="Rectangle 19"/>
          <p:cNvSpPr/>
          <p:nvPr/>
        </p:nvSpPr>
        <p:spPr>
          <a:xfrm>
            <a:off x="7086600" y="2606040"/>
            <a:ext cx="4556455" cy="768096"/>
          </a:xfrm>
          <a:prstGeom prst="rect">
            <a:avLst/>
          </a:prstGeom>
          <a:solidFill>
            <a:srgbClr val="F3F6F9"/>
          </a:solidFill>
          <a:ln>
            <a:noFill/>
          </a:ln>
        </p:spPr>
        <p:txBody>
          <a:bodyPr rtlCol="0" anchor="ctr"/>
          <a:lstStyle/>
          <a:p>
            <a:pPr algn="ctr"/>
          </a:p>
        </p:txBody>
      </p:sp>
      <p:sp>
        <p:nvSpPr>
          <p:cNvPr id="21" name="TextBox 20"/>
          <p:cNvSpPr txBox="1"/>
          <p:nvPr/>
        </p:nvSpPr>
        <p:spPr>
          <a:xfrm>
            <a:off x="7242048" y="2679192"/>
            <a:ext cx="4263847" cy="640080"/>
          </a:xfrm>
          <a:prstGeom prst="rect">
            <a:avLst/>
          </a:prstGeom>
          <a:noFill/>
        </p:spPr>
        <p:txBody>
          <a:bodyPr wrap="square" lIns="0" rIns="0" tIns="0" bIns="0" anchor="t">
            <a:noAutofit/>
          </a:bodyPr>
          <a:lstStyle/>
          <a:p>
            <a:pPr algn="l">
              <a:lnSpc>
                <a:spcPct val="105000"/>
              </a:lnSpc>
              <a:spcAft>
                <a:spcPts val="200"/>
              </a:spcAft>
            </a:pPr>
            <a:r>
              <a:rPr sz="800" i="0" b="1" spc="100">
                <a:solidFill>
                  <a:srgbClr val="647282"/>
                </a:solidFill>
                <a:latin typeface="Arial"/>
              </a:rPr>
              <a:t>EVIDENCE</a:t>
            </a:r>
          </a:p>
          <a:p>
            <a:pPr algn="l">
              <a:lnSpc>
                <a:spcPct val="105000"/>
              </a:lnSpc>
              <a:spcAft>
                <a:spcPts val="0"/>
              </a:spcAft>
            </a:pPr>
            <a:r>
              <a:rPr sz="1000" i="0" b="0">
                <a:solidFill>
                  <a:srgbClr val="1E2833"/>
                </a:solidFill>
                <a:latin typeface="Arial"/>
              </a:rPr>
              <a:t>Mattress Nerd and TrafficPoint landings auto-applied the same code.</a:t>
            </a:r>
          </a:p>
        </p:txBody>
      </p:sp>
      <p:cxnSp>
        <p:nvCxnSpPr>
          <p:cNvPr id="22" name="Connector 21"/>
          <p:cNvCxnSpPr/>
          <p:nvPr/>
        </p:nvCxnSpPr>
        <p:spPr>
          <a:xfrm>
            <a:off x="1188719" y="3429000"/>
            <a:ext cx="5715001" cy="0"/>
          </a:xfrm>
          <a:prstGeom prst="line">
            <a:avLst/>
          </a:prstGeom>
          <a:ln w="6350">
            <a:solidFill>
              <a:srgbClr val="D6DDE5"/>
            </a:solidFill>
          </a:ln>
        </p:spPr>
      </p:cxnSp>
      <p:sp>
        <p:nvSpPr>
          <p:cNvPr id="23" name="Oval 22"/>
          <p:cNvSpPr/>
          <p:nvPr/>
        </p:nvSpPr>
        <p:spPr>
          <a:xfrm>
            <a:off x="548640" y="3538728"/>
            <a:ext cx="420624" cy="420624"/>
          </a:xfrm>
          <a:prstGeom prst="ellipse">
            <a:avLst/>
          </a:prstGeom>
          <a:solidFill>
            <a:srgbClr val="C19678"/>
          </a:solidFill>
          <a:ln>
            <a:noFill/>
          </a:ln>
        </p:spPr>
        <p:txBody>
          <a:bodyPr rtlCol="0" anchor="ctr" wrap="square" lIns="0" rIns="0" tIns="18288" bIns="18288">
            <a:noAutofit/>
          </a:bodyPr>
          <a:lstStyle/>
          <a:p>
            <a:pPr algn="ctr">
              <a:lnSpc>
                <a:spcPct val="110000"/>
              </a:lnSpc>
              <a:spcAft>
                <a:spcPts val="0"/>
              </a:spcAft>
            </a:pPr>
            <a:r>
              <a:rPr sz="1400" i="0" b="1">
                <a:solidFill>
                  <a:srgbClr val="FFFFFF"/>
                </a:solidFill>
                <a:latin typeface="Arial"/>
              </a:rPr>
              <a:t>3</a:t>
            </a:r>
          </a:p>
        </p:txBody>
      </p:sp>
      <p:sp>
        <p:nvSpPr>
          <p:cNvPr id="24" name="TextBox 23"/>
          <p:cNvSpPr txBox="1"/>
          <p:nvPr/>
        </p:nvSpPr>
        <p:spPr>
          <a:xfrm>
            <a:off x="1188719" y="3502152"/>
            <a:ext cx="5760720" cy="274320"/>
          </a:xfrm>
          <a:prstGeom prst="rect">
            <a:avLst/>
          </a:prstGeom>
          <a:noFill/>
        </p:spPr>
        <p:txBody>
          <a:bodyPr wrap="square" lIns="0" rIns="0" tIns="0" bIns="0" anchor="t">
            <a:noAutofit/>
          </a:bodyPr>
          <a:lstStyle/>
          <a:p>
            <a:pPr algn="l">
              <a:lnSpc>
                <a:spcPct val="110000"/>
              </a:lnSpc>
              <a:spcAft>
                <a:spcPts val="0"/>
              </a:spcAft>
            </a:pPr>
            <a:r>
              <a:rPr sz="1300" i="0" b="1">
                <a:solidFill>
                  <a:srgbClr val="0B2A4A"/>
                </a:solidFill>
                <a:latin typeface="Arial"/>
              </a:rPr>
              <a:t>Tier commissions by the value of the click</a:t>
            </a:r>
          </a:p>
        </p:txBody>
      </p:sp>
      <p:sp>
        <p:nvSpPr>
          <p:cNvPr id="25" name="TextBox 24"/>
          <p:cNvSpPr txBox="1"/>
          <p:nvPr/>
        </p:nvSpPr>
        <p:spPr>
          <a:xfrm>
            <a:off x="1188719" y="3794760"/>
            <a:ext cx="5760720" cy="502920"/>
          </a:xfrm>
          <a:prstGeom prst="rect">
            <a:avLst/>
          </a:prstGeom>
          <a:noFill/>
        </p:spPr>
        <p:txBody>
          <a:bodyPr wrap="square" lIns="0" rIns="0" tIns="0" bIns="0" anchor="t">
            <a:noAutofit/>
          </a:bodyPr>
          <a:lstStyle/>
          <a:p>
            <a:pPr algn="l">
              <a:lnSpc>
                <a:spcPct val="106000"/>
              </a:lnSpc>
              <a:spcAft>
                <a:spcPts val="0"/>
              </a:spcAft>
            </a:pPr>
            <a:r>
              <a:rPr sz="1050" i="0" b="0">
                <a:solidFill>
                  <a:srgbClr val="1E2833"/>
                </a:solidFill>
                <a:latin typeface="Arial"/>
              </a:rPr>
              <a:t>Pay more for content and new customers; pay less for coupon and cash-back clicks, and for clicks after a cart exists.</a:t>
            </a:r>
          </a:p>
        </p:txBody>
      </p:sp>
      <p:sp>
        <p:nvSpPr>
          <p:cNvPr id="26" name="Rectangle 25"/>
          <p:cNvSpPr/>
          <p:nvPr/>
        </p:nvSpPr>
        <p:spPr>
          <a:xfrm>
            <a:off x="7086600" y="3502152"/>
            <a:ext cx="4556455" cy="768096"/>
          </a:xfrm>
          <a:prstGeom prst="rect">
            <a:avLst/>
          </a:prstGeom>
          <a:solidFill>
            <a:srgbClr val="F3F6F9"/>
          </a:solidFill>
          <a:ln>
            <a:noFill/>
          </a:ln>
        </p:spPr>
        <p:txBody>
          <a:bodyPr rtlCol="0" anchor="ctr"/>
          <a:lstStyle/>
          <a:p>
            <a:pPr algn="ctr"/>
          </a:p>
        </p:txBody>
      </p:sp>
      <p:sp>
        <p:nvSpPr>
          <p:cNvPr id="27" name="TextBox 26"/>
          <p:cNvSpPr txBox="1"/>
          <p:nvPr/>
        </p:nvSpPr>
        <p:spPr>
          <a:xfrm>
            <a:off x="7242048" y="3575304"/>
            <a:ext cx="4263847" cy="640080"/>
          </a:xfrm>
          <a:prstGeom prst="rect">
            <a:avLst/>
          </a:prstGeom>
          <a:noFill/>
        </p:spPr>
        <p:txBody>
          <a:bodyPr wrap="square" lIns="0" rIns="0" tIns="0" bIns="0" anchor="t">
            <a:noAutofit/>
          </a:bodyPr>
          <a:lstStyle/>
          <a:p>
            <a:pPr algn="l">
              <a:lnSpc>
                <a:spcPct val="105000"/>
              </a:lnSpc>
              <a:spcAft>
                <a:spcPts val="200"/>
              </a:spcAft>
            </a:pPr>
            <a:r>
              <a:rPr sz="800" i="0" b="1" spc="100">
                <a:solidFill>
                  <a:srgbClr val="647282"/>
                </a:solidFill>
                <a:latin typeface="Arial"/>
              </a:rPr>
              <a:t>EVIDENCE</a:t>
            </a:r>
          </a:p>
          <a:p>
            <a:pPr algn="l">
              <a:lnSpc>
                <a:spcPct val="105000"/>
              </a:lnSpc>
              <a:spcAft>
                <a:spcPts val="0"/>
              </a:spcAft>
            </a:pPr>
            <a:r>
              <a:rPr sz="1000" i="0" b="0">
                <a:solidFill>
                  <a:srgbClr val="1E2833"/>
                </a:solidFill>
                <a:latin typeface="Arial"/>
              </a:rPr>
              <a:t>At Walmart, clicks after the cart convert at 13% vs 0.4%: they close sales already under way.</a:t>
            </a:r>
          </a:p>
        </p:txBody>
      </p:sp>
      <p:cxnSp>
        <p:nvCxnSpPr>
          <p:cNvPr id="28" name="Connector 27"/>
          <p:cNvCxnSpPr/>
          <p:nvPr/>
        </p:nvCxnSpPr>
        <p:spPr>
          <a:xfrm>
            <a:off x="1188719" y="4325112"/>
            <a:ext cx="5715001" cy="0"/>
          </a:xfrm>
          <a:prstGeom prst="line">
            <a:avLst/>
          </a:prstGeom>
          <a:ln w="6350">
            <a:solidFill>
              <a:srgbClr val="D6DDE5"/>
            </a:solidFill>
          </a:ln>
        </p:spPr>
      </p:cxnSp>
      <p:sp>
        <p:nvSpPr>
          <p:cNvPr id="29" name="Oval 28"/>
          <p:cNvSpPr/>
          <p:nvPr/>
        </p:nvSpPr>
        <p:spPr>
          <a:xfrm>
            <a:off x="548640" y="4434840"/>
            <a:ext cx="420624" cy="420624"/>
          </a:xfrm>
          <a:prstGeom prst="ellipse">
            <a:avLst/>
          </a:prstGeom>
          <a:solidFill>
            <a:srgbClr val="C19678"/>
          </a:solidFill>
          <a:ln>
            <a:noFill/>
          </a:ln>
        </p:spPr>
        <p:txBody>
          <a:bodyPr rtlCol="0" anchor="ctr" wrap="square" lIns="0" rIns="0" tIns="18288" bIns="18288">
            <a:noAutofit/>
          </a:bodyPr>
          <a:lstStyle/>
          <a:p>
            <a:pPr algn="ctr">
              <a:lnSpc>
                <a:spcPct val="110000"/>
              </a:lnSpc>
              <a:spcAft>
                <a:spcPts val="0"/>
              </a:spcAft>
            </a:pPr>
            <a:r>
              <a:rPr sz="1400" i="0" b="1">
                <a:solidFill>
                  <a:srgbClr val="FFFFFF"/>
                </a:solidFill>
                <a:latin typeface="Arial"/>
              </a:rPr>
              <a:t>4</a:t>
            </a:r>
          </a:p>
        </p:txBody>
      </p:sp>
      <p:sp>
        <p:nvSpPr>
          <p:cNvPr id="30" name="TextBox 29"/>
          <p:cNvSpPr txBox="1"/>
          <p:nvPr/>
        </p:nvSpPr>
        <p:spPr>
          <a:xfrm>
            <a:off x="1188719" y="4398264"/>
            <a:ext cx="5760720" cy="274320"/>
          </a:xfrm>
          <a:prstGeom prst="rect">
            <a:avLst/>
          </a:prstGeom>
          <a:noFill/>
        </p:spPr>
        <p:txBody>
          <a:bodyPr wrap="square" lIns="0" rIns="0" tIns="0" bIns="0" anchor="t">
            <a:noAutofit/>
          </a:bodyPr>
          <a:lstStyle/>
          <a:p>
            <a:pPr algn="l">
              <a:lnSpc>
                <a:spcPct val="110000"/>
              </a:lnSpc>
              <a:spcAft>
                <a:spcPts val="0"/>
              </a:spcAft>
            </a:pPr>
            <a:r>
              <a:rPr sz="1300" i="0" b="1">
                <a:solidFill>
                  <a:srgbClr val="0B2A4A"/>
                </a:solidFill>
                <a:latin typeface="Arial"/>
              </a:rPr>
              <a:t>Set a PPC policy and de-duplicate against paid search</a:t>
            </a:r>
          </a:p>
        </p:txBody>
      </p:sp>
      <p:sp>
        <p:nvSpPr>
          <p:cNvPr id="31" name="TextBox 30"/>
          <p:cNvSpPr txBox="1"/>
          <p:nvPr/>
        </p:nvSpPr>
        <p:spPr>
          <a:xfrm>
            <a:off x="1188719" y="4690872"/>
            <a:ext cx="5760720" cy="502920"/>
          </a:xfrm>
          <a:prstGeom prst="rect">
            <a:avLst/>
          </a:prstGeom>
          <a:noFill/>
        </p:spPr>
        <p:txBody>
          <a:bodyPr wrap="square" lIns="0" rIns="0" tIns="0" bIns="0" anchor="t">
            <a:noAutofit/>
          </a:bodyPr>
          <a:lstStyle/>
          <a:p>
            <a:pPr algn="l">
              <a:lnSpc>
                <a:spcPct val="106000"/>
              </a:lnSpc>
              <a:spcAft>
                <a:spcPts val="0"/>
              </a:spcAft>
            </a:pPr>
            <a:r>
              <a:rPr sz="1050" i="0" b="0">
                <a:solidFill>
                  <a:srgbClr val="1E2833"/>
                </a:solidFill>
                <a:latin typeface="Arial"/>
              </a:rPr>
              <a:t>Ban affiliate bidding on Saatva's brand terms, or allow it at a lower rate. Don't pay an affiliate and Google for the same order.</a:t>
            </a:r>
          </a:p>
        </p:txBody>
      </p:sp>
      <p:sp>
        <p:nvSpPr>
          <p:cNvPr id="32" name="Rectangle 31"/>
          <p:cNvSpPr/>
          <p:nvPr/>
        </p:nvSpPr>
        <p:spPr>
          <a:xfrm>
            <a:off x="7086600" y="4398264"/>
            <a:ext cx="4556455" cy="768096"/>
          </a:xfrm>
          <a:prstGeom prst="rect">
            <a:avLst/>
          </a:prstGeom>
          <a:solidFill>
            <a:srgbClr val="F3F6F9"/>
          </a:solidFill>
          <a:ln>
            <a:noFill/>
          </a:ln>
        </p:spPr>
        <p:txBody>
          <a:bodyPr rtlCol="0" anchor="ctr"/>
          <a:lstStyle/>
          <a:p>
            <a:pPr algn="ctr"/>
          </a:p>
        </p:txBody>
      </p:sp>
      <p:sp>
        <p:nvSpPr>
          <p:cNvPr id="33" name="TextBox 32"/>
          <p:cNvSpPr txBox="1"/>
          <p:nvPr/>
        </p:nvSpPr>
        <p:spPr>
          <a:xfrm>
            <a:off x="7242048" y="4471416"/>
            <a:ext cx="4263847" cy="640080"/>
          </a:xfrm>
          <a:prstGeom prst="rect">
            <a:avLst/>
          </a:prstGeom>
          <a:noFill/>
        </p:spPr>
        <p:txBody>
          <a:bodyPr wrap="square" lIns="0" rIns="0" tIns="0" bIns="0" anchor="t">
            <a:noAutofit/>
          </a:bodyPr>
          <a:lstStyle/>
          <a:p>
            <a:pPr algn="l">
              <a:lnSpc>
                <a:spcPct val="105000"/>
              </a:lnSpc>
              <a:spcAft>
                <a:spcPts val="200"/>
              </a:spcAft>
            </a:pPr>
            <a:r>
              <a:rPr sz="800" i="0" b="1" spc="100">
                <a:solidFill>
                  <a:srgbClr val="647282"/>
                </a:solidFill>
                <a:latin typeface="Arial"/>
              </a:rPr>
              <a:t>EVIDENCE</a:t>
            </a:r>
          </a:p>
          <a:p>
            <a:pPr algn="l">
              <a:lnSpc>
                <a:spcPct val="105000"/>
              </a:lnSpc>
              <a:spcAft>
                <a:spcPts val="0"/>
              </a:spcAft>
            </a:pPr>
            <a:r>
              <a:rPr sz="1000" i="0" b="0">
                <a:solidFill>
                  <a:srgbClr val="1E2833"/>
                </a:solidFill>
                <a:latin typeface="Arial"/>
              </a:rPr>
              <a:t>brandxemail's click came from a Google ad; a TrafficPoint user returned through a Shopping ad.</a:t>
            </a:r>
          </a:p>
        </p:txBody>
      </p:sp>
      <p:cxnSp>
        <p:nvCxnSpPr>
          <p:cNvPr id="34" name="Connector 33"/>
          <p:cNvCxnSpPr/>
          <p:nvPr/>
        </p:nvCxnSpPr>
        <p:spPr>
          <a:xfrm>
            <a:off x="1188719" y="5221224"/>
            <a:ext cx="5715001" cy="0"/>
          </a:xfrm>
          <a:prstGeom prst="line">
            <a:avLst/>
          </a:prstGeom>
          <a:ln w="6350">
            <a:solidFill>
              <a:srgbClr val="D6DDE5"/>
            </a:solidFill>
          </a:ln>
        </p:spPr>
      </p:cxnSp>
      <p:sp>
        <p:nvSpPr>
          <p:cNvPr id="35" name="Oval 34"/>
          <p:cNvSpPr/>
          <p:nvPr/>
        </p:nvSpPr>
        <p:spPr>
          <a:xfrm>
            <a:off x="548640" y="5330951"/>
            <a:ext cx="420624" cy="420624"/>
          </a:xfrm>
          <a:prstGeom prst="ellipse">
            <a:avLst/>
          </a:prstGeom>
          <a:solidFill>
            <a:srgbClr val="C19678"/>
          </a:solidFill>
          <a:ln>
            <a:noFill/>
          </a:ln>
        </p:spPr>
        <p:txBody>
          <a:bodyPr rtlCol="0" anchor="ctr" wrap="square" lIns="0" rIns="0" tIns="18288" bIns="18288">
            <a:noAutofit/>
          </a:bodyPr>
          <a:lstStyle/>
          <a:p>
            <a:pPr algn="ctr">
              <a:lnSpc>
                <a:spcPct val="110000"/>
              </a:lnSpc>
              <a:spcAft>
                <a:spcPts val="0"/>
              </a:spcAft>
            </a:pPr>
            <a:r>
              <a:rPr sz="1400" i="0" b="1">
                <a:solidFill>
                  <a:srgbClr val="FFFFFF"/>
                </a:solidFill>
                <a:latin typeface="Arial"/>
              </a:rPr>
              <a:t>5</a:t>
            </a:r>
          </a:p>
        </p:txBody>
      </p:sp>
      <p:sp>
        <p:nvSpPr>
          <p:cNvPr id="36" name="TextBox 35"/>
          <p:cNvSpPr txBox="1"/>
          <p:nvPr/>
        </p:nvSpPr>
        <p:spPr>
          <a:xfrm>
            <a:off x="1188719" y="5294375"/>
            <a:ext cx="5760720" cy="274320"/>
          </a:xfrm>
          <a:prstGeom prst="rect">
            <a:avLst/>
          </a:prstGeom>
          <a:noFill/>
        </p:spPr>
        <p:txBody>
          <a:bodyPr wrap="square" lIns="0" rIns="0" tIns="0" bIns="0" anchor="t">
            <a:noAutofit/>
          </a:bodyPr>
          <a:lstStyle/>
          <a:p>
            <a:pPr algn="l">
              <a:lnSpc>
                <a:spcPct val="110000"/>
              </a:lnSpc>
              <a:spcAft>
                <a:spcPts val="0"/>
              </a:spcAft>
            </a:pPr>
            <a:r>
              <a:rPr sz="1300" i="0" b="1">
                <a:solidFill>
                  <a:srgbClr val="0B2A4A"/>
                </a:solidFill>
                <a:latin typeface="Arial"/>
              </a:rPr>
              <a:t>Judge publishers on 30-day journeys and incrementality</a:t>
            </a:r>
          </a:p>
        </p:txBody>
      </p:sp>
      <p:sp>
        <p:nvSpPr>
          <p:cNvPr id="37" name="TextBox 36"/>
          <p:cNvSpPr txBox="1"/>
          <p:nvPr/>
        </p:nvSpPr>
        <p:spPr>
          <a:xfrm>
            <a:off x="1188719" y="5586983"/>
            <a:ext cx="5760720" cy="502920"/>
          </a:xfrm>
          <a:prstGeom prst="rect">
            <a:avLst/>
          </a:prstGeom>
          <a:noFill/>
        </p:spPr>
        <p:txBody>
          <a:bodyPr wrap="square" lIns="0" rIns="0" tIns="0" bIns="0" anchor="t">
            <a:noAutofit/>
          </a:bodyPr>
          <a:lstStyle/>
          <a:p>
            <a:pPr algn="l">
              <a:lnSpc>
                <a:spcPct val="106000"/>
              </a:lnSpc>
              <a:spcAft>
                <a:spcPts val="0"/>
              </a:spcAft>
            </a:pPr>
            <a:r>
              <a:rPr sz="1050" i="0" b="0">
                <a:solidFill>
                  <a:srgbClr val="1E2833"/>
                </a:solidFill>
                <a:latin typeface="Arial"/>
              </a:rPr>
              <a:t>Mattresses are a considered purchase: measure 30-day conversion per publisher, and run holdout tests.</a:t>
            </a:r>
          </a:p>
        </p:txBody>
      </p:sp>
      <p:sp>
        <p:nvSpPr>
          <p:cNvPr id="38" name="Rectangle 37"/>
          <p:cNvSpPr/>
          <p:nvPr/>
        </p:nvSpPr>
        <p:spPr>
          <a:xfrm>
            <a:off x="7086600" y="5294375"/>
            <a:ext cx="4556455" cy="768096"/>
          </a:xfrm>
          <a:prstGeom prst="rect">
            <a:avLst/>
          </a:prstGeom>
          <a:solidFill>
            <a:srgbClr val="F3F6F9"/>
          </a:solidFill>
          <a:ln>
            <a:noFill/>
          </a:ln>
        </p:spPr>
        <p:txBody>
          <a:bodyPr rtlCol="0" anchor="ctr"/>
          <a:lstStyle/>
          <a:p>
            <a:pPr algn="ctr"/>
          </a:p>
        </p:txBody>
      </p:sp>
      <p:sp>
        <p:nvSpPr>
          <p:cNvPr id="39" name="TextBox 38"/>
          <p:cNvSpPr txBox="1"/>
          <p:nvPr/>
        </p:nvSpPr>
        <p:spPr>
          <a:xfrm>
            <a:off x="7242048" y="5367527"/>
            <a:ext cx="4263847" cy="640080"/>
          </a:xfrm>
          <a:prstGeom prst="rect">
            <a:avLst/>
          </a:prstGeom>
          <a:noFill/>
        </p:spPr>
        <p:txBody>
          <a:bodyPr wrap="square" lIns="0" rIns="0" tIns="0" bIns="0" anchor="t">
            <a:noAutofit/>
          </a:bodyPr>
          <a:lstStyle/>
          <a:p>
            <a:pPr algn="l">
              <a:lnSpc>
                <a:spcPct val="105000"/>
              </a:lnSpc>
              <a:spcAft>
                <a:spcPts val="200"/>
              </a:spcAft>
            </a:pPr>
            <a:r>
              <a:rPr sz="800" i="0" b="1" spc="100">
                <a:solidFill>
                  <a:srgbClr val="647282"/>
                </a:solidFill>
                <a:latin typeface="Arial"/>
              </a:rPr>
              <a:t>EVIDENCE</a:t>
            </a:r>
          </a:p>
          <a:p>
            <a:pPr algn="l">
              <a:lnSpc>
                <a:spcPct val="105000"/>
              </a:lnSpc>
              <a:spcAft>
                <a:spcPts val="0"/>
              </a:spcAft>
            </a:pPr>
            <a:r>
              <a:rPr sz="1000" i="0" b="0">
                <a:solidFill>
                  <a:srgbClr val="1E2833"/>
                </a:solidFill>
                <a:latin typeface="Arial"/>
              </a:rPr>
              <a:t>No mattress order followed an affiliate click within the same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ATTRIBUTION HIJACKING: EVIDENCE</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At Walmart, the 13–23% of flagged clicks take 52–79% of affiliate-credited orders</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10</a:t>
            </a:r>
          </a:p>
        </p:txBody>
      </p:sp>
      <p:sp>
        <p:nvSpPr>
          <p:cNvPr id="11" name="TextBox 10"/>
          <p:cNvSpPr txBox="1"/>
          <p:nvPr/>
        </p:nvSpPr>
        <p:spPr>
          <a:xfrm>
            <a:off x="548640" y="1691640"/>
            <a:ext cx="6400800" cy="274320"/>
          </a:xfrm>
          <a:prstGeom prst="rect">
            <a:avLst/>
          </a:prstGeom>
          <a:noFill/>
        </p:spPr>
        <p:txBody>
          <a:bodyPr wrap="square" lIns="0" rIns="0" tIns="0" bIns="0" anchor="t">
            <a:noAutofit/>
          </a:bodyPr>
          <a:lstStyle/>
          <a:p>
            <a:pPr algn="l">
              <a:lnSpc>
                <a:spcPct val="110000"/>
              </a:lnSpc>
              <a:spcAft>
                <a:spcPts val="0"/>
              </a:spcAft>
            </a:pPr>
            <a:r>
              <a:rPr sz="1200" i="0" b="1">
                <a:solidFill>
                  <a:srgbClr val="0B2A4A"/>
                </a:solidFill>
                <a:latin typeface="Arial"/>
              </a:rPr>
              <a:t>Walmart, 6,449 affiliate clicks: share of clicks vs share of credited orders</a:t>
            </a:r>
          </a:p>
        </p:txBody>
      </p:sp>
      <p:sp>
        <p:nvSpPr>
          <p:cNvPr id="12" name="Rectangle 11"/>
          <p:cNvSpPr/>
          <p:nvPr/>
        </p:nvSpPr>
        <p:spPr>
          <a:xfrm>
            <a:off x="548640" y="2103120"/>
            <a:ext cx="146304" cy="146304"/>
          </a:xfrm>
          <a:prstGeom prst="rect">
            <a:avLst/>
          </a:prstGeom>
          <a:solidFill>
            <a:srgbClr val="B7C1CC"/>
          </a:solidFill>
          <a:ln>
            <a:noFill/>
          </a:ln>
        </p:spPr>
        <p:txBody>
          <a:bodyPr rtlCol="0" anchor="ctr"/>
          <a:lstStyle/>
          <a:p>
            <a:pPr algn="ctr"/>
          </a:p>
        </p:txBody>
      </p:sp>
      <p:sp>
        <p:nvSpPr>
          <p:cNvPr id="13" name="TextBox 12"/>
          <p:cNvSpPr txBox="1"/>
          <p:nvPr/>
        </p:nvSpPr>
        <p:spPr>
          <a:xfrm>
            <a:off x="758952" y="2057400"/>
            <a:ext cx="164592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Share of clicks</a:t>
            </a:r>
          </a:p>
        </p:txBody>
      </p:sp>
      <p:sp>
        <p:nvSpPr>
          <p:cNvPr id="14" name="Rectangle 13"/>
          <p:cNvSpPr/>
          <p:nvPr/>
        </p:nvSpPr>
        <p:spPr>
          <a:xfrm>
            <a:off x="2377440" y="2103120"/>
            <a:ext cx="146304" cy="146304"/>
          </a:xfrm>
          <a:prstGeom prst="rect">
            <a:avLst/>
          </a:prstGeom>
          <a:solidFill>
            <a:srgbClr val="FF9438"/>
          </a:solidFill>
          <a:ln>
            <a:noFill/>
          </a:ln>
        </p:spPr>
        <p:txBody>
          <a:bodyPr rtlCol="0" anchor="ctr"/>
          <a:lstStyle/>
          <a:p>
            <a:pPr algn="ctr"/>
          </a:p>
        </p:txBody>
      </p:sp>
      <p:sp>
        <p:nvSpPr>
          <p:cNvPr id="15" name="TextBox 14"/>
          <p:cNvSpPr txBox="1"/>
          <p:nvPr/>
        </p:nvSpPr>
        <p:spPr>
          <a:xfrm>
            <a:off x="2587752" y="2057400"/>
            <a:ext cx="1645920" cy="228600"/>
          </a:xfrm>
          <a:prstGeom prst="rect">
            <a:avLst/>
          </a:prstGeom>
          <a:noFill/>
        </p:spPr>
        <p:txBody>
          <a:bodyPr wrap="square" lIns="0" rIns="0" tIns="0" bIns="0" anchor="t">
            <a:noAutofit/>
          </a:bodyPr>
          <a:lstStyle/>
          <a:p>
            <a:pPr algn="l">
              <a:lnSpc>
                <a:spcPct val="110000"/>
              </a:lnSpc>
              <a:spcAft>
                <a:spcPts val="0"/>
              </a:spcAft>
            </a:pPr>
            <a:r>
              <a:rPr sz="1000" i="0" b="0">
                <a:solidFill>
                  <a:srgbClr val="647282"/>
                </a:solidFill>
                <a:latin typeface="Arial"/>
              </a:rPr>
              <a:t>Share of credited orders</a:t>
            </a:r>
          </a:p>
        </p:txBody>
      </p:sp>
      <p:sp>
        <p:nvSpPr>
          <p:cNvPr id="16" name="TextBox 15"/>
          <p:cNvSpPr txBox="1"/>
          <p:nvPr/>
        </p:nvSpPr>
        <p:spPr>
          <a:xfrm>
            <a:off x="6172200" y="2057400"/>
            <a:ext cx="822960" cy="228600"/>
          </a:xfrm>
          <a:prstGeom prst="rect">
            <a:avLst/>
          </a:prstGeom>
          <a:noFill/>
        </p:spPr>
        <p:txBody>
          <a:bodyPr wrap="square" lIns="0" rIns="0" tIns="0" bIns="0" anchor="t">
            <a:noAutofit/>
          </a:bodyPr>
          <a:lstStyle/>
          <a:p>
            <a:pPr algn="r">
              <a:lnSpc>
                <a:spcPct val="110000"/>
              </a:lnSpc>
              <a:spcAft>
                <a:spcPts val="0"/>
              </a:spcAft>
            </a:pPr>
            <a:r>
              <a:rPr sz="1000" i="0" b="1">
                <a:solidFill>
                  <a:srgbClr val="647282"/>
                </a:solidFill>
                <a:latin typeface="Arial"/>
              </a:rPr>
              <a:t>Conv. rate</a:t>
            </a:r>
          </a:p>
        </p:txBody>
      </p:sp>
      <p:sp>
        <p:nvSpPr>
          <p:cNvPr id="17" name="TextBox 16"/>
          <p:cNvSpPr txBox="1"/>
          <p:nvPr/>
        </p:nvSpPr>
        <p:spPr>
          <a:xfrm>
            <a:off x="548640" y="2542032"/>
            <a:ext cx="2148840" cy="274320"/>
          </a:xfrm>
          <a:prstGeom prst="rect">
            <a:avLst/>
          </a:prstGeom>
          <a:noFill/>
        </p:spPr>
        <p:txBody>
          <a:bodyPr wrap="square" lIns="0" rIns="0" tIns="0" bIns="0" anchor="t">
            <a:noAutofit/>
          </a:bodyPr>
          <a:lstStyle/>
          <a:p>
            <a:pPr algn="l">
              <a:lnSpc>
                <a:spcPct val="110000"/>
              </a:lnSpc>
              <a:spcAft>
                <a:spcPts val="0"/>
              </a:spcAft>
            </a:pPr>
            <a:r>
              <a:rPr sz="1050" i="0" b="1">
                <a:solidFill>
                  <a:srgbClr val="1E2833"/>
                </a:solidFill>
                <a:latin typeface="Arial"/>
              </a:rPr>
              <a:t>Injected at cart / checkout</a:t>
            </a:r>
          </a:p>
        </p:txBody>
      </p:sp>
      <p:sp>
        <p:nvSpPr>
          <p:cNvPr id="18" name="Rectangle 17"/>
          <p:cNvSpPr/>
          <p:nvPr/>
        </p:nvSpPr>
        <p:spPr>
          <a:xfrm>
            <a:off x="2788920" y="2468880"/>
            <a:ext cx="229742" cy="192024"/>
          </a:xfrm>
          <a:prstGeom prst="rect">
            <a:avLst/>
          </a:prstGeom>
          <a:solidFill>
            <a:srgbClr val="B7C1CC"/>
          </a:solidFill>
          <a:ln>
            <a:noFill/>
          </a:ln>
        </p:spPr>
        <p:txBody>
          <a:bodyPr rtlCol="0" anchor="ctr"/>
          <a:lstStyle/>
          <a:p>
            <a:pPr algn="ctr"/>
          </a:p>
        </p:txBody>
      </p:sp>
      <p:sp>
        <p:nvSpPr>
          <p:cNvPr id="19" name="TextBox 18"/>
          <p:cNvSpPr txBox="1"/>
          <p:nvPr/>
        </p:nvSpPr>
        <p:spPr>
          <a:xfrm>
            <a:off x="3082671" y="2459736"/>
            <a:ext cx="640080" cy="201168"/>
          </a:xfrm>
          <a:prstGeom prst="rect">
            <a:avLst/>
          </a:prstGeom>
          <a:noFill/>
        </p:spPr>
        <p:txBody>
          <a:bodyPr wrap="square" lIns="0" rIns="0" tIns="0" bIns="0" anchor="t">
            <a:noAutofit/>
          </a:bodyPr>
          <a:lstStyle/>
          <a:p>
            <a:pPr algn="l">
              <a:lnSpc>
                <a:spcPct val="110000"/>
              </a:lnSpc>
              <a:spcAft>
                <a:spcPts val="0"/>
              </a:spcAft>
            </a:pPr>
            <a:r>
              <a:rPr sz="950" i="0" b="0">
                <a:solidFill>
                  <a:srgbClr val="1E2833"/>
                </a:solidFill>
                <a:latin typeface="Arial"/>
              </a:rPr>
              <a:t>6.7%</a:t>
            </a:r>
          </a:p>
        </p:txBody>
      </p:sp>
      <p:sp>
        <p:nvSpPr>
          <p:cNvPr id="20" name="Rectangle 19"/>
          <p:cNvSpPr/>
          <p:nvPr/>
        </p:nvSpPr>
        <p:spPr>
          <a:xfrm>
            <a:off x="2788920" y="2697480"/>
            <a:ext cx="1714499" cy="192024"/>
          </a:xfrm>
          <a:prstGeom prst="rect">
            <a:avLst/>
          </a:prstGeom>
          <a:solidFill>
            <a:srgbClr val="FF9438"/>
          </a:solidFill>
          <a:ln>
            <a:noFill/>
          </a:ln>
        </p:spPr>
        <p:txBody>
          <a:bodyPr rtlCol="0" anchor="ctr"/>
          <a:lstStyle/>
          <a:p>
            <a:pPr algn="ctr"/>
          </a:p>
        </p:txBody>
      </p:sp>
      <p:sp>
        <p:nvSpPr>
          <p:cNvPr id="21" name="TextBox 20"/>
          <p:cNvSpPr txBox="1"/>
          <p:nvPr/>
        </p:nvSpPr>
        <p:spPr>
          <a:xfrm>
            <a:off x="4567428" y="2688336"/>
            <a:ext cx="640080" cy="201168"/>
          </a:xfrm>
          <a:prstGeom prst="rect">
            <a:avLst/>
          </a:prstGeom>
          <a:noFill/>
        </p:spPr>
        <p:txBody>
          <a:bodyPr wrap="square" lIns="0" rIns="0" tIns="0" bIns="0" anchor="t">
            <a:noAutofit/>
          </a:bodyPr>
          <a:lstStyle/>
          <a:p>
            <a:pPr algn="l">
              <a:lnSpc>
                <a:spcPct val="110000"/>
              </a:lnSpc>
              <a:spcAft>
                <a:spcPts val="0"/>
              </a:spcAft>
            </a:pPr>
            <a:r>
              <a:rPr sz="950" i="0" b="1">
                <a:solidFill>
                  <a:srgbClr val="1E2833"/>
                </a:solidFill>
                <a:latin typeface="Arial"/>
              </a:rPr>
              <a:t>50.0%</a:t>
            </a:r>
          </a:p>
        </p:txBody>
      </p:sp>
      <p:sp>
        <p:nvSpPr>
          <p:cNvPr id="22" name="TextBox 21"/>
          <p:cNvSpPr txBox="1"/>
          <p:nvPr/>
        </p:nvSpPr>
        <p:spPr>
          <a:xfrm>
            <a:off x="6172200" y="2542032"/>
            <a:ext cx="822960" cy="274320"/>
          </a:xfrm>
          <a:prstGeom prst="rect">
            <a:avLst/>
          </a:prstGeom>
          <a:noFill/>
        </p:spPr>
        <p:txBody>
          <a:bodyPr wrap="square" lIns="0" rIns="0" tIns="0" bIns="0" anchor="t">
            <a:noAutofit/>
          </a:bodyPr>
          <a:lstStyle/>
          <a:p>
            <a:pPr algn="r">
              <a:lnSpc>
                <a:spcPct val="110000"/>
              </a:lnSpc>
              <a:spcAft>
                <a:spcPts val="0"/>
              </a:spcAft>
            </a:pPr>
            <a:r>
              <a:rPr sz="1200" i="0" b="1">
                <a:solidFill>
                  <a:srgbClr val="C9620E"/>
                </a:solidFill>
                <a:latin typeface="Arial"/>
              </a:rPr>
              <a:t>13.0%</a:t>
            </a:r>
          </a:p>
        </p:txBody>
      </p:sp>
      <p:sp>
        <p:nvSpPr>
          <p:cNvPr id="23" name="TextBox 22"/>
          <p:cNvSpPr txBox="1"/>
          <p:nvPr/>
        </p:nvSpPr>
        <p:spPr>
          <a:xfrm>
            <a:off x="548640" y="3182112"/>
            <a:ext cx="2148840" cy="274320"/>
          </a:xfrm>
          <a:prstGeom prst="rect">
            <a:avLst/>
          </a:prstGeom>
          <a:noFill/>
        </p:spPr>
        <p:txBody>
          <a:bodyPr wrap="square" lIns="0" rIns="0" tIns="0" bIns="0" anchor="t">
            <a:noAutofit/>
          </a:bodyPr>
          <a:lstStyle/>
          <a:p>
            <a:pPr algn="l">
              <a:lnSpc>
                <a:spcPct val="110000"/>
              </a:lnSpc>
              <a:spcAft>
                <a:spcPts val="0"/>
              </a:spcAft>
            </a:pPr>
            <a:r>
              <a:rPr sz="1050" i="0" b="1">
                <a:solidFill>
                  <a:srgbClr val="1E2833"/>
                </a:solidFill>
                <a:latin typeface="Arial"/>
              </a:rPr>
              <a:t>Already on the brand's site</a:t>
            </a:r>
          </a:p>
        </p:txBody>
      </p:sp>
      <p:sp>
        <p:nvSpPr>
          <p:cNvPr id="24" name="Rectangle 23"/>
          <p:cNvSpPr/>
          <p:nvPr/>
        </p:nvSpPr>
        <p:spPr>
          <a:xfrm>
            <a:off x="2788920" y="3108960"/>
            <a:ext cx="562355" cy="192024"/>
          </a:xfrm>
          <a:prstGeom prst="rect">
            <a:avLst/>
          </a:prstGeom>
          <a:solidFill>
            <a:srgbClr val="B7C1CC"/>
          </a:solidFill>
          <a:ln>
            <a:noFill/>
          </a:ln>
        </p:spPr>
        <p:txBody>
          <a:bodyPr rtlCol="0" anchor="ctr"/>
          <a:lstStyle/>
          <a:p>
            <a:pPr algn="ctr"/>
          </a:p>
        </p:txBody>
      </p:sp>
      <p:sp>
        <p:nvSpPr>
          <p:cNvPr id="25" name="TextBox 24"/>
          <p:cNvSpPr txBox="1"/>
          <p:nvPr/>
        </p:nvSpPr>
        <p:spPr>
          <a:xfrm>
            <a:off x="3415284" y="3099816"/>
            <a:ext cx="640080" cy="201168"/>
          </a:xfrm>
          <a:prstGeom prst="rect">
            <a:avLst/>
          </a:prstGeom>
          <a:noFill/>
        </p:spPr>
        <p:txBody>
          <a:bodyPr wrap="square" lIns="0" rIns="0" tIns="0" bIns="0" anchor="t">
            <a:noAutofit/>
          </a:bodyPr>
          <a:lstStyle/>
          <a:p>
            <a:pPr algn="l">
              <a:lnSpc>
                <a:spcPct val="110000"/>
              </a:lnSpc>
              <a:spcAft>
                <a:spcPts val="0"/>
              </a:spcAft>
            </a:pPr>
            <a:r>
              <a:rPr sz="950" i="0" b="0">
                <a:solidFill>
                  <a:srgbClr val="1E2833"/>
                </a:solidFill>
                <a:latin typeface="Arial"/>
              </a:rPr>
              <a:t>16.4%</a:t>
            </a:r>
          </a:p>
        </p:txBody>
      </p:sp>
      <p:sp>
        <p:nvSpPr>
          <p:cNvPr id="26" name="Rectangle 25"/>
          <p:cNvSpPr/>
          <p:nvPr/>
        </p:nvSpPr>
        <p:spPr>
          <a:xfrm>
            <a:off x="2788920" y="3337560"/>
            <a:ext cx="980693" cy="192024"/>
          </a:xfrm>
          <a:prstGeom prst="rect">
            <a:avLst/>
          </a:prstGeom>
          <a:solidFill>
            <a:srgbClr val="FF9438"/>
          </a:solidFill>
          <a:ln>
            <a:noFill/>
          </a:ln>
        </p:spPr>
        <p:txBody>
          <a:bodyPr rtlCol="0" anchor="ctr"/>
          <a:lstStyle/>
          <a:p>
            <a:pPr algn="ctr"/>
          </a:p>
        </p:txBody>
      </p:sp>
      <p:sp>
        <p:nvSpPr>
          <p:cNvPr id="27" name="TextBox 26"/>
          <p:cNvSpPr txBox="1"/>
          <p:nvPr/>
        </p:nvSpPr>
        <p:spPr>
          <a:xfrm>
            <a:off x="3833622" y="3328416"/>
            <a:ext cx="640080" cy="201168"/>
          </a:xfrm>
          <a:prstGeom prst="rect">
            <a:avLst/>
          </a:prstGeom>
          <a:noFill/>
        </p:spPr>
        <p:txBody>
          <a:bodyPr wrap="square" lIns="0" rIns="0" tIns="0" bIns="0" anchor="t">
            <a:noAutofit/>
          </a:bodyPr>
          <a:lstStyle/>
          <a:p>
            <a:pPr algn="l">
              <a:lnSpc>
                <a:spcPct val="110000"/>
              </a:lnSpc>
              <a:spcAft>
                <a:spcPts val="0"/>
              </a:spcAft>
            </a:pPr>
            <a:r>
              <a:rPr sz="950" i="0" b="1">
                <a:solidFill>
                  <a:srgbClr val="1E2833"/>
                </a:solidFill>
                <a:latin typeface="Arial"/>
              </a:rPr>
              <a:t>28.6%</a:t>
            </a:r>
          </a:p>
        </p:txBody>
      </p:sp>
      <p:sp>
        <p:nvSpPr>
          <p:cNvPr id="28" name="TextBox 27"/>
          <p:cNvSpPr txBox="1"/>
          <p:nvPr/>
        </p:nvSpPr>
        <p:spPr>
          <a:xfrm>
            <a:off x="6172200" y="3182112"/>
            <a:ext cx="822960" cy="274320"/>
          </a:xfrm>
          <a:prstGeom prst="rect">
            <a:avLst/>
          </a:prstGeom>
          <a:noFill/>
        </p:spPr>
        <p:txBody>
          <a:bodyPr wrap="square" lIns="0" rIns="0" tIns="0" bIns="0" anchor="t">
            <a:noAutofit/>
          </a:bodyPr>
          <a:lstStyle/>
          <a:p>
            <a:pPr algn="r">
              <a:lnSpc>
                <a:spcPct val="110000"/>
              </a:lnSpc>
              <a:spcAft>
                <a:spcPts val="0"/>
              </a:spcAft>
            </a:pPr>
            <a:r>
              <a:rPr sz="1200" i="0" b="1">
                <a:solidFill>
                  <a:srgbClr val="C9620E"/>
                </a:solidFill>
                <a:latin typeface="Arial"/>
              </a:rPr>
              <a:t>3.0%</a:t>
            </a:r>
          </a:p>
        </p:txBody>
      </p:sp>
      <p:sp>
        <p:nvSpPr>
          <p:cNvPr id="29" name="TextBox 28"/>
          <p:cNvSpPr txBox="1"/>
          <p:nvPr/>
        </p:nvSpPr>
        <p:spPr>
          <a:xfrm>
            <a:off x="548640" y="3822191"/>
            <a:ext cx="2148840" cy="274320"/>
          </a:xfrm>
          <a:prstGeom prst="rect">
            <a:avLst/>
          </a:prstGeom>
          <a:noFill/>
        </p:spPr>
        <p:txBody>
          <a:bodyPr wrap="square" lIns="0" rIns="0" tIns="0" bIns="0" anchor="t">
            <a:noAutofit/>
          </a:bodyPr>
          <a:lstStyle/>
          <a:p>
            <a:pPr algn="l">
              <a:lnSpc>
                <a:spcPct val="110000"/>
              </a:lnSpc>
              <a:spcAft>
                <a:spcPts val="0"/>
              </a:spcAft>
            </a:pPr>
            <a:r>
              <a:rPr sz="1050" i="0" b="1">
                <a:solidFill>
                  <a:srgbClr val="1E2833"/>
                </a:solidFill>
                <a:latin typeface="Arial"/>
              </a:rPr>
              <a:t>Coupon / cash-back just before</a:t>
            </a:r>
          </a:p>
        </p:txBody>
      </p:sp>
      <p:sp>
        <p:nvSpPr>
          <p:cNvPr id="30" name="Rectangle 29"/>
          <p:cNvSpPr/>
          <p:nvPr/>
        </p:nvSpPr>
        <p:spPr>
          <a:xfrm>
            <a:off x="2788920" y="3749039"/>
            <a:ext cx="37718" cy="192024"/>
          </a:xfrm>
          <a:prstGeom prst="rect">
            <a:avLst/>
          </a:prstGeom>
          <a:solidFill>
            <a:srgbClr val="B7C1CC"/>
          </a:solidFill>
          <a:ln>
            <a:noFill/>
          </a:ln>
        </p:spPr>
        <p:txBody>
          <a:bodyPr rtlCol="0" anchor="ctr"/>
          <a:lstStyle/>
          <a:p>
            <a:pPr algn="ctr"/>
          </a:p>
        </p:txBody>
      </p:sp>
      <p:sp>
        <p:nvSpPr>
          <p:cNvPr id="31" name="TextBox 30"/>
          <p:cNvSpPr txBox="1"/>
          <p:nvPr/>
        </p:nvSpPr>
        <p:spPr>
          <a:xfrm>
            <a:off x="2890647" y="3739896"/>
            <a:ext cx="640080" cy="201168"/>
          </a:xfrm>
          <a:prstGeom prst="rect">
            <a:avLst/>
          </a:prstGeom>
          <a:noFill/>
        </p:spPr>
        <p:txBody>
          <a:bodyPr wrap="square" lIns="0" rIns="0" tIns="0" bIns="0" anchor="t">
            <a:noAutofit/>
          </a:bodyPr>
          <a:lstStyle/>
          <a:p>
            <a:pPr algn="l">
              <a:lnSpc>
                <a:spcPct val="110000"/>
              </a:lnSpc>
              <a:spcAft>
                <a:spcPts val="0"/>
              </a:spcAft>
            </a:pPr>
            <a:r>
              <a:rPr sz="950" i="0" b="0">
                <a:solidFill>
                  <a:srgbClr val="1E2833"/>
                </a:solidFill>
                <a:latin typeface="Arial"/>
              </a:rPr>
              <a:t>1.1%</a:t>
            </a:r>
          </a:p>
        </p:txBody>
      </p:sp>
      <p:sp>
        <p:nvSpPr>
          <p:cNvPr id="32" name="Rectangle 31"/>
          <p:cNvSpPr/>
          <p:nvPr/>
        </p:nvSpPr>
        <p:spPr>
          <a:xfrm>
            <a:off x="2788920" y="3977639"/>
            <a:ext cx="92582" cy="192024"/>
          </a:xfrm>
          <a:prstGeom prst="rect">
            <a:avLst/>
          </a:prstGeom>
          <a:solidFill>
            <a:srgbClr val="FF9438"/>
          </a:solidFill>
          <a:ln>
            <a:noFill/>
          </a:ln>
        </p:spPr>
        <p:txBody>
          <a:bodyPr rtlCol="0" anchor="ctr"/>
          <a:lstStyle/>
          <a:p>
            <a:pPr algn="ctr"/>
          </a:p>
        </p:txBody>
      </p:sp>
      <p:sp>
        <p:nvSpPr>
          <p:cNvPr id="33" name="TextBox 32"/>
          <p:cNvSpPr txBox="1"/>
          <p:nvPr/>
        </p:nvSpPr>
        <p:spPr>
          <a:xfrm>
            <a:off x="2945511" y="3968496"/>
            <a:ext cx="640080" cy="201168"/>
          </a:xfrm>
          <a:prstGeom prst="rect">
            <a:avLst/>
          </a:prstGeom>
          <a:noFill/>
        </p:spPr>
        <p:txBody>
          <a:bodyPr wrap="square" lIns="0" rIns="0" tIns="0" bIns="0" anchor="t">
            <a:noAutofit/>
          </a:bodyPr>
          <a:lstStyle/>
          <a:p>
            <a:pPr algn="l">
              <a:lnSpc>
                <a:spcPct val="110000"/>
              </a:lnSpc>
              <a:spcAft>
                <a:spcPts val="0"/>
              </a:spcAft>
            </a:pPr>
            <a:r>
              <a:rPr sz="950" i="0" b="1">
                <a:solidFill>
                  <a:srgbClr val="1E2833"/>
                </a:solidFill>
                <a:latin typeface="Arial"/>
              </a:rPr>
              <a:t>2.7%</a:t>
            </a:r>
          </a:p>
        </p:txBody>
      </p:sp>
      <p:sp>
        <p:nvSpPr>
          <p:cNvPr id="34" name="TextBox 33"/>
          <p:cNvSpPr txBox="1"/>
          <p:nvPr/>
        </p:nvSpPr>
        <p:spPr>
          <a:xfrm>
            <a:off x="6172200" y="3822191"/>
            <a:ext cx="822960" cy="274320"/>
          </a:xfrm>
          <a:prstGeom prst="rect">
            <a:avLst/>
          </a:prstGeom>
          <a:noFill/>
        </p:spPr>
        <p:txBody>
          <a:bodyPr wrap="square" lIns="0" rIns="0" tIns="0" bIns="0" anchor="t">
            <a:noAutofit/>
          </a:bodyPr>
          <a:lstStyle/>
          <a:p>
            <a:pPr algn="r">
              <a:lnSpc>
                <a:spcPct val="110000"/>
              </a:lnSpc>
              <a:spcAft>
                <a:spcPts val="0"/>
              </a:spcAft>
            </a:pPr>
            <a:r>
              <a:rPr sz="1200" i="0" b="1">
                <a:solidFill>
                  <a:srgbClr val="C9620E"/>
                </a:solidFill>
                <a:latin typeface="Arial"/>
              </a:rPr>
              <a:t>4.0%</a:t>
            </a:r>
          </a:p>
        </p:txBody>
      </p:sp>
      <p:sp>
        <p:nvSpPr>
          <p:cNvPr id="35" name="TextBox 34"/>
          <p:cNvSpPr txBox="1"/>
          <p:nvPr/>
        </p:nvSpPr>
        <p:spPr>
          <a:xfrm>
            <a:off x="548640" y="4462272"/>
            <a:ext cx="2148840" cy="274320"/>
          </a:xfrm>
          <a:prstGeom prst="rect">
            <a:avLst/>
          </a:prstGeom>
          <a:noFill/>
        </p:spPr>
        <p:txBody>
          <a:bodyPr wrap="square" lIns="0" rIns="0" tIns="0" bIns="0" anchor="t">
            <a:noAutofit/>
          </a:bodyPr>
          <a:lstStyle/>
          <a:p>
            <a:pPr algn="l">
              <a:lnSpc>
                <a:spcPct val="110000"/>
              </a:lnSpc>
              <a:spcAft>
                <a:spcPts val="0"/>
              </a:spcAft>
            </a:pPr>
            <a:r>
              <a:rPr sz="1050" i="0" b="1">
                <a:solidFill>
                  <a:srgbClr val="1E2833"/>
                </a:solidFill>
                <a:latin typeface="Arial"/>
              </a:rPr>
              <a:t>No visible referrer</a:t>
            </a:r>
          </a:p>
        </p:txBody>
      </p:sp>
      <p:sp>
        <p:nvSpPr>
          <p:cNvPr id="36" name="Rectangle 35"/>
          <p:cNvSpPr/>
          <p:nvPr/>
        </p:nvSpPr>
        <p:spPr>
          <a:xfrm>
            <a:off x="2788920" y="4389120"/>
            <a:ext cx="78866" cy="192024"/>
          </a:xfrm>
          <a:prstGeom prst="rect">
            <a:avLst/>
          </a:prstGeom>
          <a:solidFill>
            <a:srgbClr val="B7C1CC"/>
          </a:solidFill>
          <a:ln>
            <a:noFill/>
          </a:ln>
        </p:spPr>
        <p:txBody>
          <a:bodyPr rtlCol="0" anchor="ctr"/>
          <a:lstStyle/>
          <a:p>
            <a:pPr algn="ctr"/>
          </a:p>
        </p:txBody>
      </p:sp>
      <p:sp>
        <p:nvSpPr>
          <p:cNvPr id="37" name="TextBox 36"/>
          <p:cNvSpPr txBox="1"/>
          <p:nvPr/>
        </p:nvSpPr>
        <p:spPr>
          <a:xfrm>
            <a:off x="2931795" y="4379976"/>
            <a:ext cx="640080" cy="201168"/>
          </a:xfrm>
          <a:prstGeom prst="rect">
            <a:avLst/>
          </a:prstGeom>
          <a:noFill/>
        </p:spPr>
        <p:txBody>
          <a:bodyPr wrap="square" lIns="0" rIns="0" tIns="0" bIns="0" anchor="t">
            <a:noAutofit/>
          </a:bodyPr>
          <a:lstStyle/>
          <a:p>
            <a:pPr algn="l">
              <a:lnSpc>
                <a:spcPct val="110000"/>
              </a:lnSpc>
              <a:spcAft>
                <a:spcPts val="0"/>
              </a:spcAft>
            </a:pPr>
            <a:r>
              <a:rPr sz="950" i="0" b="0">
                <a:solidFill>
                  <a:srgbClr val="1E2833"/>
                </a:solidFill>
                <a:latin typeface="Arial"/>
              </a:rPr>
              <a:t>2.3%</a:t>
            </a:r>
          </a:p>
        </p:txBody>
      </p:sp>
      <p:sp>
        <p:nvSpPr>
          <p:cNvPr id="38" name="Rectangle 37"/>
          <p:cNvSpPr/>
          <p:nvPr/>
        </p:nvSpPr>
        <p:spPr>
          <a:xfrm>
            <a:off x="2788920" y="4617720"/>
            <a:ext cx="61721" cy="192024"/>
          </a:xfrm>
          <a:prstGeom prst="rect">
            <a:avLst/>
          </a:prstGeom>
          <a:solidFill>
            <a:srgbClr val="FF9438"/>
          </a:solidFill>
          <a:ln>
            <a:noFill/>
          </a:ln>
        </p:spPr>
        <p:txBody>
          <a:bodyPr rtlCol="0" anchor="ctr"/>
          <a:lstStyle/>
          <a:p>
            <a:pPr algn="ctr"/>
          </a:p>
        </p:txBody>
      </p:sp>
      <p:sp>
        <p:nvSpPr>
          <p:cNvPr id="39" name="TextBox 38"/>
          <p:cNvSpPr txBox="1"/>
          <p:nvPr/>
        </p:nvSpPr>
        <p:spPr>
          <a:xfrm>
            <a:off x="2914650" y="4608576"/>
            <a:ext cx="640080" cy="201168"/>
          </a:xfrm>
          <a:prstGeom prst="rect">
            <a:avLst/>
          </a:prstGeom>
          <a:noFill/>
        </p:spPr>
        <p:txBody>
          <a:bodyPr wrap="square" lIns="0" rIns="0" tIns="0" bIns="0" anchor="t">
            <a:noAutofit/>
          </a:bodyPr>
          <a:lstStyle/>
          <a:p>
            <a:pPr algn="l">
              <a:lnSpc>
                <a:spcPct val="110000"/>
              </a:lnSpc>
              <a:spcAft>
                <a:spcPts val="0"/>
              </a:spcAft>
            </a:pPr>
            <a:r>
              <a:rPr sz="950" i="0" b="1">
                <a:solidFill>
                  <a:srgbClr val="1E2833"/>
                </a:solidFill>
                <a:latin typeface="Arial"/>
              </a:rPr>
              <a:t>1.8%</a:t>
            </a:r>
          </a:p>
        </p:txBody>
      </p:sp>
      <p:sp>
        <p:nvSpPr>
          <p:cNvPr id="40" name="TextBox 39"/>
          <p:cNvSpPr txBox="1"/>
          <p:nvPr/>
        </p:nvSpPr>
        <p:spPr>
          <a:xfrm>
            <a:off x="6172200" y="4462272"/>
            <a:ext cx="822960" cy="274320"/>
          </a:xfrm>
          <a:prstGeom prst="rect">
            <a:avLst/>
          </a:prstGeom>
          <a:noFill/>
        </p:spPr>
        <p:txBody>
          <a:bodyPr wrap="square" lIns="0" rIns="0" tIns="0" bIns="0" anchor="t">
            <a:noAutofit/>
          </a:bodyPr>
          <a:lstStyle/>
          <a:p>
            <a:pPr algn="r">
              <a:lnSpc>
                <a:spcPct val="110000"/>
              </a:lnSpc>
              <a:spcAft>
                <a:spcPts val="0"/>
              </a:spcAft>
            </a:pPr>
            <a:r>
              <a:rPr sz="1200" i="0" b="1">
                <a:solidFill>
                  <a:srgbClr val="C9620E"/>
                </a:solidFill>
                <a:latin typeface="Arial"/>
              </a:rPr>
              <a:t>1.4%</a:t>
            </a:r>
          </a:p>
        </p:txBody>
      </p:sp>
      <p:cxnSp>
        <p:nvCxnSpPr>
          <p:cNvPr id="41" name="Connector 40"/>
          <p:cNvCxnSpPr/>
          <p:nvPr/>
        </p:nvCxnSpPr>
        <p:spPr>
          <a:xfrm>
            <a:off x="548640" y="4937760"/>
            <a:ext cx="6446520" cy="0"/>
          </a:xfrm>
          <a:prstGeom prst="line">
            <a:avLst/>
          </a:prstGeom>
          <a:ln w="6350">
            <a:solidFill>
              <a:srgbClr val="D6DDE5"/>
            </a:solidFill>
            <a:prstDash val="dash"/>
          </a:ln>
        </p:spPr>
      </p:cxnSp>
      <p:sp>
        <p:nvSpPr>
          <p:cNvPr id="42" name="TextBox 41"/>
          <p:cNvSpPr txBox="1"/>
          <p:nvPr/>
        </p:nvSpPr>
        <p:spPr>
          <a:xfrm>
            <a:off x="548640" y="5102352"/>
            <a:ext cx="2148840" cy="274320"/>
          </a:xfrm>
          <a:prstGeom prst="rect">
            <a:avLst/>
          </a:prstGeom>
          <a:noFill/>
        </p:spPr>
        <p:txBody>
          <a:bodyPr wrap="square" lIns="0" rIns="0" tIns="0" bIns="0" anchor="t">
            <a:noAutofit/>
          </a:bodyPr>
          <a:lstStyle/>
          <a:p>
            <a:pPr algn="l">
              <a:lnSpc>
                <a:spcPct val="110000"/>
              </a:lnSpc>
              <a:spcAft>
                <a:spcPts val="0"/>
              </a:spcAft>
            </a:pPr>
            <a:r>
              <a:rPr sz="1050" i="0" b="0">
                <a:solidFill>
                  <a:srgbClr val="1E2833"/>
                </a:solidFill>
                <a:latin typeface="Arial"/>
              </a:rPr>
              <a:t>No indicator</a:t>
            </a:r>
          </a:p>
        </p:txBody>
      </p:sp>
      <p:sp>
        <p:nvSpPr>
          <p:cNvPr id="43" name="Rectangle 42"/>
          <p:cNvSpPr/>
          <p:nvPr/>
        </p:nvSpPr>
        <p:spPr>
          <a:xfrm>
            <a:off x="2788920" y="5029200"/>
            <a:ext cx="2506598" cy="192024"/>
          </a:xfrm>
          <a:prstGeom prst="rect">
            <a:avLst/>
          </a:prstGeom>
          <a:solidFill>
            <a:srgbClr val="B7C1CC"/>
          </a:solidFill>
          <a:ln>
            <a:noFill/>
          </a:ln>
        </p:spPr>
        <p:txBody>
          <a:bodyPr rtlCol="0" anchor="ctr"/>
          <a:lstStyle/>
          <a:p>
            <a:pPr algn="ctr"/>
          </a:p>
        </p:txBody>
      </p:sp>
      <p:sp>
        <p:nvSpPr>
          <p:cNvPr id="44" name="TextBox 43"/>
          <p:cNvSpPr txBox="1"/>
          <p:nvPr/>
        </p:nvSpPr>
        <p:spPr>
          <a:xfrm>
            <a:off x="5359527" y="5020056"/>
            <a:ext cx="640080" cy="201168"/>
          </a:xfrm>
          <a:prstGeom prst="rect">
            <a:avLst/>
          </a:prstGeom>
          <a:noFill/>
        </p:spPr>
        <p:txBody>
          <a:bodyPr wrap="square" lIns="0" rIns="0" tIns="0" bIns="0" anchor="t">
            <a:noAutofit/>
          </a:bodyPr>
          <a:lstStyle/>
          <a:p>
            <a:pPr algn="l">
              <a:lnSpc>
                <a:spcPct val="110000"/>
              </a:lnSpc>
              <a:spcAft>
                <a:spcPts val="0"/>
              </a:spcAft>
            </a:pPr>
            <a:r>
              <a:rPr sz="950" i="0" b="0">
                <a:solidFill>
                  <a:srgbClr val="1E2833"/>
                </a:solidFill>
                <a:latin typeface="Arial"/>
              </a:rPr>
              <a:t>73.1%</a:t>
            </a:r>
          </a:p>
        </p:txBody>
      </p:sp>
      <p:sp>
        <p:nvSpPr>
          <p:cNvPr id="45" name="Rectangle 44"/>
          <p:cNvSpPr/>
          <p:nvPr/>
        </p:nvSpPr>
        <p:spPr>
          <a:xfrm>
            <a:off x="2788920" y="5257800"/>
            <a:ext cx="582929" cy="192024"/>
          </a:xfrm>
          <a:prstGeom prst="rect">
            <a:avLst/>
          </a:prstGeom>
          <a:solidFill>
            <a:srgbClr val="368EF8"/>
          </a:solidFill>
          <a:ln>
            <a:noFill/>
          </a:ln>
        </p:spPr>
        <p:txBody>
          <a:bodyPr rtlCol="0" anchor="ctr"/>
          <a:lstStyle/>
          <a:p>
            <a:pPr algn="ctr"/>
          </a:p>
        </p:txBody>
      </p:sp>
      <p:sp>
        <p:nvSpPr>
          <p:cNvPr id="46" name="TextBox 45"/>
          <p:cNvSpPr txBox="1"/>
          <p:nvPr/>
        </p:nvSpPr>
        <p:spPr>
          <a:xfrm>
            <a:off x="3435858" y="5248656"/>
            <a:ext cx="640080" cy="201168"/>
          </a:xfrm>
          <a:prstGeom prst="rect">
            <a:avLst/>
          </a:prstGeom>
          <a:noFill/>
        </p:spPr>
        <p:txBody>
          <a:bodyPr wrap="square" lIns="0" rIns="0" tIns="0" bIns="0" anchor="t">
            <a:noAutofit/>
          </a:bodyPr>
          <a:lstStyle/>
          <a:p>
            <a:pPr algn="l">
              <a:lnSpc>
                <a:spcPct val="110000"/>
              </a:lnSpc>
              <a:spcAft>
                <a:spcPts val="0"/>
              </a:spcAft>
            </a:pPr>
            <a:r>
              <a:rPr sz="950" i="0" b="1">
                <a:solidFill>
                  <a:srgbClr val="1E2833"/>
                </a:solidFill>
                <a:latin typeface="Arial"/>
              </a:rPr>
              <a:t>17.0%</a:t>
            </a:r>
          </a:p>
        </p:txBody>
      </p:sp>
      <p:sp>
        <p:nvSpPr>
          <p:cNvPr id="47" name="TextBox 46"/>
          <p:cNvSpPr txBox="1"/>
          <p:nvPr/>
        </p:nvSpPr>
        <p:spPr>
          <a:xfrm>
            <a:off x="6172200" y="5102352"/>
            <a:ext cx="822960" cy="274320"/>
          </a:xfrm>
          <a:prstGeom prst="rect">
            <a:avLst/>
          </a:prstGeom>
          <a:noFill/>
        </p:spPr>
        <p:txBody>
          <a:bodyPr wrap="square" lIns="0" rIns="0" tIns="0" bIns="0" anchor="t">
            <a:noAutofit/>
          </a:bodyPr>
          <a:lstStyle/>
          <a:p>
            <a:pPr algn="r">
              <a:lnSpc>
                <a:spcPct val="110000"/>
              </a:lnSpc>
              <a:spcAft>
                <a:spcPts val="0"/>
              </a:spcAft>
            </a:pPr>
            <a:r>
              <a:rPr sz="1200" i="0" b="1">
                <a:solidFill>
                  <a:srgbClr val="006BA1"/>
                </a:solidFill>
                <a:latin typeface="Arial"/>
              </a:rPr>
              <a:t>0.4%</a:t>
            </a:r>
          </a:p>
        </p:txBody>
      </p:sp>
      <p:sp>
        <p:nvSpPr>
          <p:cNvPr id="48" name="TextBox 47"/>
          <p:cNvSpPr txBox="1"/>
          <p:nvPr/>
        </p:nvSpPr>
        <p:spPr>
          <a:xfrm>
            <a:off x="548640" y="5687568"/>
            <a:ext cx="6446520" cy="411480"/>
          </a:xfrm>
          <a:prstGeom prst="rect">
            <a:avLst/>
          </a:prstGeom>
          <a:noFill/>
        </p:spPr>
        <p:txBody>
          <a:bodyPr wrap="square" lIns="0" rIns="0" tIns="0" bIns="0" anchor="t">
            <a:noAutofit/>
          </a:bodyPr>
          <a:lstStyle/>
          <a:p>
            <a:pPr algn="l">
              <a:lnSpc>
                <a:spcPct val="105000"/>
              </a:lnSpc>
              <a:spcAft>
                <a:spcPts val="0"/>
              </a:spcAft>
            </a:pPr>
            <a:r>
              <a:rPr sz="850" i="0" b="0">
                <a:solidFill>
                  <a:srgbClr val="647282"/>
                </a:solidFill>
                <a:latin typeface="Arial"/>
              </a:rPr>
              <a:t>Each click counts once, under its first signal (30-minute look-back). Not shown: publisher-bought search ads (0.4% of clicks) and multi-brand bursts (0.1%), with no orders.</a:t>
            </a:r>
          </a:p>
        </p:txBody>
      </p:sp>
      <p:sp>
        <p:nvSpPr>
          <p:cNvPr id="49" name="Rectangle 48"/>
          <p:cNvSpPr/>
          <p:nvPr/>
        </p:nvSpPr>
        <p:spPr>
          <a:xfrm>
            <a:off x="7360920" y="1728216"/>
            <a:ext cx="64008" cy="219456"/>
          </a:xfrm>
          <a:prstGeom prst="rect">
            <a:avLst/>
          </a:prstGeom>
          <a:solidFill>
            <a:srgbClr val="FF9438"/>
          </a:solidFill>
          <a:ln>
            <a:noFill/>
          </a:ln>
        </p:spPr>
        <p:txBody>
          <a:bodyPr rtlCol="0" anchor="ctr"/>
          <a:lstStyle/>
          <a:p>
            <a:pPr algn="ctr"/>
          </a:p>
        </p:txBody>
      </p:sp>
      <p:sp>
        <p:nvSpPr>
          <p:cNvPr id="50" name="TextBox 49"/>
          <p:cNvSpPr txBox="1"/>
          <p:nvPr/>
        </p:nvSpPr>
        <p:spPr>
          <a:xfrm>
            <a:off x="7516368" y="1691640"/>
            <a:ext cx="4126687" cy="292608"/>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Robust to the look-back window</a:t>
            </a:r>
          </a:p>
        </p:txBody>
      </p:sp>
      <p:graphicFrame>
        <p:nvGraphicFramePr>
          <p:cNvPr id="51" name="Table 50"/>
          <p:cNvGraphicFramePr>
            <a:graphicFrameLocks noGrp="1"/>
          </p:cNvGraphicFramePr>
          <p:nvPr/>
        </p:nvGraphicFramePr>
        <p:xfrm>
          <a:off x="7360920" y="2075688"/>
          <a:ext cx="4279392" cy="1444752"/>
        </p:xfrm>
        <a:graphic>
          <a:graphicData uri="http://schemas.openxmlformats.org/drawingml/2006/table">
            <a:tbl>
              <a:tblPr firstRow="0" bandRow="0">
                <a:tableStyleId>{2D5ABB26-0587-4C30-8999-92F81FD0307C}</a:tableStyleId>
              </a:tblPr>
              <a:tblGrid>
                <a:gridCol w="868680"/>
                <a:gridCol w="960120"/>
                <a:gridCol w="1051560"/>
                <a:gridCol w="1399032"/>
              </a:tblGrid>
              <a:tr h="457200">
                <a:tc>
                  <a:txBody>
                    <a:bodyPr/>
                    <a:lstStyle/>
                    <a:p>
                      <a:pPr algn="l">
                        <a:lnSpc>
                          <a:spcPct val="100000"/>
                        </a:lnSpc>
                        <a:spcAft>
                          <a:spcPts val="0"/>
                        </a:spcAft>
                      </a:pPr>
                      <a:r>
                        <a:rPr sz="900" i="0" b="1">
                          <a:solidFill>
                            <a:srgbClr val="FFFFFF"/>
                          </a:solidFill>
                          <a:latin typeface="Arial"/>
                        </a:rPr>
                        <a:t>Look-back</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900" i="0" b="1">
                          <a:solidFill>
                            <a:srgbClr val="FFFFFF"/>
                          </a:solidFill>
                          <a:latin typeface="Arial"/>
                        </a:rPr>
                        <a:t>Clicks flagged</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900" i="0" b="1">
                          <a:solidFill>
                            <a:srgbClr val="FFFFFF"/>
                          </a:solidFill>
                          <a:latin typeface="Arial"/>
                        </a:rPr>
                        <a:t>Orders from flagged</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900" i="0" b="1">
                          <a:solidFill>
                            <a:srgbClr val="FFFFFF"/>
                          </a:solidFill>
                          <a:latin typeface="Arial"/>
                        </a:rPr>
                        <a:t>Conv. rate: flagged vs other</a:t>
                      </a:r>
                    </a:p>
                  </a:txBody>
                  <a:tcPr marL="73152" marR="73152" marT="27432" marB="27432" anchor="ctr">
                    <a:lnL w="0">
                      <a:noFill/>
                    </a:lnL>
                    <a:lnR w="0">
                      <a:noFill/>
                    </a:lnR>
                    <a:lnT w="0">
                      <a:noFill/>
                    </a:lnT>
                    <a:lnB w="0">
                      <a:noFill/>
                    </a:lnB>
                    <a:solidFill>
                      <a:srgbClr val="0B2A4A"/>
                    </a:solidFill>
                  </a:tcPr>
                </a:tc>
              </a:tr>
              <a:tr h="329184">
                <a:tc>
                  <a:txBody>
                    <a:bodyPr/>
                    <a:lstStyle/>
                    <a:p>
                      <a:pPr algn="l">
                        <a:lnSpc>
                          <a:spcPct val="100000"/>
                        </a:lnSpc>
                        <a:spcAft>
                          <a:spcPts val="0"/>
                        </a:spcAft>
                      </a:pPr>
                      <a:r>
                        <a:rPr sz="1050" i="0" b="1">
                          <a:solidFill>
                            <a:srgbClr val="1E2833"/>
                          </a:solidFill>
                          <a:latin typeface="Arial"/>
                        </a:rPr>
                        <a:t>30 min</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0">
                          <a:solidFill>
                            <a:srgbClr val="1E2833"/>
                          </a:solidFill>
                          <a:latin typeface="Arial"/>
                        </a:rPr>
                        <a:t>23.4%</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1">
                          <a:solidFill>
                            <a:srgbClr val="1E2833"/>
                          </a:solidFill>
                          <a:latin typeface="Arial"/>
                        </a:rPr>
                        <a:t>78.6%</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0">
                          <a:solidFill>
                            <a:srgbClr val="1E2833"/>
                          </a:solidFill>
                          <a:latin typeface="Arial"/>
                        </a:rPr>
                        <a:t>5.8% vs 0.5%</a:t>
                      </a:r>
                    </a:p>
                  </a:txBody>
                  <a:tcPr marL="73152" marR="73152" marT="27432" marB="27432" anchor="ctr">
                    <a:lnL w="0">
                      <a:noFill/>
                    </a:lnL>
                    <a:lnR w="0">
                      <a:noFill/>
                    </a:lnR>
                    <a:lnT w="0">
                      <a:noFill/>
                    </a:lnT>
                    <a:lnB w="9525">
                      <a:solidFill>
                        <a:srgbClr val="D6DDE5"/>
                      </a:solidFill>
                    </a:lnB>
                    <a:solidFill>
                      <a:srgbClr val="FFFFFF"/>
                    </a:solidFill>
                  </a:tcPr>
                </a:tc>
              </a:tr>
              <a:tr h="329184">
                <a:tc>
                  <a:txBody>
                    <a:bodyPr/>
                    <a:lstStyle/>
                    <a:p>
                      <a:pPr algn="l">
                        <a:lnSpc>
                          <a:spcPct val="100000"/>
                        </a:lnSpc>
                        <a:spcAft>
                          <a:spcPts val="0"/>
                        </a:spcAft>
                      </a:pPr>
                      <a:r>
                        <a:rPr sz="1050" i="0" b="1">
                          <a:solidFill>
                            <a:srgbClr val="1E2833"/>
                          </a:solidFill>
                          <a:latin typeface="Arial"/>
                        </a:rPr>
                        <a:t>10 min</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0">
                          <a:solidFill>
                            <a:srgbClr val="1E2833"/>
                          </a:solidFill>
                          <a:latin typeface="Arial"/>
                        </a:rPr>
                        <a:t>18.7%</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1">
                          <a:solidFill>
                            <a:srgbClr val="1E2833"/>
                          </a:solidFill>
                          <a:latin typeface="Arial"/>
                        </a:rPr>
                        <a:t>71.4%</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0">
                          <a:solidFill>
                            <a:srgbClr val="1E2833"/>
                          </a:solidFill>
                          <a:latin typeface="Arial"/>
                        </a:rPr>
                        <a:t>6.6% vs 0.6%</a:t>
                      </a:r>
                    </a:p>
                  </a:txBody>
                  <a:tcPr marL="73152" marR="73152" marT="27432" marB="27432" anchor="ctr">
                    <a:lnL w="0">
                      <a:noFill/>
                    </a:lnL>
                    <a:lnR w="0">
                      <a:noFill/>
                    </a:lnR>
                    <a:lnT w="0">
                      <a:noFill/>
                    </a:lnT>
                    <a:lnB w="9525">
                      <a:solidFill>
                        <a:srgbClr val="D6DDE5"/>
                      </a:solidFill>
                    </a:lnB>
                    <a:solidFill>
                      <a:srgbClr val="FFFFFF"/>
                    </a:solidFill>
                  </a:tcPr>
                </a:tc>
              </a:tr>
              <a:tr h="329184">
                <a:tc>
                  <a:txBody>
                    <a:bodyPr/>
                    <a:lstStyle/>
                    <a:p>
                      <a:pPr algn="l">
                        <a:lnSpc>
                          <a:spcPct val="100000"/>
                        </a:lnSpc>
                        <a:spcAft>
                          <a:spcPts val="0"/>
                        </a:spcAft>
                      </a:pPr>
                      <a:r>
                        <a:rPr sz="1050" i="0" b="1">
                          <a:solidFill>
                            <a:srgbClr val="1E2833"/>
                          </a:solidFill>
                          <a:latin typeface="Arial"/>
                        </a:rPr>
                        <a:t>2 min</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0">
                          <a:solidFill>
                            <a:srgbClr val="1E2833"/>
                          </a:solidFill>
                          <a:latin typeface="Arial"/>
                        </a:rPr>
                        <a:t>13.2%</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1">
                          <a:solidFill>
                            <a:srgbClr val="1E2833"/>
                          </a:solidFill>
                          <a:latin typeface="Arial"/>
                        </a:rPr>
                        <a:t>51.8%</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050" i="0" b="0">
                          <a:solidFill>
                            <a:srgbClr val="1E2833"/>
                          </a:solidFill>
                          <a:latin typeface="Arial"/>
                        </a:rPr>
                        <a:t>6.8% vs 1.0%</a:t>
                      </a:r>
                    </a:p>
                  </a:txBody>
                  <a:tcPr marL="73152" marR="73152" marT="27432" marB="27432" anchor="ctr">
                    <a:lnL w="0">
                      <a:noFill/>
                    </a:lnL>
                    <a:lnR w="0">
                      <a:noFill/>
                    </a:lnR>
                    <a:lnT w="0">
                      <a:noFill/>
                    </a:lnT>
                    <a:lnB w="9525">
                      <a:solidFill>
                        <a:srgbClr val="D6DDE5"/>
                      </a:solidFill>
                    </a:lnB>
                    <a:solidFill>
                      <a:srgbClr val="FFFFFF"/>
                    </a:solidFill>
                  </a:tcPr>
                </a:tc>
              </a:tr>
            </a:tbl>
          </a:graphicData>
        </a:graphic>
      </p:graphicFrame>
      <p:sp>
        <p:nvSpPr>
          <p:cNvPr id="52" name="Rectangle 51"/>
          <p:cNvSpPr/>
          <p:nvPr/>
        </p:nvSpPr>
        <p:spPr>
          <a:xfrm>
            <a:off x="7360920" y="3694176"/>
            <a:ext cx="64008" cy="219456"/>
          </a:xfrm>
          <a:prstGeom prst="rect">
            <a:avLst/>
          </a:prstGeom>
          <a:solidFill>
            <a:srgbClr val="FF9438"/>
          </a:solidFill>
          <a:ln>
            <a:noFill/>
          </a:ln>
        </p:spPr>
        <p:txBody>
          <a:bodyPr rtlCol="0" anchor="ctr"/>
          <a:lstStyle/>
          <a:p>
            <a:pPr algn="ctr"/>
          </a:p>
        </p:txBody>
      </p:sp>
      <p:sp>
        <p:nvSpPr>
          <p:cNvPr id="53" name="TextBox 52"/>
          <p:cNvSpPr txBox="1"/>
          <p:nvPr/>
        </p:nvSpPr>
        <p:spPr>
          <a:xfrm>
            <a:off x="7516368" y="3657600"/>
            <a:ext cx="4126687" cy="292608"/>
          </a:xfrm>
          <a:prstGeom prst="rect">
            <a:avLst/>
          </a:prstGeom>
          <a:noFill/>
        </p:spPr>
        <p:txBody>
          <a:bodyPr wrap="square" lIns="0" rIns="0" tIns="0" bIns="0" anchor="t">
            <a:noAutofit/>
          </a:bodyPr>
          <a:lstStyle/>
          <a:p>
            <a:pPr algn="l">
              <a:lnSpc>
                <a:spcPct val="110000"/>
              </a:lnSpc>
              <a:spcAft>
                <a:spcPts val="0"/>
              </a:spcAft>
            </a:pPr>
            <a:r>
              <a:rPr sz="1250" i="0" b="1">
                <a:solidFill>
                  <a:srgbClr val="0B2A4A"/>
                </a:solidFill>
                <a:latin typeface="Arial"/>
              </a:rPr>
              <a:t>How the commission is taken</a:t>
            </a:r>
          </a:p>
        </p:txBody>
      </p:sp>
      <p:sp>
        <p:nvSpPr>
          <p:cNvPr id="54" name="TextBox 53"/>
          <p:cNvSpPr txBox="1"/>
          <p:nvPr/>
        </p:nvSpPr>
        <p:spPr>
          <a:xfrm>
            <a:off x="7516368" y="4041648"/>
            <a:ext cx="4126687" cy="2286000"/>
          </a:xfrm>
          <a:prstGeom prst="rect">
            <a:avLst/>
          </a:prstGeom>
          <a:noFill/>
        </p:spPr>
        <p:txBody>
          <a:bodyPr wrap="square" lIns="0" rIns="0" tIns="0" bIns="0" anchor="t">
            <a:noAutofit/>
          </a:bodyPr>
          <a:lstStyle/>
          <a:p>
            <a:pPr algn="l" marL="155448" indent="-155448">
              <a:lnSpc>
                <a:spcPct val="106000"/>
              </a:lnSpc>
              <a:spcAft>
                <a:spcPts val="500"/>
              </a:spcAft>
              <a:buClr>
                <a:srgbClr val="B7C1CC"/>
              </a:buClr>
              <a:buFont typeface="Arial"/>
              <a:buChar char="•"/>
            </a:pPr>
            <a:r>
              <a:rPr sz="1050" i="0" b="1">
                <a:solidFill>
                  <a:srgbClr val="1E2833"/>
                </a:solidFill>
                <a:latin typeface="Arial"/>
              </a:rPr>
              <a:t>Silent redirect from walmart.com itself:</a:t>
            </a:r>
            <a:r>
              <a:rPr sz="1050" i="0" b="0">
                <a:solidFill>
                  <a:srgbClr val="1E2833"/>
                </a:solidFill>
                <a:latin typeface="Arial"/>
              </a:rPr>
              <a:t> 220 cart-stage clicks fired a median 2 s after a walmart.com page, with no publisher page between.</a:t>
            </a:r>
          </a:p>
          <a:p>
            <a:pPr algn="l" marL="155448" indent="-155448">
              <a:lnSpc>
                <a:spcPct val="106000"/>
              </a:lnSpc>
              <a:spcAft>
                <a:spcPts val="500"/>
              </a:spcAft>
              <a:buClr>
                <a:srgbClr val="B7C1CC"/>
              </a:buClr>
              <a:buFont typeface="Arial"/>
              <a:buChar char="•"/>
            </a:pPr>
            <a:r>
              <a:rPr sz="1050" i="0" b="1">
                <a:solidFill>
                  <a:srgbClr val="1E2833"/>
                </a:solidFill>
                <a:latin typeface="Arial"/>
              </a:rPr>
              <a:t>Price-comparison redirects mid-session:</a:t>
            </a:r>
            <a:r>
              <a:rPr sz="1050" i="0" b="0">
                <a:solidFill>
                  <a:srgbClr val="1E2833"/>
                </a:solidFill>
                <a:latin typeface="Arial"/>
              </a:rPr>
              <a:t> rd.bizrate.com, 455 flagged clicks.</a:t>
            </a:r>
          </a:p>
          <a:p>
            <a:pPr algn="l" marL="155448" indent="-155448">
              <a:lnSpc>
                <a:spcPct val="106000"/>
              </a:lnSpc>
              <a:spcAft>
                <a:spcPts val="500"/>
              </a:spcAft>
              <a:buClr>
                <a:srgbClr val="B7C1CC"/>
              </a:buClr>
              <a:buFont typeface="Arial"/>
              <a:buChar char="•"/>
            </a:pPr>
            <a:r>
              <a:rPr sz="1050" i="0" b="1">
                <a:solidFill>
                  <a:srgbClr val="1E2833"/>
                </a:solidFill>
                <a:latin typeface="Arial"/>
              </a:rPr>
              <a:t>Coupon and cash-back extensions:</a:t>
            </a:r>
            <a:r>
              <a:rPr sz="1050" i="0" b="0">
                <a:solidFill>
                  <a:srgbClr val="1E2833"/>
                </a:solidFill>
                <a:latin typeface="Arial"/>
              </a:rPr>
              <a:t> Capital One Shopping, Slickdeals, Rakuten.</a:t>
            </a:r>
          </a:p>
          <a:p>
            <a:pPr algn="l" marL="155448" indent="-155448">
              <a:lnSpc>
                <a:spcPct val="106000"/>
              </a:lnSpc>
              <a:spcAft>
                <a:spcPts val="500"/>
              </a:spcAft>
              <a:buClr>
                <a:srgbClr val="B7C1CC"/>
              </a:buClr>
              <a:buFont typeface="Arial"/>
              <a:buChar char="•"/>
            </a:pPr>
            <a:r>
              <a:rPr sz="1050" i="0" b="0">
                <a:solidFill>
                  <a:srgbClr val="1E2833"/>
                </a:solidFill>
                <a:latin typeface="Arial"/>
              </a:rPr>
              <a:t>Clicks injected at the cart lead to an order a median </a:t>
            </a:r>
            <a:r>
              <a:rPr sz="1050" i="0" b="1">
                <a:solidFill>
                  <a:srgbClr val="1E2833"/>
                </a:solidFill>
                <a:latin typeface="Arial"/>
              </a:rPr>
              <a:t>2.3 minutes</a:t>
            </a:r>
            <a:r>
              <a:rPr sz="1050" i="0" b="0">
                <a:solidFill>
                  <a:srgbClr val="1E2833"/>
                </a:solidFill>
                <a:latin typeface="Arial"/>
              </a:rPr>
              <a:t> later.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ATTRIBUTION HIJACKING: SAATVA</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The same patterns already appear in Saatva's own program</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11</a:t>
            </a:r>
          </a:p>
        </p:txBody>
      </p:sp>
      <p:sp>
        <p:nvSpPr>
          <p:cNvPr id="11" name="Rectangle 10"/>
          <p:cNvSpPr/>
          <p:nvPr/>
        </p:nvSpPr>
        <p:spPr>
          <a:xfrm>
            <a:off x="548640" y="1691640"/>
            <a:ext cx="3545738" cy="4553712"/>
          </a:xfrm>
          <a:prstGeom prst="rect">
            <a:avLst/>
          </a:prstGeom>
          <a:solidFill>
            <a:srgbClr val="F3F6F9"/>
          </a:solidFill>
          <a:ln>
            <a:noFill/>
          </a:ln>
        </p:spPr>
        <p:txBody>
          <a:bodyPr rtlCol="0" anchor="ctr"/>
          <a:lstStyle/>
          <a:p>
            <a:pPr algn="ctr"/>
          </a:p>
        </p:txBody>
      </p:sp>
      <p:sp>
        <p:nvSpPr>
          <p:cNvPr id="12" name="Rectangle 11"/>
          <p:cNvSpPr/>
          <p:nvPr/>
        </p:nvSpPr>
        <p:spPr>
          <a:xfrm>
            <a:off x="548640" y="1691640"/>
            <a:ext cx="3545738" cy="365760"/>
          </a:xfrm>
          <a:prstGeom prst="rect">
            <a:avLst/>
          </a:prstGeom>
          <a:solidFill>
            <a:srgbClr val="FF9438"/>
          </a:solidFill>
          <a:ln>
            <a:noFill/>
          </a:ln>
        </p:spPr>
        <p:txBody>
          <a:bodyPr rtlCol="0" anchor="ctr" wrap="square" lIns="164592" rIns="164592" tIns="18288" bIns="18288">
            <a:noAutofit/>
          </a:bodyPr>
          <a:lstStyle/>
          <a:p>
            <a:pPr algn="l">
              <a:lnSpc>
                <a:spcPct val="110000"/>
              </a:lnSpc>
              <a:spcAft>
                <a:spcPts val="0"/>
              </a:spcAft>
            </a:pPr>
            <a:r>
              <a:rPr sz="1000" i="0" b="1" spc="120">
                <a:solidFill>
                  <a:srgbClr val="FFFFFF"/>
                </a:solidFill>
                <a:latin typeface="Arial"/>
              </a:rPr>
              <a:t>COOKIE STUFFING</a:t>
            </a:r>
          </a:p>
        </p:txBody>
      </p:sp>
      <p:sp>
        <p:nvSpPr>
          <p:cNvPr id="13" name="TextBox 12"/>
          <p:cNvSpPr txBox="1"/>
          <p:nvPr/>
        </p:nvSpPr>
        <p:spPr>
          <a:xfrm>
            <a:off x="731520" y="2194560"/>
            <a:ext cx="3179978" cy="502920"/>
          </a:xfrm>
          <a:prstGeom prst="rect">
            <a:avLst/>
          </a:prstGeom>
          <a:noFill/>
        </p:spPr>
        <p:txBody>
          <a:bodyPr wrap="square" lIns="0" rIns="0" tIns="0" bIns="0" anchor="t">
            <a:noAutofit/>
          </a:bodyPr>
          <a:lstStyle/>
          <a:p>
            <a:pPr algn="l">
              <a:lnSpc>
                <a:spcPct val="102000"/>
              </a:lnSpc>
              <a:spcAft>
                <a:spcPts val="0"/>
              </a:spcAft>
            </a:pPr>
            <a:r>
              <a:rPr sz="1300" i="0" b="1">
                <a:solidFill>
                  <a:srgbClr val="0B2A4A"/>
                </a:solidFill>
                <a:latin typeface="Arial"/>
              </a:rPr>
              <a:t>A browser extension fires a Partnerize click</a:t>
            </a:r>
          </a:p>
        </p:txBody>
      </p:sp>
      <p:sp>
        <p:nvSpPr>
          <p:cNvPr id="14" name="Rounded Rectangle 13"/>
          <p:cNvSpPr/>
          <p:nvPr/>
        </p:nvSpPr>
        <p:spPr>
          <a:xfrm>
            <a:off x="777240" y="2807208"/>
            <a:ext cx="3088538" cy="347472"/>
          </a:xfrm>
          <a:prstGeom prst="roundRect">
            <a:avLst>
              <a:gd name="adj" fmla="val 20000"/>
            </a:avLst>
          </a:prstGeom>
          <a:solidFill>
            <a:srgbClr val="FFFFFF"/>
          </a:solidFill>
          <a:ln w="9525">
            <a:solidFill>
              <a:srgbClr val="D6DDE5"/>
            </a:solidFill>
          </a:ln>
        </p:spPr>
        <p:txBody>
          <a:bodyPr rtlCol="0" anchor="ctr" wrap="square" lIns="54864" rIns="54864" tIns="18288" bIns="18288">
            <a:noAutofit/>
          </a:bodyPr>
          <a:lstStyle/>
          <a:p>
            <a:pPr algn="ctr">
              <a:lnSpc>
                <a:spcPct val="110000"/>
              </a:lnSpc>
              <a:spcAft>
                <a:spcPts val="0"/>
              </a:spcAft>
            </a:pPr>
            <a:r>
              <a:rPr sz="1000" i="0" b="0">
                <a:solidFill>
                  <a:srgbClr val="1E2833"/>
                </a:solidFill>
                <a:latin typeface="Arial"/>
              </a:rPr>
              <a:t>newtab.club  ("new tab" extension)</a:t>
            </a:r>
          </a:p>
        </p:txBody>
      </p:sp>
      <p:cxnSp>
        <p:nvCxnSpPr>
          <p:cNvPr id="15" name="Connector 14"/>
          <p:cNvCxnSpPr/>
          <p:nvPr/>
        </p:nvCxnSpPr>
        <p:spPr>
          <a:xfrm>
            <a:off x="2321509" y="3172968"/>
            <a:ext cx="0" cy="146304"/>
          </a:xfrm>
          <a:prstGeom prst="line">
            <a:avLst/>
          </a:prstGeom>
          <a:ln w="12700">
            <a:solidFill>
              <a:srgbClr val="647282"/>
            </a:solidFill>
            <a:tailEnd type="triangle" w="med" len="med"/>
          </a:ln>
        </p:spPr>
      </p:cxnSp>
      <p:sp>
        <p:nvSpPr>
          <p:cNvPr id="16" name="Rounded Rectangle 15"/>
          <p:cNvSpPr/>
          <p:nvPr/>
        </p:nvSpPr>
        <p:spPr>
          <a:xfrm>
            <a:off x="777240" y="3337560"/>
            <a:ext cx="3088538" cy="347472"/>
          </a:xfrm>
          <a:prstGeom prst="roundRect">
            <a:avLst>
              <a:gd name="adj" fmla="val 20000"/>
            </a:avLst>
          </a:prstGeom>
          <a:solidFill>
            <a:srgbClr val="FFFFFF"/>
          </a:solidFill>
          <a:ln w="9525">
            <a:solidFill>
              <a:srgbClr val="D6DDE5"/>
            </a:solidFill>
          </a:ln>
        </p:spPr>
        <p:txBody>
          <a:bodyPr rtlCol="0" anchor="ctr" wrap="square" lIns="54864" rIns="54864" tIns="18288" bIns="18288">
            <a:noAutofit/>
          </a:bodyPr>
          <a:lstStyle/>
          <a:p>
            <a:pPr algn="ctr">
              <a:lnSpc>
                <a:spcPct val="110000"/>
              </a:lnSpc>
              <a:spcAft>
                <a:spcPts val="0"/>
              </a:spcAft>
            </a:pPr>
            <a:r>
              <a:rPr sz="1000" i="0" b="0">
                <a:solidFill>
                  <a:srgbClr val="1E2833"/>
                </a:solidFill>
                <a:latin typeface="Arial"/>
              </a:rPr>
              <a:t>tatrck.com/clickGate</a:t>
            </a:r>
          </a:p>
        </p:txBody>
      </p:sp>
      <p:cxnSp>
        <p:nvCxnSpPr>
          <p:cNvPr id="17" name="Connector 16"/>
          <p:cNvCxnSpPr/>
          <p:nvPr/>
        </p:nvCxnSpPr>
        <p:spPr>
          <a:xfrm>
            <a:off x="2321509" y="3703320"/>
            <a:ext cx="0" cy="146304"/>
          </a:xfrm>
          <a:prstGeom prst="line">
            <a:avLst/>
          </a:prstGeom>
          <a:ln w="12700">
            <a:solidFill>
              <a:srgbClr val="647282"/>
            </a:solidFill>
            <a:tailEnd type="triangle" w="med" len="med"/>
          </a:ln>
        </p:spPr>
      </p:cxnSp>
      <p:sp>
        <p:nvSpPr>
          <p:cNvPr id="18" name="Rounded Rectangle 17"/>
          <p:cNvSpPr/>
          <p:nvPr/>
        </p:nvSpPr>
        <p:spPr>
          <a:xfrm>
            <a:off x="777240" y="3867912"/>
            <a:ext cx="3088538" cy="347472"/>
          </a:xfrm>
          <a:prstGeom prst="roundRect">
            <a:avLst>
              <a:gd name="adj" fmla="val 20000"/>
            </a:avLst>
          </a:prstGeom>
          <a:solidFill>
            <a:srgbClr val="FFFFFF"/>
          </a:solidFill>
          <a:ln w="9525">
            <a:solidFill>
              <a:srgbClr val="D6DDE5"/>
            </a:solidFill>
          </a:ln>
        </p:spPr>
        <p:txBody>
          <a:bodyPr rtlCol="0" anchor="ctr" wrap="square" lIns="54864" rIns="54864" tIns="18288" bIns="18288">
            <a:noAutofit/>
          </a:bodyPr>
          <a:lstStyle/>
          <a:p>
            <a:pPr algn="ctr">
              <a:lnSpc>
                <a:spcPct val="110000"/>
              </a:lnSpc>
              <a:spcAft>
                <a:spcPts val="0"/>
              </a:spcAft>
            </a:pPr>
            <a:r>
              <a:rPr sz="1000" i="0" b="0">
                <a:solidFill>
                  <a:srgbClr val="1E2833"/>
                </a:solidFill>
                <a:latin typeface="Arial"/>
              </a:rPr>
              <a:t>saatva.prf.hn click · camref:1011laqH9</a:t>
            </a:r>
          </a:p>
        </p:txBody>
      </p:sp>
      <p:cxnSp>
        <p:nvCxnSpPr>
          <p:cNvPr id="19" name="Connector 18"/>
          <p:cNvCxnSpPr/>
          <p:nvPr/>
        </p:nvCxnSpPr>
        <p:spPr>
          <a:xfrm>
            <a:off x="2321509" y="4233672"/>
            <a:ext cx="0" cy="146304"/>
          </a:xfrm>
          <a:prstGeom prst="line">
            <a:avLst/>
          </a:prstGeom>
          <a:ln w="12700">
            <a:solidFill>
              <a:srgbClr val="647282"/>
            </a:solidFill>
            <a:tailEnd type="triangle" w="med" len="med"/>
          </a:ln>
        </p:spPr>
      </p:cxnSp>
      <p:sp>
        <p:nvSpPr>
          <p:cNvPr id="20" name="Rounded Rectangle 19"/>
          <p:cNvSpPr/>
          <p:nvPr/>
        </p:nvSpPr>
        <p:spPr>
          <a:xfrm>
            <a:off x="777240" y="4398264"/>
            <a:ext cx="3088538" cy="347472"/>
          </a:xfrm>
          <a:prstGeom prst="roundRect">
            <a:avLst>
              <a:gd name="adj" fmla="val 20000"/>
            </a:avLst>
          </a:prstGeom>
          <a:solidFill>
            <a:srgbClr val="FFF1E5"/>
          </a:solidFill>
          <a:ln w="9525">
            <a:solidFill>
              <a:srgbClr val="FF9438"/>
            </a:solidFill>
          </a:ln>
        </p:spPr>
        <p:txBody>
          <a:bodyPr rtlCol="0" anchor="ctr" wrap="square" lIns="54864" rIns="54864" tIns="18288" bIns="18288">
            <a:noAutofit/>
          </a:bodyPr>
          <a:lstStyle/>
          <a:p>
            <a:pPr algn="ctr">
              <a:lnSpc>
                <a:spcPct val="110000"/>
              </a:lnSpc>
              <a:spcAft>
                <a:spcPts val="0"/>
              </a:spcAft>
            </a:pPr>
            <a:r>
              <a:rPr sz="1000" i="0" b="1">
                <a:solidFill>
                  <a:srgbClr val="C9620E"/>
                </a:solidFill>
                <a:latin typeface="Arial"/>
              </a:rPr>
              <a:t>×  saatva.com never loads</a:t>
            </a:r>
          </a:p>
        </p:txBody>
      </p:sp>
      <p:sp>
        <p:nvSpPr>
          <p:cNvPr id="21" name="TextBox 20"/>
          <p:cNvSpPr txBox="1"/>
          <p:nvPr/>
        </p:nvSpPr>
        <p:spPr>
          <a:xfrm>
            <a:off x="731520" y="4892040"/>
            <a:ext cx="3179978" cy="822960"/>
          </a:xfrm>
          <a:prstGeom prst="rect">
            <a:avLst/>
          </a:prstGeom>
          <a:noFill/>
        </p:spPr>
        <p:txBody>
          <a:bodyPr wrap="square" lIns="0" rIns="0" tIns="0" bIns="0" anchor="t">
            <a:noAutofit/>
          </a:bodyPr>
          <a:lstStyle/>
          <a:p>
            <a:pPr algn="l">
              <a:lnSpc>
                <a:spcPct val="108000"/>
              </a:lnSpc>
              <a:spcAft>
                <a:spcPts val="0"/>
              </a:spcAft>
            </a:pPr>
            <a:r>
              <a:rPr sz="1050" i="0" b="0">
                <a:solidFill>
                  <a:srgbClr val="1E2833"/>
                </a:solidFill>
                <a:latin typeface="Arial"/>
              </a:rPr>
              <a:t>At that moment the user was browsing Sleep Number. If they buy from Saatva within the cookie window, the extension takes the commission.</a:t>
            </a:r>
          </a:p>
        </p:txBody>
      </p:sp>
      <p:sp>
        <p:nvSpPr>
          <p:cNvPr id="22" name="TextBox 21"/>
          <p:cNvSpPr txBox="1"/>
          <p:nvPr/>
        </p:nvSpPr>
        <p:spPr>
          <a:xfrm>
            <a:off x="731520" y="5733288"/>
            <a:ext cx="3179978" cy="457200"/>
          </a:xfrm>
          <a:prstGeom prst="rect">
            <a:avLst/>
          </a:prstGeom>
          <a:noFill/>
        </p:spPr>
        <p:txBody>
          <a:bodyPr wrap="square" lIns="0" rIns="0" tIns="0" bIns="0" anchor="t">
            <a:noAutofit/>
          </a:bodyPr>
          <a:lstStyle/>
          <a:p>
            <a:pPr algn="l">
              <a:lnSpc>
                <a:spcPct val="106000"/>
              </a:lnSpc>
              <a:spcAft>
                <a:spcPts val="0"/>
              </a:spcAft>
            </a:pPr>
            <a:r>
              <a:rPr sz="1050" i="0" b="1">
                <a:solidFill>
                  <a:srgbClr val="0B2A4A"/>
                </a:solidFill>
                <a:latin typeface="Arial"/>
              </a:rPr>
              <a:t>Action:</a:t>
            </a:r>
            <a:r>
              <a:rPr sz="1050" i="0" b="0">
                <a:solidFill>
                  <a:srgbClr val="1E2833"/>
                </a:solidFill>
                <a:latin typeface="Arial"/>
              </a:rPr>
              <a:t> Reconcile Partnerize clicks with saatva.com landings; reverse and block the source.</a:t>
            </a:r>
          </a:p>
        </p:txBody>
      </p:sp>
      <p:sp>
        <p:nvSpPr>
          <p:cNvPr id="23" name="Rectangle 22"/>
          <p:cNvSpPr/>
          <p:nvPr/>
        </p:nvSpPr>
        <p:spPr>
          <a:xfrm>
            <a:off x="4322978" y="1691640"/>
            <a:ext cx="3545738" cy="4553712"/>
          </a:xfrm>
          <a:prstGeom prst="rect">
            <a:avLst/>
          </a:prstGeom>
          <a:solidFill>
            <a:srgbClr val="F3F6F9"/>
          </a:solidFill>
          <a:ln>
            <a:noFill/>
          </a:ln>
        </p:spPr>
        <p:txBody>
          <a:bodyPr rtlCol="0" anchor="ctr"/>
          <a:lstStyle/>
          <a:p>
            <a:pPr algn="ctr"/>
          </a:p>
        </p:txBody>
      </p:sp>
      <p:sp>
        <p:nvSpPr>
          <p:cNvPr id="24" name="Rectangle 23"/>
          <p:cNvSpPr/>
          <p:nvPr/>
        </p:nvSpPr>
        <p:spPr>
          <a:xfrm>
            <a:off x="4322978" y="1691640"/>
            <a:ext cx="3545738" cy="365760"/>
          </a:xfrm>
          <a:prstGeom prst="rect">
            <a:avLst/>
          </a:prstGeom>
          <a:solidFill>
            <a:srgbClr val="FFF1E5"/>
          </a:solidFill>
          <a:ln>
            <a:noFill/>
          </a:ln>
        </p:spPr>
        <p:txBody>
          <a:bodyPr rtlCol="0" anchor="ctr" wrap="square" lIns="164592" rIns="164592" tIns="18288" bIns="18288">
            <a:noAutofit/>
          </a:bodyPr>
          <a:lstStyle/>
          <a:p>
            <a:pPr algn="l">
              <a:lnSpc>
                <a:spcPct val="110000"/>
              </a:lnSpc>
              <a:spcAft>
                <a:spcPts val="0"/>
              </a:spcAft>
            </a:pPr>
            <a:r>
              <a:rPr sz="1000" i="0" b="1" spc="120">
                <a:solidFill>
                  <a:srgbClr val="C9620E"/>
                </a:solidFill>
                <a:latin typeface="Arial"/>
              </a:rPr>
              <a:t>UNDECLARED PAID SEARCH</a:t>
            </a:r>
          </a:p>
        </p:txBody>
      </p:sp>
      <p:sp>
        <p:nvSpPr>
          <p:cNvPr id="25" name="TextBox 24"/>
          <p:cNvSpPr txBox="1"/>
          <p:nvPr/>
        </p:nvSpPr>
        <p:spPr>
          <a:xfrm>
            <a:off x="4505858" y="2194560"/>
            <a:ext cx="3179978" cy="502920"/>
          </a:xfrm>
          <a:prstGeom prst="rect">
            <a:avLst/>
          </a:prstGeom>
          <a:noFill/>
        </p:spPr>
        <p:txBody>
          <a:bodyPr wrap="square" lIns="0" rIns="0" tIns="0" bIns="0" anchor="t">
            <a:noAutofit/>
          </a:bodyPr>
          <a:lstStyle/>
          <a:p>
            <a:pPr algn="l">
              <a:lnSpc>
                <a:spcPct val="102000"/>
              </a:lnSpc>
              <a:spcAft>
                <a:spcPts val="0"/>
              </a:spcAft>
            </a:pPr>
            <a:r>
              <a:rPr sz="1300" i="0" b="1">
                <a:solidFill>
                  <a:srgbClr val="0B2A4A"/>
                </a:solidFill>
                <a:latin typeface="Arial"/>
              </a:rPr>
              <a:t>An "email" publisher's click comes from a Google ad</a:t>
            </a:r>
          </a:p>
        </p:txBody>
      </p:sp>
      <p:sp>
        <p:nvSpPr>
          <p:cNvPr id="26" name="Rounded Rectangle 25"/>
          <p:cNvSpPr/>
          <p:nvPr/>
        </p:nvSpPr>
        <p:spPr>
          <a:xfrm>
            <a:off x="4551578" y="2807208"/>
            <a:ext cx="3088538" cy="347472"/>
          </a:xfrm>
          <a:prstGeom prst="roundRect">
            <a:avLst>
              <a:gd name="adj" fmla="val 20000"/>
            </a:avLst>
          </a:prstGeom>
          <a:solidFill>
            <a:srgbClr val="FFFFFF"/>
          </a:solidFill>
          <a:ln w="9525">
            <a:solidFill>
              <a:srgbClr val="D6DDE5"/>
            </a:solidFill>
          </a:ln>
        </p:spPr>
        <p:txBody>
          <a:bodyPr rtlCol="0" anchor="ctr" wrap="square" lIns="54864" rIns="54864" tIns="18288" bIns="18288">
            <a:noAutofit/>
          </a:bodyPr>
          <a:lstStyle/>
          <a:p>
            <a:pPr algn="ctr">
              <a:lnSpc>
                <a:spcPct val="110000"/>
              </a:lnSpc>
              <a:spcAft>
                <a:spcPts val="0"/>
              </a:spcAft>
            </a:pPr>
            <a:r>
              <a:rPr sz="1000" i="0" b="0">
                <a:solidFill>
                  <a:srgbClr val="1E2833"/>
                </a:solidFill>
                <a:latin typeface="Arial"/>
              </a:rPr>
              <a:t>Google ad  (gad_source=1)</a:t>
            </a:r>
          </a:p>
        </p:txBody>
      </p:sp>
      <p:cxnSp>
        <p:nvCxnSpPr>
          <p:cNvPr id="27" name="Connector 26"/>
          <p:cNvCxnSpPr/>
          <p:nvPr/>
        </p:nvCxnSpPr>
        <p:spPr>
          <a:xfrm>
            <a:off x="6095847" y="3172968"/>
            <a:ext cx="0" cy="146304"/>
          </a:xfrm>
          <a:prstGeom prst="line">
            <a:avLst/>
          </a:prstGeom>
          <a:ln w="12700">
            <a:solidFill>
              <a:srgbClr val="647282"/>
            </a:solidFill>
            <a:tailEnd type="triangle" w="med" len="med"/>
          </a:ln>
        </p:spPr>
      </p:cxnSp>
      <p:sp>
        <p:nvSpPr>
          <p:cNvPr id="28" name="Rounded Rectangle 27"/>
          <p:cNvSpPr/>
          <p:nvPr/>
        </p:nvSpPr>
        <p:spPr>
          <a:xfrm>
            <a:off x="4551578" y="3337560"/>
            <a:ext cx="3088538" cy="347472"/>
          </a:xfrm>
          <a:prstGeom prst="roundRect">
            <a:avLst>
              <a:gd name="adj" fmla="val 20000"/>
            </a:avLst>
          </a:prstGeom>
          <a:solidFill>
            <a:srgbClr val="FFFFFF"/>
          </a:solidFill>
          <a:ln w="9525">
            <a:solidFill>
              <a:srgbClr val="D6DDE5"/>
            </a:solidFill>
          </a:ln>
        </p:spPr>
        <p:txBody>
          <a:bodyPr rtlCol="0" anchor="ctr" wrap="square" lIns="54864" rIns="54864" tIns="18288" bIns="18288">
            <a:noAutofit/>
          </a:bodyPr>
          <a:lstStyle/>
          <a:p>
            <a:pPr algn="ctr">
              <a:lnSpc>
                <a:spcPct val="110000"/>
              </a:lnSpc>
              <a:spcAft>
                <a:spcPts val="0"/>
              </a:spcAft>
            </a:pPr>
            <a:r>
              <a:rPr sz="1000" i="0" b="0">
                <a:solidFill>
                  <a:srgbClr val="1E2833"/>
                </a:solidFill>
                <a:latin typeface="Arial"/>
              </a:rPr>
              <a:t>brandxemail affiliate click</a:t>
            </a:r>
          </a:p>
        </p:txBody>
      </p:sp>
      <p:cxnSp>
        <p:nvCxnSpPr>
          <p:cNvPr id="29" name="Connector 28"/>
          <p:cNvCxnSpPr/>
          <p:nvPr/>
        </p:nvCxnSpPr>
        <p:spPr>
          <a:xfrm>
            <a:off x="6095847" y="3703320"/>
            <a:ext cx="0" cy="146304"/>
          </a:xfrm>
          <a:prstGeom prst="line">
            <a:avLst/>
          </a:prstGeom>
          <a:ln w="12700">
            <a:solidFill>
              <a:srgbClr val="647282"/>
            </a:solidFill>
            <a:tailEnd type="triangle" w="med" len="med"/>
          </a:ln>
        </p:spPr>
      </p:cxnSp>
      <p:sp>
        <p:nvSpPr>
          <p:cNvPr id="30" name="Rounded Rectangle 29"/>
          <p:cNvSpPr/>
          <p:nvPr/>
        </p:nvSpPr>
        <p:spPr>
          <a:xfrm>
            <a:off x="4551578" y="3867912"/>
            <a:ext cx="3088538" cy="347472"/>
          </a:xfrm>
          <a:prstGeom prst="roundRect">
            <a:avLst>
              <a:gd name="adj" fmla="val 20000"/>
            </a:avLst>
          </a:prstGeom>
          <a:solidFill>
            <a:srgbClr val="FFF1E5"/>
          </a:solidFill>
          <a:ln>
            <a:noFill/>
          </a:ln>
        </p:spPr>
        <p:txBody>
          <a:bodyPr rtlCol="0" anchor="ctr" wrap="square" lIns="54864" rIns="54864" tIns="18288" bIns="18288">
            <a:noAutofit/>
          </a:bodyPr>
          <a:lstStyle/>
          <a:p>
            <a:pPr algn="ctr">
              <a:lnSpc>
                <a:spcPct val="110000"/>
              </a:lnSpc>
              <a:spcAft>
                <a:spcPts val="0"/>
              </a:spcAft>
            </a:pPr>
            <a:r>
              <a:rPr sz="1000" i="0" b="1">
                <a:solidFill>
                  <a:srgbClr val="C9620E"/>
                </a:solidFill>
                <a:latin typeface="Arial"/>
              </a:rPr>
              <a:t>saatva.com/sale + auto-applied coupon</a:t>
            </a:r>
          </a:p>
        </p:txBody>
      </p:sp>
      <p:sp>
        <p:nvSpPr>
          <p:cNvPr id="31" name="TextBox 30"/>
          <p:cNvSpPr txBox="1"/>
          <p:nvPr/>
        </p:nvSpPr>
        <p:spPr>
          <a:xfrm>
            <a:off x="4505858" y="4892040"/>
            <a:ext cx="3179978" cy="822960"/>
          </a:xfrm>
          <a:prstGeom prst="rect">
            <a:avLst/>
          </a:prstGeom>
          <a:noFill/>
        </p:spPr>
        <p:txBody>
          <a:bodyPr wrap="square" lIns="0" rIns="0" tIns="0" bIns="0" anchor="t">
            <a:noAutofit/>
          </a:bodyPr>
          <a:lstStyle/>
          <a:p>
            <a:pPr algn="l">
              <a:lnSpc>
                <a:spcPct val="108000"/>
              </a:lnSpc>
              <a:spcAft>
                <a:spcPts val="0"/>
              </a:spcAft>
            </a:pPr>
            <a:r>
              <a:rPr sz="1050" i="0" b="0">
                <a:solidFill>
                  <a:srgbClr val="1E2833"/>
                </a:solidFill>
                <a:latin typeface="Arial"/>
              </a:rPr>
              <a:t>The declared method is email, but the traffic came from paid search, where it may compete with Saatva's own brand ads.</a:t>
            </a:r>
          </a:p>
        </p:txBody>
      </p:sp>
      <p:sp>
        <p:nvSpPr>
          <p:cNvPr id="32" name="TextBox 31"/>
          <p:cNvSpPr txBox="1"/>
          <p:nvPr/>
        </p:nvSpPr>
        <p:spPr>
          <a:xfrm>
            <a:off x="4505858" y="5733288"/>
            <a:ext cx="3179978" cy="457200"/>
          </a:xfrm>
          <a:prstGeom prst="rect">
            <a:avLst/>
          </a:prstGeom>
          <a:noFill/>
        </p:spPr>
        <p:txBody>
          <a:bodyPr wrap="square" lIns="0" rIns="0" tIns="0" bIns="0" anchor="t">
            <a:noAutofit/>
          </a:bodyPr>
          <a:lstStyle/>
          <a:p>
            <a:pPr algn="l">
              <a:lnSpc>
                <a:spcPct val="106000"/>
              </a:lnSpc>
              <a:spcAft>
                <a:spcPts val="0"/>
              </a:spcAft>
            </a:pPr>
            <a:r>
              <a:rPr sz="1050" i="0" b="1">
                <a:solidFill>
                  <a:srgbClr val="0B2A4A"/>
                </a:solidFill>
                <a:latin typeface="Arial"/>
              </a:rPr>
              <a:t>Action:</a:t>
            </a:r>
            <a:r>
              <a:rPr sz="1050" i="0" b="0">
                <a:solidFill>
                  <a:srgbClr val="1E2833"/>
                </a:solidFill>
                <a:latin typeface="Arial"/>
              </a:rPr>
              <a:t> Check it against the PPC and trademark terms; require declared traffic sources.</a:t>
            </a:r>
          </a:p>
        </p:txBody>
      </p:sp>
      <p:sp>
        <p:nvSpPr>
          <p:cNvPr id="33" name="Rectangle 32"/>
          <p:cNvSpPr/>
          <p:nvPr/>
        </p:nvSpPr>
        <p:spPr>
          <a:xfrm>
            <a:off x="8097316" y="1691640"/>
            <a:ext cx="3545738" cy="4553712"/>
          </a:xfrm>
          <a:prstGeom prst="rect">
            <a:avLst/>
          </a:prstGeom>
          <a:solidFill>
            <a:srgbClr val="F3F6F9"/>
          </a:solidFill>
          <a:ln>
            <a:noFill/>
          </a:ln>
        </p:spPr>
        <p:txBody>
          <a:bodyPr rtlCol="0" anchor="ctr"/>
          <a:lstStyle/>
          <a:p>
            <a:pPr algn="ctr"/>
          </a:p>
        </p:txBody>
      </p:sp>
      <p:sp>
        <p:nvSpPr>
          <p:cNvPr id="34" name="Rectangle 33"/>
          <p:cNvSpPr/>
          <p:nvPr/>
        </p:nvSpPr>
        <p:spPr>
          <a:xfrm>
            <a:off x="8097316" y="1691640"/>
            <a:ext cx="3545738" cy="365760"/>
          </a:xfrm>
          <a:prstGeom prst="rect">
            <a:avLst/>
          </a:prstGeom>
          <a:solidFill>
            <a:srgbClr val="EAF2FE"/>
          </a:solidFill>
          <a:ln>
            <a:noFill/>
          </a:ln>
        </p:spPr>
        <p:txBody>
          <a:bodyPr rtlCol="0" anchor="ctr" wrap="square" lIns="164592" rIns="164592" tIns="18288" bIns="18288">
            <a:noAutofit/>
          </a:bodyPr>
          <a:lstStyle/>
          <a:p>
            <a:pPr algn="l">
              <a:lnSpc>
                <a:spcPct val="110000"/>
              </a:lnSpc>
              <a:spcAft>
                <a:spcPts val="0"/>
              </a:spcAft>
            </a:pPr>
            <a:r>
              <a:rPr sz="1000" i="0" b="1" spc="120">
                <a:solidFill>
                  <a:srgbClr val="006BA1"/>
                </a:solidFill>
                <a:latin typeface="Arial"/>
              </a:rPr>
              <a:t>REVIEW BEFORE ACTING</a:t>
            </a:r>
          </a:p>
        </p:txBody>
      </p:sp>
      <p:sp>
        <p:nvSpPr>
          <p:cNvPr id="35" name="TextBox 34"/>
          <p:cNvSpPr txBox="1"/>
          <p:nvPr/>
        </p:nvSpPr>
        <p:spPr>
          <a:xfrm>
            <a:off x="8280196" y="2194560"/>
            <a:ext cx="3179978" cy="502920"/>
          </a:xfrm>
          <a:prstGeom prst="rect">
            <a:avLst/>
          </a:prstGeom>
          <a:noFill/>
        </p:spPr>
        <p:txBody>
          <a:bodyPr wrap="square" lIns="0" rIns="0" tIns="0" bIns="0" anchor="t">
            <a:noAutofit/>
          </a:bodyPr>
          <a:lstStyle/>
          <a:p>
            <a:pPr algn="l">
              <a:lnSpc>
                <a:spcPct val="102000"/>
              </a:lnSpc>
              <a:spcAft>
                <a:spcPts val="0"/>
              </a:spcAft>
            </a:pPr>
            <a:r>
              <a:rPr sz="1300" i="0" b="1">
                <a:solidFill>
                  <a:srgbClr val="0B2A4A"/>
                </a:solidFill>
                <a:latin typeface="Arial"/>
              </a:rPr>
              <a:t>A paid-search listicle sends one user to 6 brands</a:t>
            </a:r>
          </a:p>
        </p:txBody>
      </p:sp>
      <p:sp>
        <p:nvSpPr>
          <p:cNvPr id="36" name="Rounded Rectangle 35"/>
          <p:cNvSpPr/>
          <p:nvPr/>
        </p:nvSpPr>
        <p:spPr>
          <a:xfrm>
            <a:off x="8325916" y="2807208"/>
            <a:ext cx="3088538" cy="347472"/>
          </a:xfrm>
          <a:prstGeom prst="roundRect">
            <a:avLst>
              <a:gd name="adj" fmla="val 20000"/>
            </a:avLst>
          </a:prstGeom>
          <a:solidFill>
            <a:srgbClr val="FFFFFF"/>
          </a:solidFill>
          <a:ln w="9525">
            <a:solidFill>
              <a:srgbClr val="D6DDE5"/>
            </a:solidFill>
          </a:ln>
        </p:spPr>
        <p:txBody>
          <a:bodyPr rtlCol="0" anchor="ctr" wrap="square" lIns="54864" rIns="54864" tIns="18288" bIns="18288">
            <a:noAutofit/>
          </a:bodyPr>
          <a:lstStyle/>
          <a:p>
            <a:pPr algn="ctr">
              <a:lnSpc>
                <a:spcPct val="110000"/>
              </a:lnSpc>
              <a:spcAft>
                <a:spcPts val="0"/>
              </a:spcAft>
            </a:pPr>
            <a:r>
              <a:rPr sz="1000" i="0" b="0">
                <a:solidFill>
                  <a:srgbClr val="1E2833"/>
                </a:solidFill>
                <a:latin typeface="Arial"/>
              </a:rPr>
              <a:t>Search ad</a:t>
            </a:r>
          </a:p>
        </p:txBody>
      </p:sp>
      <p:cxnSp>
        <p:nvCxnSpPr>
          <p:cNvPr id="37" name="Connector 36"/>
          <p:cNvCxnSpPr/>
          <p:nvPr/>
        </p:nvCxnSpPr>
        <p:spPr>
          <a:xfrm>
            <a:off x="9870185" y="3172968"/>
            <a:ext cx="0" cy="146304"/>
          </a:xfrm>
          <a:prstGeom prst="line">
            <a:avLst/>
          </a:prstGeom>
          <a:ln w="12700">
            <a:solidFill>
              <a:srgbClr val="647282"/>
            </a:solidFill>
            <a:tailEnd type="triangle" w="med" len="med"/>
          </a:ln>
        </p:spPr>
      </p:cxnSp>
      <p:sp>
        <p:nvSpPr>
          <p:cNvPr id="38" name="Rounded Rectangle 37"/>
          <p:cNvSpPr/>
          <p:nvPr/>
        </p:nvSpPr>
        <p:spPr>
          <a:xfrm>
            <a:off x="8325916" y="3337560"/>
            <a:ext cx="3088538" cy="347472"/>
          </a:xfrm>
          <a:prstGeom prst="roundRect">
            <a:avLst>
              <a:gd name="adj" fmla="val 20000"/>
            </a:avLst>
          </a:prstGeom>
          <a:solidFill>
            <a:srgbClr val="FFFFFF"/>
          </a:solidFill>
          <a:ln w="9525">
            <a:solidFill>
              <a:srgbClr val="D6DDE5"/>
            </a:solidFill>
          </a:ln>
        </p:spPr>
        <p:txBody>
          <a:bodyPr rtlCol="0" anchor="ctr" wrap="square" lIns="54864" rIns="54864" tIns="18288" bIns="18288">
            <a:noAutofit/>
          </a:bodyPr>
          <a:lstStyle/>
          <a:p>
            <a:pPr algn="ctr">
              <a:lnSpc>
                <a:spcPct val="110000"/>
              </a:lnSpc>
              <a:spcAft>
                <a:spcPts val="0"/>
              </a:spcAft>
            </a:pPr>
            <a:r>
              <a:rPr sz="1000" i="0" b="0">
                <a:solidFill>
                  <a:srgbClr val="1E2833"/>
                </a:solidFill>
                <a:latin typeface="Arial"/>
              </a:rPr>
              <a:t>TrafficPoint listicle</a:t>
            </a:r>
          </a:p>
        </p:txBody>
      </p:sp>
      <p:cxnSp>
        <p:nvCxnSpPr>
          <p:cNvPr id="39" name="Connector 38"/>
          <p:cNvCxnSpPr/>
          <p:nvPr/>
        </p:nvCxnSpPr>
        <p:spPr>
          <a:xfrm>
            <a:off x="9870185" y="3703320"/>
            <a:ext cx="0" cy="146304"/>
          </a:xfrm>
          <a:prstGeom prst="line">
            <a:avLst/>
          </a:prstGeom>
          <a:ln w="12700">
            <a:solidFill>
              <a:srgbClr val="647282"/>
            </a:solidFill>
            <a:tailEnd type="triangle" w="med" len="med"/>
          </a:ln>
        </p:spPr>
      </p:cxnSp>
      <p:sp>
        <p:nvSpPr>
          <p:cNvPr id="40" name="Rounded Rectangle 39"/>
          <p:cNvSpPr/>
          <p:nvPr/>
        </p:nvSpPr>
        <p:spPr>
          <a:xfrm>
            <a:off x="8325916" y="3867912"/>
            <a:ext cx="3088538" cy="347472"/>
          </a:xfrm>
          <a:prstGeom prst="roundRect">
            <a:avLst>
              <a:gd name="adj" fmla="val 20000"/>
            </a:avLst>
          </a:prstGeom>
          <a:solidFill>
            <a:srgbClr val="EAF2FE"/>
          </a:solidFill>
          <a:ln>
            <a:noFill/>
          </a:ln>
        </p:spPr>
        <p:txBody>
          <a:bodyPr rtlCol="0" anchor="ctr" wrap="square" lIns="54864" rIns="54864" tIns="18288" bIns="18288">
            <a:noAutofit/>
          </a:bodyPr>
          <a:lstStyle/>
          <a:p>
            <a:pPr algn="ctr">
              <a:lnSpc>
                <a:spcPct val="110000"/>
              </a:lnSpc>
              <a:spcAft>
                <a:spcPts val="0"/>
              </a:spcAft>
            </a:pPr>
            <a:r>
              <a:rPr sz="1000" i="0" b="1">
                <a:solidFill>
                  <a:srgbClr val="006BA1"/>
                </a:solidFill>
                <a:latin typeface="Arial"/>
              </a:rPr>
              <a:t>6 brands, 7 landings in about a minute</a:t>
            </a:r>
          </a:p>
        </p:txBody>
      </p:sp>
      <p:sp>
        <p:nvSpPr>
          <p:cNvPr id="41" name="TextBox 40"/>
          <p:cNvSpPr txBox="1"/>
          <p:nvPr/>
        </p:nvSpPr>
        <p:spPr>
          <a:xfrm>
            <a:off x="8280196" y="4892040"/>
            <a:ext cx="3179978" cy="822960"/>
          </a:xfrm>
          <a:prstGeom prst="rect">
            <a:avLst/>
          </a:prstGeom>
          <a:noFill/>
        </p:spPr>
        <p:txBody>
          <a:bodyPr wrap="square" lIns="0" rIns="0" tIns="0" bIns="0" anchor="t">
            <a:noAutofit/>
          </a:bodyPr>
          <a:lstStyle/>
          <a:p>
            <a:pPr algn="l">
              <a:lnSpc>
                <a:spcPct val="108000"/>
              </a:lnSpc>
              <a:spcAft>
                <a:spcPts val="0"/>
              </a:spcAft>
            </a:pPr>
            <a:r>
              <a:rPr sz="1050" i="0" b="0">
                <a:solidFill>
                  <a:srgbClr val="1E2833"/>
                </a:solidFill>
                <a:latin typeface="Arial"/>
              </a:rPr>
              <a:t>The user then browsed the sites, so this is not stuffing. But 9 minutes later they came back through a Google Shopping ad, likely Saatva's own: Saatva may pay twice.</a:t>
            </a:r>
          </a:p>
        </p:txBody>
      </p:sp>
      <p:sp>
        <p:nvSpPr>
          <p:cNvPr id="42" name="TextBox 41"/>
          <p:cNvSpPr txBox="1"/>
          <p:nvPr/>
        </p:nvSpPr>
        <p:spPr>
          <a:xfrm>
            <a:off x="8280196" y="5733288"/>
            <a:ext cx="3179978" cy="457200"/>
          </a:xfrm>
          <a:prstGeom prst="rect">
            <a:avLst/>
          </a:prstGeom>
          <a:noFill/>
        </p:spPr>
        <p:txBody>
          <a:bodyPr wrap="square" lIns="0" rIns="0" tIns="0" bIns="0" anchor="t">
            <a:noAutofit/>
          </a:bodyPr>
          <a:lstStyle/>
          <a:p>
            <a:pPr algn="l">
              <a:lnSpc>
                <a:spcPct val="106000"/>
              </a:lnSpc>
              <a:spcAft>
                <a:spcPts val="0"/>
              </a:spcAft>
            </a:pPr>
            <a:r>
              <a:rPr sz="1050" i="0" b="1">
                <a:solidFill>
                  <a:srgbClr val="0B2A4A"/>
                </a:solidFill>
                <a:latin typeface="Arial"/>
              </a:rPr>
              <a:t>Action:</a:t>
            </a:r>
            <a:r>
              <a:rPr sz="1050" i="0" b="0">
                <a:solidFill>
                  <a:srgbClr val="1E2833"/>
                </a:solidFill>
                <a:latin typeface="Arial"/>
              </a:rPr>
              <a:t> De-duplicate affiliate and paid-search credit before paying.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RECOMMENDATIONS: FRAUD CONTROLS</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Detect hijacking per publisher, then change the rules that make it pay</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12</a:t>
            </a:r>
          </a:p>
        </p:txBody>
      </p:sp>
      <p:sp>
        <p:nvSpPr>
          <p:cNvPr id="11" name="Rectangle 10"/>
          <p:cNvSpPr/>
          <p:nvPr/>
        </p:nvSpPr>
        <p:spPr>
          <a:xfrm>
            <a:off x="548640" y="1728216"/>
            <a:ext cx="64008" cy="219456"/>
          </a:xfrm>
          <a:prstGeom prst="rect">
            <a:avLst/>
          </a:prstGeom>
          <a:solidFill>
            <a:srgbClr val="FF9438"/>
          </a:solidFill>
          <a:ln>
            <a:noFill/>
          </a:ln>
        </p:spPr>
        <p:txBody>
          <a:bodyPr rtlCol="0" anchor="ctr"/>
          <a:lstStyle/>
          <a:p>
            <a:pPr algn="ctr"/>
          </a:p>
        </p:txBody>
      </p:sp>
      <p:sp>
        <p:nvSpPr>
          <p:cNvPr id="12" name="TextBox 11"/>
          <p:cNvSpPr txBox="1"/>
          <p:nvPr/>
        </p:nvSpPr>
        <p:spPr>
          <a:xfrm>
            <a:off x="704088" y="1691640"/>
            <a:ext cx="6519672" cy="292608"/>
          </a:xfrm>
          <a:prstGeom prst="rect">
            <a:avLst/>
          </a:prstGeom>
          <a:noFill/>
        </p:spPr>
        <p:txBody>
          <a:bodyPr wrap="square" lIns="0" rIns="0" tIns="0" bIns="0" anchor="t">
            <a:noAutofit/>
          </a:bodyPr>
          <a:lstStyle/>
          <a:p>
            <a:pPr algn="l">
              <a:lnSpc>
                <a:spcPct val="110000"/>
              </a:lnSpc>
              <a:spcAft>
                <a:spcPts val="0"/>
              </a:spcAft>
            </a:pPr>
            <a:r>
              <a:rPr sz="1300" i="0" b="1">
                <a:solidFill>
                  <a:srgbClr val="0B2A4A"/>
                </a:solidFill>
                <a:latin typeface="Arial"/>
              </a:rPr>
              <a:t>Monitor weekly, per publisher</a:t>
            </a:r>
          </a:p>
        </p:txBody>
      </p:sp>
      <p:graphicFrame>
        <p:nvGraphicFramePr>
          <p:cNvPr id="13" name="Table 12"/>
          <p:cNvGraphicFramePr>
            <a:graphicFrameLocks noGrp="1"/>
          </p:cNvGraphicFramePr>
          <p:nvPr/>
        </p:nvGraphicFramePr>
        <p:xfrm>
          <a:off x="548640" y="2103120"/>
          <a:ext cx="6675120" cy="3438144"/>
        </p:xfrm>
        <a:graphic>
          <a:graphicData uri="http://schemas.openxmlformats.org/drawingml/2006/table">
            <a:tbl>
              <a:tblPr firstRow="0" bandRow="0">
                <a:tableStyleId>{2D5ABB26-0587-4C30-8999-92F81FD0307C}</a:tableStyleId>
              </a:tblPr>
              <a:tblGrid>
                <a:gridCol w="2103120"/>
                <a:gridCol w="2331720"/>
                <a:gridCol w="2240280"/>
              </a:tblGrid>
              <a:tr h="365760">
                <a:tc>
                  <a:txBody>
                    <a:bodyPr/>
                    <a:lstStyle/>
                    <a:p>
                      <a:pPr algn="l">
                        <a:lnSpc>
                          <a:spcPct val="100000"/>
                        </a:lnSpc>
                        <a:spcAft>
                          <a:spcPts val="0"/>
                        </a:spcAft>
                      </a:pPr>
                      <a:r>
                        <a:rPr sz="950" i="0" b="1">
                          <a:solidFill>
                            <a:srgbClr val="FFFFFF"/>
                          </a:solidFill>
                          <a:latin typeface="Arial"/>
                        </a:rPr>
                        <a:t>Indicator</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950" i="0" b="1">
                          <a:solidFill>
                            <a:srgbClr val="FFFFFF"/>
                          </a:solidFill>
                          <a:latin typeface="Arial"/>
                        </a:rPr>
                        <a:t>Flag when</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950" i="0" b="1">
                          <a:solidFill>
                            <a:srgbClr val="FFFFFF"/>
                          </a:solidFill>
                          <a:latin typeface="Arial"/>
                        </a:rPr>
                        <a:t>Seen in this data</a:t>
                      </a:r>
                    </a:p>
                  </a:txBody>
                  <a:tcPr marL="73152" marR="73152" marT="27432" marB="27432" anchor="ctr">
                    <a:lnL w="0">
                      <a:noFill/>
                    </a:lnL>
                    <a:lnR w="0">
                      <a:noFill/>
                    </a:lnR>
                    <a:lnT w="0">
                      <a:noFill/>
                    </a:lnT>
                    <a:lnB w="0">
                      <a:noFill/>
                    </a:lnB>
                    <a:solidFill>
                      <a:srgbClr val="0B2A4A"/>
                    </a:solidFill>
                  </a:tcPr>
                </a:tc>
              </a:tr>
              <a:tr h="512064">
                <a:tc>
                  <a:txBody>
                    <a:bodyPr/>
                    <a:lstStyle/>
                    <a:p>
                      <a:pPr algn="l">
                        <a:lnSpc>
                          <a:spcPct val="100000"/>
                        </a:lnSpc>
                        <a:spcAft>
                          <a:spcPts val="0"/>
                        </a:spcAft>
                      </a:pPr>
                      <a:r>
                        <a:rPr sz="1000" i="0" b="1">
                          <a:solidFill>
                            <a:srgbClr val="1E2833"/>
                          </a:solidFill>
                          <a:latin typeface="Arial"/>
                        </a:rPr>
                        <a:t>Click without landing</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A Partnerize click has no saatva.com landing</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"New tab" extension (Saatva)</a:t>
                      </a:r>
                    </a:p>
                  </a:txBody>
                  <a:tcPr marL="73152" marR="73152" marT="27432" marB="27432" anchor="ctr">
                    <a:lnL w="0">
                      <a:noFill/>
                    </a:lnL>
                    <a:lnR w="0">
                      <a:noFill/>
                    </a:lnR>
                    <a:lnT w="0">
                      <a:noFill/>
                    </a:lnT>
                    <a:lnB w="9525">
                      <a:solidFill>
                        <a:srgbClr val="D6DDE5"/>
                      </a:solidFill>
                    </a:lnB>
                    <a:solidFill>
                      <a:srgbClr val="FFFFFF"/>
                    </a:solidFill>
                  </a:tcPr>
                </a:tc>
              </a:tr>
              <a:tr h="512064">
                <a:tc>
                  <a:txBody>
                    <a:bodyPr/>
                    <a:lstStyle/>
                    <a:p>
                      <a:pPr algn="l">
                        <a:lnSpc>
                          <a:spcPct val="100000"/>
                        </a:lnSpc>
                        <a:spcAft>
                          <a:spcPts val="0"/>
                        </a:spcAft>
                      </a:pPr>
                      <a:r>
                        <a:rPr sz="1000" i="0" b="1">
                          <a:solidFill>
                            <a:srgbClr val="1E2833"/>
                          </a:solidFill>
                          <a:latin typeface="Arial"/>
                        </a:rPr>
                        <a:t>Click while already on site or in cart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A publisher's share is far above the program's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Walmart: 6.7% of clicks, 50.0% of orders</a:t>
                      </a:r>
                    </a:p>
                  </a:txBody>
                  <a:tcPr marL="73152" marR="73152" marT="27432" marB="27432" anchor="ctr">
                    <a:lnL w="0">
                      <a:noFill/>
                    </a:lnL>
                    <a:lnR w="0">
                      <a:noFill/>
                    </a:lnR>
                    <a:lnT w="0">
                      <a:noFill/>
                    </a:lnT>
                    <a:lnB w="9525">
                      <a:solidFill>
                        <a:srgbClr val="D6DDE5"/>
                      </a:solidFill>
                    </a:lnB>
                    <a:solidFill>
                      <a:srgbClr val="FFFFFF"/>
                    </a:solidFill>
                  </a:tcPr>
                </a:tc>
              </a:tr>
              <a:tr h="512064">
                <a:tc>
                  <a:txBody>
                    <a:bodyPr/>
                    <a:lstStyle/>
                    <a:p>
                      <a:pPr algn="l">
                        <a:lnSpc>
                          <a:spcPct val="100000"/>
                        </a:lnSpc>
                        <a:spcAft>
                          <a:spcPts val="0"/>
                        </a:spcAft>
                      </a:pPr>
                      <a:r>
                        <a:rPr sz="1000" i="0" b="1">
                          <a:solidFill>
                            <a:srgbClr val="1E2833"/>
                          </a:solidFill>
                          <a:latin typeface="Arial"/>
                        </a:rPr>
                        <a:t>Fast click-to-order</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Median under 5 minutes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Walmart: 2.3 min after cart-stage clicks</a:t>
                      </a:r>
                    </a:p>
                  </a:txBody>
                  <a:tcPr marL="73152" marR="73152" marT="27432" marB="27432" anchor="ctr">
                    <a:lnL w="0">
                      <a:noFill/>
                    </a:lnL>
                    <a:lnR w="0">
                      <a:noFill/>
                    </a:lnR>
                    <a:lnT w="0">
                      <a:noFill/>
                    </a:lnT>
                    <a:lnB w="9525">
                      <a:solidFill>
                        <a:srgbClr val="D6DDE5"/>
                      </a:solidFill>
                    </a:lnB>
                    <a:solidFill>
                      <a:srgbClr val="FFFFFF"/>
                    </a:solidFill>
                  </a:tcPr>
                </a:tc>
              </a:tr>
              <a:tr h="512064">
                <a:tc>
                  <a:txBody>
                    <a:bodyPr/>
                    <a:lstStyle/>
                    <a:p>
                      <a:pPr algn="l">
                        <a:lnSpc>
                          <a:spcPct val="100000"/>
                        </a:lnSpc>
                        <a:spcAft>
                          <a:spcPts val="0"/>
                        </a:spcAft>
                      </a:pPr>
                      <a:r>
                        <a:rPr sz="1000" i="0" b="1">
                          <a:solidFill>
                            <a:srgbClr val="1E2833"/>
                          </a:solidFill>
                          <a:latin typeface="Arial"/>
                        </a:rPr>
                        <a:t>Ad click ids on affiliate landings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gclid or gad_source on the landing URL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brandxemail (Saatva)</a:t>
                      </a:r>
                    </a:p>
                  </a:txBody>
                  <a:tcPr marL="73152" marR="73152" marT="27432" marB="27432" anchor="ctr">
                    <a:lnL w="0">
                      <a:noFill/>
                    </a:lnL>
                    <a:lnR w="0">
                      <a:noFill/>
                    </a:lnR>
                    <a:lnT w="0">
                      <a:noFill/>
                    </a:lnT>
                    <a:lnB w="9525">
                      <a:solidFill>
                        <a:srgbClr val="D6DDE5"/>
                      </a:solidFill>
                    </a:lnB>
                    <a:solidFill>
                      <a:srgbClr val="FFFFFF"/>
                    </a:solidFill>
                  </a:tcPr>
                </a:tc>
              </a:tr>
              <a:tr h="512064">
                <a:tc>
                  <a:txBody>
                    <a:bodyPr/>
                    <a:lstStyle/>
                    <a:p>
                      <a:pPr algn="l">
                        <a:lnSpc>
                          <a:spcPct val="100000"/>
                        </a:lnSpc>
                        <a:spcAft>
                          <a:spcPts val="0"/>
                        </a:spcAft>
                      </a:pPr>
                      <a:r>
                        <a:rPr sz="1000" i="0" b="1">
                          <a:solidFill>
                            <a:srgbClr val="1E2833"/>
                          </a:solidFill>
                          <a:latin typeface="Arial"/>
                        </a:rPr>
                        <a:t>Declared vs actual source</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The promotion method doesn't match the referrers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brandxemail: "email", via a Google ad</a:t>
                      </a:r>
                    </a:p>
                  </a:txBody>
                  <a:tcPr marL="73152" marR="73152" marT="27432" marB="27432" anchor="ctr">
                    <a:lnL w="0">
                      <a:noFill/>
                    </a:lnL>
                    <a:lnR w="0">
                      <a:noFill/>
                    </a:lnR>
                    <a:lnT w="0">
                      <a:noFill/>
                    </a:lnT>
                    <a:lnB w="9525">
                      <a:solidFill>
                        <a:srgbClr val="D6DDE5"/>
                      </a:solidFill>
                    </a:lnB>
                    <a:solidFill>
                      <a:srgbClr val="FFFFFF"/>
                    </a:solidFill>
                  </a:tcPr>
                </a:tc>
              </a:tr>
              <a:tr h="512064">
                <a:tc>
                  <a:txBody>
                    <a:bodyPr/>
                    <a:lstStyle/>
                    <a:p>
                      <a:pPr algn="l">
                        <a:lnSpc>
                          <a:spcPct val="100000"/>
                        </a:lnSpc>
                        <a:spcAft>
                          <a:spcPts val="0"/>
                        </a:spcAft>
                      </a:pPr>
                      <a:r>
                        <a:rPr sz="1000" i="0" b="1">
                          <a:solidFill>
                            <a:srgbClr val="1E2833"/>
                          </a:solidFill>
                          <a:latin typeface="Arial"/>
                        </a:rPr>
                        <a:t>Multi-brand bursts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3+ advertisers in 2 minutes with no engagement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000" i="0" b="0">
                          <a:solidFill>
                            <a:srgbClr val="1E2833"/>
                          </a:solidFill>
                          <a:latin typeface="Arial"/>
                        </a:rPr>
                        <a:t>TrafficPoint: cleared on review</a:t>
                      </a:r>
                    </a:p>
                  </a:txBody>
                  <a:tcPr marL="73152" marR="73152" marT="27432" marB="27432" anchor="ctr">
                    <a:lnL w="0">
                      <a:noFill/>
                    </a:lnL>
                    <a:lnR w="0">
                      <a:noFill/>
                    </a:lnR>
                    <a:lnT w="0">
                      <a:noFill/>
                    </a:lnT>
                    <a:lnB w="9525">
                      <a:solidFill>
                        <a:srgbClr val="D6DDE5"/>
                      </a:solidFill>
                    </a:lnB>
                    <a:solidFill>
                      <a:srgbClr val="FFFFFF"/>
                    </a:solidFill>
                  </a:tcPr>
                </a:tc>
              </a:tr>
            </a:tbl>
          </a:graphicData>
        </a:graphic>
      </p:graphicFrame>
      <p:sp>
        <p:nvSpPr>
          <p:cNvPr id="14" name="Rectangle 13"/>
          <p:cNvSpPr/>
          <p:nvPr/>
        </p:nvSpPr>
        <p:spPr>
          <a:xfrm>
            <a:off x="7589520" y="1728216"/>
            <a:ext cx="64008" cy="219456"/>
          </a:xfrm>
          <a:prstGeom prst="rect">
            <a:avLst/>
          </a:prstGeom>
          <a:solidFill>
            <a:srgbClr val="0B2A4A"/>
          </a:solidFill>
          <a:ln>
            <a:noFill/>
          </a:ln>
        </p:spPr>
        <p:txBody>
          <a:bodyPr rtlCol="0" anchor="ctr"/>
          <a:lstStyle/>
          <a:p>
            <a:pPr algn="ctr"/>
          </a:p>
        </p:txBody>
      </p:sp>
      <p:sp>
        <p:nvSpPr>
          <p:cNvPr id="15" name="TextBox 14"/>
          <p:cNvSpPr txBox="1"/>
          <p:nvPr/>
        </p:nvSpPr>
        <p:spPr>
          <a:xfrm>
            <a:off x="7744968" y="1691640"/>
            <a:ext cx="3898087" cy="292608"/>
          </a:xfrm>
          <a:prstGeom prst="rect">
            <a:avLst/>
          </a:prstGeom>
          <a:noFill/>
        </p:spPr>
        <p:txBody>
          <a:bodyPr wrap="square" lIns="0" rIns="0" tIns="0" bIns="0" anchor="t">
            <a:noAutofit/>
          </a:bodyPr>
          <a:lstStyle/>
          <a:p>
            <a:pPr algn="l">
              <a:lnSpc>
                <a:spcPct val="110000"/>
              </a:lnSpc>
              <a:spcAft>
                <a:spcPts val="0"/>
              </a:spcAft>
            </a:pPr>
            <a:r>
              <a:rPr sz="1300" i="0" b="1">
                <a:solidFill>
                  <a:srgbClr val="0B2A4A"/>
                </a:solidFill>
                <a:latin typeface="Arial"/>
              </a:rPr>
              <a:t>Change the program rules</a:t>
            </a:r>
          </a:p>
        </p:txBody>
      </p:sp>
      <p:sp>
        <p:nvSpPr>
          <p:cNvPr id="16" name="Oval 15"/>
          <p:cNvSpPr/>
          <p:nvPr/>
        </p:nvSpPr>
        <p:spPr>
          <a:xfrm>
            <a:off x="7589520" y="2139696"/>
            <a:ext cx="292608" cy="292608"/>
          </a:xfrm>
          <a:prstGeom prst="ellipse">
            <a:avLst/>
          </a:prstGeom>
          <a:solidFill>
            <a:srgbClr val="0B2A4A"/>
          </a:solidFill>
          <a:ln>
            <a:noFill/>
          </a:ln>
        </p:spPr>
        <p:txBody>
          <a:bodyPr rtlCol="0" anchor="ctr" wrap="square" lIns="0" rIns="0" tIns="18288" bIns="18288">
            <a:noAutofit/>
          </a:bodyPr>
          <a:lstStyle/>
          <a:p>
            <a:pPr algn="ctr">
              <a:lnSpc>
                <a:spcPct val="110000"/>
              </a:lnSpc>
              <a:spcAft>
                <a:spcPts val="0"/>
              </a:spcAft>
            </a:pPr>
            <a:r>
              <a:rPr sz="1050" i="0" b="1">
                <a:solidFill>
                  <a:srgbClr val="FFFFFF"/>
                </a:solidFill>
                <a:latin typeface="Arial"/>
              </a:rPr>
              <a:t>1</a:t>
            </a:r>
          </a:p>
        </p:txBody>
      </p:sp>
      <p:sp>
        <p:nvSpPr>
          <p:cNvPr id="17" name="TextBox 16"/>
          <p:cNvSpPr txBox="1"/>
          <p:nvPr/>
        </p:nvSpPr>
        <p:spPr>
          <a:xfrm>
            <a:off x="8001000" y="2121408"/>
            <a:ext cx="3642055" cy="658368"/>
          </a:xfrm>
          <a:prstGeom prst="rect">
            <a:avLst/>
          </a:prstGeom>
          <a:noFill/>
        </p:spPr>
        <p:txBody>
          <a:bodyPr wrap="square" lIns="0" rIns="0" tIns="0" bIns="0" anchor="t">
            <a:noAutofit/>
          </a:bodyPr>
          <a:lstStyle/>
          <a:p>
            <a:pPr algn="l">
              <a:lnSpc>
                <a:spcPct val="106000"/>
              </a:lnSpc>
              <a:spcAft>
                <a:spcPts val="0"/>
              </a:spcAft>
            </a:pPr>
            <a:r>
              <a:rPr sz="1050" i="0" b="1">
                <a:solidFill>
                  <a:srgbClr val="0B2A4A"/>
                </a:solidFill>
                <a:latin typeface="Arial"/>
              </a:rPr>
              <a:t>No overwrite after cart creation:</a:t>
            </a:r>
            <a:r>
              <a:rPr sz="1050" i="0" b="0">
                <a:solidFill>
                  <a:srgbClr val="1E2833"/>
                </a:solidFill>
                <a:latin typeface="Arial"/>
              </a:rPr>
              <a:t> a click after the cart exists doesn't take the commission, or earns a reduced rate.</a:t>
            </a:r>
          </a:p>
        </p:txBody>
      </p:sp>
      <p:sp>
        <p:nvSpPr>
          <p:cNvPr id="18" name="Oval 17"/>
          <p:cNvSpPr/>
          <p:nvPr/>
        </p:nvSpPr>
        <p:spPr>
          <a:xfrm>
            <a:off x="7589520" y="2825496"/>
            <a:ext cx="292608" cy="292608"/>
          </a:xfrm>
          <a:prstGeom prst="ellipse">
            <a:avLst/>
          </a:prstGeom>
          <a:solidFill>
            <a:srgbClr val="0B2A4A"/>
          </a:solidFill>
          <a:ln>
            <a:noFill/>
          </a:ln>
        </p:spPr>
        <p:txBody>
          <a:bodyPr rtlCol="0" anchor="ctr" wrap="square" lIns="0" rIns="0" tIns="18288" bIns="18288">
            <a:noAutofit/>
          </a:bodyPr>
          <a:lstStyle/>
          <a:p>
            <a:pPr algn="ctr">
              <a:lnSpc>
                <a:spcPct val="110000"/>
              </a:lnSpc>
              <a:spcAft>
                <a:spcPts val="0"/>
              </a:spcAft>
            </a:pPr>
            <a:r>
              <a:rPr sz="1050" i="0" b="1">
                <a:solidFill>
                  <a:srgbClr val="FFFFFF"/>
                </a:solidFill>
                <a:latin typeface="Arial"/>
              </a:rPr>
              <a:t>2</a:t>
            </a:r>
          </a:p>
        </p:txBody>
      </p:sp>
      <p:sp>
        <p:nvSpPr>
          <p:cNvPr id="19" name="TextBox 18"/>
          <p:cNvSpPr txBox="1"/>
          <p:nvPr/>
        </p:nvSpPr>
        <p:spPr>
          <a:xfrm>
            <a:off x="8001000" y="2807208"/>
            <a:ext cx="3642055" cy="658368"/>
          </a:xfrm>
          <a:prstGeom prst="rect">
            <a:avLst/>
          </a:prstGeom>
          <a:noFill/>
        </p:spPr>
        <p:txBody>
          <a:bodyPr wrap="square" lIns="0" rIns="0" tIns="0" bIns="0" anchor="t">
            <a:noAutofit/>
          </a:bodyPr>
          <a:lstStyle/>
          <a:p>
            <a:pPr algn="l">
              <a:lnSpc>
                <a:spcPct val="106000"/>
              </a:lnSpc>
              <a:spcAft>
                <a:spcPts val="0"/>
              </a:spcAft>
            </a:pPr>
            <a:r>
              <a:rPr sz="1050" i="0" b="1">
                <a:solidFill>
                  <a:srgbClr val="0B2A4A"/>
                </a:solidFill>
                <a:latin typeface="Arial"/>
              </a:rPr>
              <a:t>Extension stand-down:</a:t>
            </a:r>
            <a:r>
              <a:rPr sz="1050" i="0" b="0">
                <a:solidFill>
                  <a:srgbClr val="1E2833"/>
                </a:solidFill>
                <a:latin typeface="Arial"/>
              </a:rPr>
              <a:t> extensions may not fire when the user arrived from another partner or is already on the site.</a:t>
            </a:r>
          </a:p>
        </p:txBody>
      </p:sp>
      <p:sp>
        <p:nvSpPr>
          <p:cNvPr id="20" name="Oval 19"/>
          <p:cNvSpPr/>
          <p:nvPr/>
        </p:nvSpPr>
        <p:spPr>
          <a:xfrm>
            <a:off x="7589520" y="3511296"/>
            <a:ext cx="292608" cy="292608"/>
          </a:xfrm>
          <a:prstGeom prst="ellipse">
            <a:avLst/>
          </a:prstGeom>
          <a:solidFill>
            <a:srgbClr val="0B2A4A"/>
          </a:solidFill>
          <a:ln>
            <a:noFill/>
          </a:ln>
        </p:spPr>
        <p:txBody>
          <a:bodyPr rtlCol="0" anchor="ctr" wrap="square" lIns="0" rIns="0" tIns="18288" bIns="18288">
            <a:noAutofit/>
          </a:bodyPr>
          <a:lstStyle/>
          <a:p>
            <a:pPr algn="ctr">
              <a:lnSpc>
                <a:spcPct val="110000"/>
              </a:lnSpc>
              <a:spcAft>
                <a:spcPts val="0"/>
              </a:spcAft>
            </a:pPr>
            <a:r>
              <a:rPr sz="1050" i="0" b="1">
                <a:solidFill>
                  <a:srgbClr val="FFFFFF"/>
                </a:solidFill>
                <a:latin typeface="Arial"/>
              </a:rPr>
              <a:t>3</a:t>
            </a:r>
          </a:p>
        </p:txBody>
      </p:sp>
      <p:sp>
        <p:nvSpPr>
          <p:cNvPr id="21" name="TextBox 20"/>
          <p:cNvSpPr txBox="1"/>
          <p:nvPr/>
        </p:nvSpPr>
        <p:spPr>
          <a:xfrm>
            <a:off x="8001000" y="3493008"/>
            <a:ext cx="3642055" cy="658368"/>
          </a:xfrm>
          <a:prstGeom prst="rect">
            <a:avLst/>
          </a:prstGeom>
          <a:noFill/>
        </p:spPr>
        <p:txBody>
          <a:bodyPr wrap="square" lIns="0" rIns="0" tIns="0" bIns="0" anchor="t">
            <a:noAutofit/>
          </a:bodyPr>
          <a:lstStyle/>
          <a:p>
            <a:pPr algn="l">
              <a:lnSpc>
                <a:spcPct val="106000"/>
              </a:lnSpc>
              <a:spcAft>
                <a:spcPts val="0"/>
              </a:spcAft>
            </a:pPr>
            <a:r>
              <a:rPr sz="1050" i="0" b="1">
                <a:solidFill>
                  <a:srgbClr val="0B2A4A"/>
                </a:solidFill>
                <a:latin typeface="Arial"/>
              </a:rPr>
              <a:t>PPC and trademark policy,</a:t>
            </a:r>
            <a:r>
              <a:rPr sz="1050" i="0" b="0">
                <a:solidFill>
                  <a:srgbClr val="1E2833"/>
                </a:solidFill>
                <a:latin typeface="Arial"/>
              </a:rPr>
              <a:t> with monitoring of brand-term ads.</a:t>
            </a:r>
          </a:p>
        </p:txBody>
      </p:sp>
      <p:sp>
        <p:nvSpPr>
          <p:cNvPr id="22" name="Oval 21"/>
          <p:cNvSpPr/>
          <p:nvPr/>
        </p:nvSpPr>
        <p:spPr>
          <a:xfrm>
            <a:off x="7589520" y="4197096"/>
            <a:ext cx="292608" cy="292608"/>
          </a:xfrm>
          <a:prstGeom prst="ellipse">
            <a:avLst/>
          </a:prstGeom>
          <a:solidFill>
            <a:srgbClr val="0B2A4A"/>
          </a:solidFill>
          <a:ln>
            <a:noFill/>
          </a:ln>
        </p:spPr>
        <p:txBody>
          <a:bodyPr rtlCol="0" anchor="ctr" wrap="square" lIns="0" rIns="0" tIns="18288" bIns="18288">
            <a:noAutofit/>
          </a:bodyPr>
          <a:lstStyle/>
          <a:p>
            <a:pPr algn="ctr">
              <a:lnSpc>
                <a:spcPct val="110000"/>
              </a:lnSpc>
              <a:spcAft>
                <a:spcPts val="0"/>
              </a:spcAft>
            </a:pPr>
            <a:r>
              <a:rPr sz="1050" i="0" b="1">
                <a:solidFill>
                  <a:srgbClr val="FFFFFF"/>
                </a:solidFill>
                <a:latin typeface="Arial"/>
              </a:rPr>
              <a:t>4</a:t>
            </a:r>
          </a:p>
        </p:txBody>
      </p:sp>
      <p:sp>
        <p:nvSpPr>
          <p:cNvPr id="23" name="TextBox 22"/>
          <p:cNvSpPr txBox="1"/>
          <p:nvPr/>
        </p:nvSpPr>
        <p:spPr>
          <a:xfrm>
            <a:off x="8001000" y="4178808"/>
            <a:ext cx="3642055" cy="658368"/>
          </a:xfrm>
          <a:prstGeom prst="rect">
            <a:avLst/>
          </a:prstGeom>
          <a:noFill/>
        </p:spPr>
        <p:txBody>
          <a:bodyPr wrap="square" lIns="0" rIns="0" tIns="0" bIns="0" anchor="t">
            <a:noAutofit/>
          </a:bodyPr>
          <a:lstStyle/>
          <a:p>
            <a:pPr algn="l">
              <a:lnSpc>
                <a:spcPct val="106000"/>
              </a:lnSpc>
              <a:spcAft>
                <a:spcPts val="0"/>
              </a:spcAft>
            </a:pPr>
            <a:r>
              <a:rPr sz="1050" i="0" b="1">
                <a:solidFill>
                  <a:srgbClr val="0B2A4A"/>
                </a:solidFill>
                <a:latin typeface="Arial"/>
              </a:rPr>
              <a:t>Payout hold</a:t>
            </a:r>
            <a:r>
              <a:rPr sz="1050" i="0" b="0">
                <a:solidFill>
                  <a:srgbClr val="1E2833"/>
                </a:solidFill>
                <a:latin typeface="Arial"/>
              </a:rPr>
              <a:t> of 30–45 days, with reversals for flagged orders.</a:t>
            </a:r>
          </a:p>
        </p:txBody>
      </p:sp>
      <p:sp>
        <p:nvSpPr>
          <p:cNvPr id="24" name="Oval 23"/>
          <p:cNvSpPr/>
          <p:nvPr/>
        </p:nvSpPr>
        <p:spPr>
          <a:xfrm>
            <a:off x="7589520" y="4882896"/>
            <a:ext cx="292608" cy="292608"/>
          </a:xfrm>
          <a:prstGeom prst="ellipse">
            <a:avLst/>
          </a:prstGeom>
          <a:solidFill>
            <a:srgbClr val="0B2A4A"/>
          </a:solidFill>
          <a:ln>
            <a:noFill/>
          </a:ln>
        </p:spPr>
        <p:txBody>
          <a:bodyPr rtlCol="0" anchor="ctr" wrap="square" lIns="0" rIns="0" tIns="18288" bIns="18288">
            <a:noAutofit/>
          </a:bodyPr>
          <a:lstStyle/>
          <a:p>
            <a:pPr algn="ctr">
              <a:lnSpc>
                <a:spcPct val="110000"/>
              </a:lnSpc>
              <a:spcAft>
                <a:spcPts val="0"/>
              </a:spcAft>
            </a:pPr>
            <a:r>
              <a:rPr sz="1050" i="0" b="1">
                <a:solidFill>
                  <a:srgbClr val="FFFFFF"/>
                </a:solidFill>
                <a:latin typeface="Arial"/>
              </a:rPr>
              <a:t>5</a:t>
            </a:r>
          </a:p>
        </p:txBody>
      </p:sp>
      <p:sp>
        <p:nvSpPr>
          <p:cNvPr id="25" name="TextBox 24"/>
          <p:cNvSpPr txBox="1"/>
          <p:nvPr/>
        </p:nvSpPr>
        <p:spPr>
          <a:xfrm>
            <a:off x="8001000" y="4864608"/>
            <a:ext cx="3642055" cy="658368"/>
          </a:xfrm>
          <a:prstGeom prst="rect">
            <a:avLst/>
          </a:prstGeom>
          <a:noFill/>
        </p:spPr>
        <p:txBody>
          <a:bodyPr wrap="square" lIns="0" rIns="0" tIns="0" bIns="0" anchor="t">
            <a:noAutofit/>
          </a:bodyPr>
          <a:lstStyle/>
          <a:p>
            <a:pPr algn="l">
              <a:lnSpc>
                <a:spcPct val="106000"/>
              </a:lnSpc>
              <a:spcAft>
                <a:spcPts val="0"/>
              </a:spcAft>
            </a:pPr>
            <a:r>
              <a:rPr sz="1050" i="0" b="1">
                <a:solidFill>
                  <a:srgbClr val="0B2A4A"/>
                </a:solidFill>
                <a:latin typeface="Arial"/>
              </a:rPr>
              <a:t>Validate and tune:</a:t>
            </a:r>
            <a:r>
              <a:rPr sz="1050" i="0" b="0">
                <a:solidFill>
                  <a:srgbClr val="1E2833"/>
                </a:solidFill>
                <a:latin typeface="Arial"/>
              </a:rPr>
              <a:t> test the indicators against confirmed fraud and reversals, and run holdout tests.</a:t>
            </a:r>
          </a:p>
        </p:txBody>
      </p:sp>
      <p:sp>
        <p:nvSpPr>
          <p:cNvPr id="26" name="Rectangle 25"/>
          <p:cNvSpPr/>
          <p:nvPr/>
        </p:nvSpPr>
        <p:spPr>
          <a:xfrm>
            <a:off x="548640" y="5623560"/>
            <a:ext cx="11094415" cy="566928"/>
          </a:xfrm>
          <a:prstGeom prst="rect">
            <a:avLst/>
          </a:prstGeom>
          <a:solidFill>
            <a:srgbClr val="0B2A4A"/>
          </a:solidFill>
          <a:ln>
            <a:noFill/>
          </a:ln>
        </p:spPr>
        <p:txBody>
          <a:bodyPr rtlCol="0" anchor="ctr" wrap="square" lIns="228600" rIns="228600" tIns="18288" bIns="18288">
            <a:noAutofit/>
          </a:bodyPr>
          <a:lstStyle/>
          <a:p>
            <a:pPr algn="l">
              <a:lnSpc>
                <a:spcPct val="110000"/>
              </a:lnSpc>
              <a:spcAft>
                <a:spcPts val="0"/>
              </a:spcAft>
            </a:pPr>
            <a:r>
              <a:rPr sz="1200" i="0" b="1">
                <a:solidFill>
                  <a:srgbClr val="FF9438"/>
                </a:solidFill>
                <a:latin typeface="Arial"/>
              </a:rPr>
              <a:t>Start here:</a:t>
            </a:r>
            <a:r>
              <a:rPr sz="1200" i="0" b="0">
                <a:solidFill>
                  <a:srgbClr val="FFFFFF"/>
                </a:solidFill>
                <a:latin typeface="Arial"/>
              </a:rPr>
              <a:t> reconcile Partnerize click logs with saatva.com landings. A click id that never lands is direct evidence, with no threshold to tune.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LIMITATIONS AND NEXT STEPS</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One panel day sets the direction; 90 days and Saatva's own logs would size it</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13</a:t>
            </a:r>
          </a:p>
        </p:txBody>
      </p:sp>
      <p:graphicFrame>
        <p:nvGraphicFramePr>
          <p:cNvPr id="11" name="Table 10"/>
          <p:cNvGraphicFramePr>
            <a:graphicFrameLocks noGrp="1"/>
          </p:cNvGraphicFramePr>
          <p:nvPr/>
        </p:nvGraphicFramePr>
        <p:xfrm>
          <a:off x="548640" y="1691640"/>
          <a:ext cx="11091672" cy="3675888"/>
        </p:xfrm>
        <a:graphic>
          <a:graphicData uri="http://schemas.openxmlformats.org/drawingml/2006/table">
            <a:tbl>
              <a:tblPr firstRow="0" bandRow="0">
                <a:tableStyleId>{2D5ABB26-0587-4C30-8999-92F81FD0307C}</a:tableStyleId>
              </a:tblPr>
              <a:tblGrid>
                <a:gridCol w="2834640"/>
                <a:gridCol w="3794760"/>
                <a:gridCol w="4462272"/>
              </a:tblGrid>
              <a:tr h="384048">
                <a:tc>
                  <a:txBody>
                    <a:bodyPr/>
                    <a:lstStyle/>
                    <a:p>
                      <a:pPr algn="l">
                        <a:lnSpc>
                          <a:spcPct val="100000"/>
                        </a:lnSpc>
                        <a:spcAft>
                          <a:spcPts val="0"/>
                        </a:spcAft>
                      </a:pPr>
                      <a:r>
                        <a:rPr sz="1000" i="0" b="1">
                          <a:solidFill>
                            <a:srgbClr val="FFFFFF"/>
                          </a:solidFill>
                          <a:latin typeface="Arial"/>
                        </a:rPr>
                        <a:t>Limitation</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What it means</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Next step</a:t>
                      </a:r>
                    </a:p>
                  </a:txBody>
                  <a:tcPr marL="73152" marR="73152" marT="27432" marB="27432" anchor="ctr">
                    <a:lnL w="0">
                      <a:noFill/>
                    </a:lnL>
                    <a:lnR w="0">
                      <a:noFill/>
                    </a:lnR>
                    <a:lnT w="0">
                      <a:noFill/>
                    </a:lnT>
                    <a:lnB w="0">
                      <a:noFill/>
                    </a:lnB>
                    <a:solidFill>
                      <a:srgbClr val="0B2A4A"/>
                    </a:solidFill>
                  </a:tcPr>
                </a:tc>
              </a:tr>
              <a:tr h="658368">
                <a:tc>
                  <a:txBody>
                    <a:bodyPr/>
                    <a:lstStyle/>
                    <a:p>
                      <a:pPr algn="l">
                        <a:lnSpc>
                          <a:spcPct val="100000"/>
                        </a:lnSpc>
                        <a:spcAft>
                          <a:spcPts val="0"/>
                        </a:spcAft>
                      </a:pPr>
                      <a:r>
                        <a:rPr sz="1100" i="0" b="1">
                          <a:solidFill>
                            <a:srgbClr val="1E2833"/>
                          </a:solidFill>
                          <a:latin typeface="Arial"/>
                        </a:rPr>
                        <a:t>One day of panel data</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2–6 affiliate clicks per mattress brand, and no completed orders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Run the same pipeline on 30–90 days, and on Saatva's Partnerize click and order logs, which cover every click rather than a sample</a:t>
                      </a:r>
                    </a:p>
                  </a:txBody>
                  <a:tcPr marL="73152" marR="73152" marT="27432" marB="27432" anchor="ctr">
                    <a:lnL w="0">
                      <a:noFill/>
                    </a:lnL>
                    <a:lnR w="0">
                      <a:noFill/>
                    </a:lnR>
                    <a:lnT w="0">
                      <a:noFill/>
                    </a:lnT>
                    <a:lnB w="9525">
                      <a:solidFill>
                        <a:srgbClr val="D6DDE5"/>
                      </a:solidFill>
                    </a:lnB>
                    <a:solidFill>
                      <a:srgbClr val="FFFFFF"/>
                    </a:solidFill>
                  </a:tcPr>
                </a:tc>
              </a:tr>
              <a:tr h="658368">
                <a:tc>
                  <a:txBody>
                    <a:bodyPr/>
                    <a:lstStyle/>
                    <a:p>
                      <a:pPr algn="l">
                        <a:lnSpc>
                          <a:spcPct val="100000"/>
                        </a:lnSpc>
                        <a:spcAft>
                          <a:spcPts val="0"/>
                        </a:spcAft>
                      </a:pPr>
                      <a:r>
                        <a:rPr sz="1100" i="0" b="1">
                          <a:solidFill>
                            <a:srgbClr val="1E2833"/>
                          </a:solidFill>
                          <a:latin typeface="Arial"/>
                        </a:rPr>
                        <a:t>Scaling relies on public estimates for another month</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F may be off; August is the Labor Day sale season</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Calibrate on same-period figures (paid Similarweb, Partnerize benchmarks), split by device</a:t>
                      </a:r>
                    </a:p>
                  </a:txBody>
                  <a:tcPr marL="73152" marR="73152" marT="27432" marB="27432" anchor="ctr">
                    <a:lnL w="0">
                      <a:noFill/>
                    </a:lnL>
                    <a:lnR w="0">
                      <a:noFill/>
                    </a:lnR>
                    <a:lnT w="0">
                      <a:noFill/>
                    </a:lnT>
                    <a:lnB w="9525">
                      <a:solidFill>
                        <a:srgbClr val="D6DDE5"/>
                      </a:solidFill>
                    </a:lnB>
                    <a:solidFill>
                      <a:srgbClr val="FFFFFF"/>
                    </a:solidFill>
                  </a:tcPr>
                </a:tc>
              </a:tr>
              <a:tr h="658368">
                <a:tc>
                  <a:txBody>
                    <a:bodyPr/>
                    <a:lstStyle/>
                    <a:p>
                      <a:pPr algn="l">
                        <a:lnSpc>
                          <a:spcPct val="100000"/>
                        </a:lnSpc>
                        <a:spcAft>
                          <a:spcPts val="0"/>
                        </a:spcAft>
                      </a:pPr>
                      <a:r>
                        <a:rPr sz="1100" i="0" b="1">
                          <a:solidFill>
                            <a:srgbClr val="1E2833"/>
                          </a:solidFill>
                          <a:latin typeface="Arial"/>
                        </a:rPr>
                        <a:t>Same-day conversion window</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Misses orders placed days after the click; affiliate cookies typically last 30 days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Follow multi-day user journeys</a:t>
                      </a:r>
                    </a:p>
                  </a:txBody>
                  <a:tcPr marL="73152" marR="73152" marT="27432" marB="27432" anchor="ctr">
                    <a:lnL w="0">
                      <a:noFill/>
                    </a:lnL>
                    <a:lnR w="0">
                      <a:noFill/>
                    </a:lnR>
                    <a:lnT w="0">
                      <a:noFill/>
                    </a:lnT>
                    <a:lnB w="9525">
                      <a:solidFill>
                        <a:srgbClr val="D6DDE5"/>
                      </a:solidFill>
                    </a:lnB>
                    <a:solidFill>
                      <a:srgbClr val="FFFFFF"/>
                    </a:solidFill>
                  </a:tcPr>
                </a:tc>
              </a:tr>
              <a:tr h="658368">
                <a:tc>
                  <a:txBody>
                    <a:bodyPr/>
                    <a:lstStyle/>
                    <a:p>
                      <a:pPr algn="l">
                        <a:lnSpc>
                          <a:spcPct val="100000"/>
                        </a:lnSpc>
                        <a:spcAft>
                          <a:spcPts val="0"/>
                        </a:spcAft>
                      </a:pPr>
                      <a:r>
                        <a:rPr sz="1100" i="0" b="1">
                          <a:solidFill>
                            <a:srgbClr val="1E2833"/>
                          </a:solidFill>
                          <a:latin typeface="Arial"/>
                        </a:rPr>
                        <a:t>Hijack indicators are behavioural proxies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The strongest evidence comes from Walmart's volume</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Validate against confirmed fraud and reversals; holdout tests for incrementality</a:t>
                      </a:r>
                    </a:p>
                  </a:txBody>
                  <a:tcPr marL="73152" marR="73152" marT="27432" marB="27432" anchor="ctr">
                    <a:lnL w="0">
                      <a:noFill/>
                    </a:lnL>
                    <a:lnR w="0">
                      <a:noFill/>
                    </a:lnR>
                    <a:lnT w="0">
                      <a:noFill/>
                    </a:lnT>
                    <a:lnB w="9525">
                      <a:solidFill>
                        <a:srgbClr val="D6DDE5"/>
                      </a:solidFill>
                    </a:lnB>
                    <a:solidFill>
                      <a:srgbClr val="FFFFFF"/>
                    </a:solidFill>
                  </a:tcPr>
                </a:tc>
              </a:tr>
              <a:tr h="658368">
                <a:tc>
                  <a:txBody>
                    <a:bodyPr/>
                    <a:lstStyle/>
                    <a:p>
                      <a:pPr algn="l">
                        <a:lnSpc>
                          <a:spcPct val="100000"/>
                        </a:lnSpc>
                        <a:spcAft>
                          <a:spcPts val="0"/>
                        </a:spcAft>
                      </a:pPr>
                      <a:r>
                        <a:rPr sz="1100" i="0" b="1">
                          <a:solidFill>
                            <a:srgbClr val="1E2833"/>
                          </a:solidFill>
                          <a:latin typeface="Arial"/>
                        </a:rPr>
                        <a:t>Saatva's cart doesn't change the URL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No cart or checkout steps are visible for Saatva, so no funnel comparison</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Use Saatva's on-site events: add to cart, checkout start</a:t>
                      </a:r>
                    </a:p>
                  </a:txBody>
                  <a:tcPr marL="73152" marR="73152" marT="27432" marB="27432" anchor="ctr">
                    <a:lnL w="0">
                      <a:noFill/>
                    </a:lnL>
                    <a:lnR w="0">
                      <a:noFill/>
                    </a:lnR>
                    <a:lnT w="0">
                      <a:noFill/>
                    </a:lnT>
                    <a:lnB w="9525">
                      <a:solidFill>
                        <a:srgbClr val="D6DDE5"/>
                      </a:solidFill>
                    </a:lnB>
                    <a:solidFill>
                      <a:srgbClr val="FFFFFF"/>
                    </a:solidFill>
                  </a:tcPr>
                </a:tc>
              </a:tr>
            </a:tbl>
          </a:graphicData>
        </a:graphic>
      </p:graphicFrame>
      <p:sp>
        <p:nvSpPr>
          <p:cNvPr id="12" name="TextBox 11"/>
          <p:cNvSpPr txBox="1"/>
          <p:nvPr/>
        </p:nvSpPr>
        <p:spPr>
          <a:xfrm>
            <a:off x="548640" y="5715000"/>
            <a:ext cx="11094415" cy="457200"/>
          </a:xfrm>
          <a:prstGeom prst="rect">
            <a:avLst/>
          </a:prstGeom>
          <a:noFill/>
        </p:spPr>
        <p:txBody>
          <a:bodyPr wrap="square" lIns="0" rIns="0" tIns="0" bIns="0" anchor="t">
            <a:noAutofit/>
          </a:bodyPr>
          <a:lstStyle/>
          <a:p>
            <a:pPr algn="l">
              <a:lnSpc>
                <a:spcPct val="110000"/>
              </a:lnSpc>
              <a:spcAft>
                <a:spcPts val="0"/>
              </a:spcAft>
            </a:pPr>
            <a:r>
              <a:rPr sz="1200" i="0" b="0">
                <a:solidFill>
                  <a:srgbClr val="1E2833"/>
                </a:solidFill>
                <a:latin typeface="Arial"/>
              </a:rPr>
              <a:t>Code, SQL and result tables: </a:t>
            </a:r>
            <a:r>
              <a:rPr sz="1200" i="0" b="1">
                <a:solidFill>
                  <a:srgbClr val="006BA1"/>
                </a:solidFill>
                <a:latin typeface="Arial"/>
              </a:rPr>
              <a:t>github.com/Hagaygro/partnerize-assignment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APPENDIX</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A1 · The pipeline: ten SQL steps, run in order</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14</a:t>
            </a:r>
          </a:p>
        </p:txBody>
      </p:sp>
      <p:graphicFrame>
        <p:nvGraphicFramePr>
          <p:cNvPr id="11" name="Table 10"/>
          <p:cNvGraphicFramePr>
            <a:graphicFrameLocks noGrp="1"/>
          </p:cNvGraphicFramePr>
          <p:nvPr/>
        </p:nvGraphicFramePr>
        <p:xfrm>
          <a:off x="548640" y="1691640"/>
          <a:ext cx="11091672" cy="4023360"/>
        </p:xfrm>
        <a:graphic>
          <a:graphicData uri="http://schemas.openxmlformats.org/drawingml/2006/table">
            <a:tbl>
              <a:tblPr firstRow="0" bandRow="0">
                <a:tableStyleId>{2D5ABB26-0587-4C30-8999-92F81FD0307C}</a:tableStyleId>
              </a:tblPr>
              <a:tblGrid>
                <a:gridCol w="731520"/>
                <a:gridCol w="2743200"/>
                <a:gridCol w="7616952"/>
              </a:tblGrid>
              <a:tr h="365760">
                <a:tc>
                  <a:txBody>
                    <a:bodyPr/>
                    <a:lstStyle/>
                    <a:p>
                      <a:pPr algn="l">
                        <a:lnSpc>
                          <a:spcPct val="100000"/>
                        </a:lnSpc>
                        <a:spcAft>
                          <a:spcPts val="0"/>
                        </a:spcAft>
                      </a:pPr>
                      <a:r>
                        <a:rPr sz="1000" i="0" b="1">
                          <a:solidFill>
                            <a:srgbClr val="FFFFFF"/>
                          </a:solidFill>
                          <a:latin typeface="Arial"/>
                        </a:rPr>
                        <a:t>Step</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File</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What it does</a:t>
                      </a:r>
                    </a:p>
                  </a:txBody>
                  <a:tcPr marL="73152" marR="73152" marT="27432" marB="27432" anchor="ctr">
                    <a:lnL w="0">
                      <a:noFill/>
                    </a:lnL>
                    <a:lnR w="0">
                      <a:noFill/>
                    </a:lnR>
                    <a:lnT w="0">
                      <a:noFill/>
                    </a:lnT>
                    <a:lnB w="0">
                      <a:noFill/>
                    </a:lnB>
                    <a:solidFill>
                      <a:srgbClr val="0B2A4A"/>
                    </a:solidFill>
                  </a:tcPr>
                </a:tc>
              </a:tr>
              <a:tr h="365760">
                <a:tc>
                  <a:txBody>
                    <a:bodyPr/>
                    <a:lstStyle/>
                    <a:p>
                      <a:pPr algn="l">
                        <a:lnSpc>
                          <a:spcPct val="100000"/>
                        </a:lnSpc>
                        <a:spcAft>
                          <a:spcPts val="0"/>
                        </a:spcAft>
                      </a:pPr>
                      <a:r>
                        <a:rPr sz="1100" i="0" b="0">
                          <a:solidFill>
                            <a:srgbClr val="1E2833"/>
                          </a:solidFill>
                          <a:latin typeface="Arial"/>
                        </a:rPr>
                        <a:t>01</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01_raw_view.sql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View over the Parquet files</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02</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02_data_quality.sql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Validation profile: rows, ids, duplicates, nulls, hourly profile</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03</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03_brand_user_events.sql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Working dataset: brand users' events, deduplicated, mirror IDs merged</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04</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04_affiliate_clicks.sql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Tagged landings + redirect hops → deduplicated clicks, network, publisher</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05</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05_brand_visits.sql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Visits (30-minute rule) and their entry traffic source</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06</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06_conversions.sql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Orders, registrations, financing, funnel steps; last-click attribution</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07</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07_hijacking_signals.sql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Hijacking indicators per affiliate click</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08</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08_us_scaling.sql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US users, external benchmarks, scale factors and their validation</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09</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09_summary.sql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Result tables</a:t>
                      </a:r>
                    </a:p>
                  </a:txBody>
                  <a:tcPr marL="73152" marR="73152" marT="27432" marB="27432" anchor="ctr">
                    <a:lnL w="0">
                      <a:noFill/>
                    </a:lnL>
                    <a:lnR w="0">
                      <a:noFill/>
                    </a:lnR>
                    <a:lnT w="0">
                      <a:noFill/>
                    </a:lnT>
                    <a:lnB w="9525">
                      <a:solidFill>
                        <a:srgbClr val="D6DDE5"/>
                      </a:solidFill>
                    </a:lnB>
                    <a:solidFill>
                      <a:srgbClr val="FFFFFF"/>
                    </a:solidFill>
                  </a:tcPr>
                </a:tc>
              </a:tr>
              <a:tr h="365760">
                <a:tc>
                  <a:txBody>
                    <a:bodyPr/>
                    <a:lstStyle/>
                    <a:p>
                      <a:pPr algn="l">
                        <a:lnSpc>
                          <a:spcPct val="100000"/>
                        </a:lnSpc>
                        <a:spcAft>
                          <a:spcPts val="0"/>
                        </a:spcAft>
                      </a:pPr>
                      <a:r>
                        <a:rPr sz="1100" i="0" b="0">
                          <a:solidFill>
                            <a:srgbClr val="1E2833"/>
                          </a:solidFill>
                          <a:latin typeface="Arial"/>
                        </a:rPr>
                        <a:t>10</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1">
                          <a:solidFill>
                            <a:srgbClr val="1E2833"/>
                          </a:solidFill>
                          <a:latin typeface="Arial"/>
                        </a:rPr>
                        <a:t>10_sensitivity.sql</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Hijacking indicators under stricter look-back windows</a:t>
                      </a:r>
                    </a:p>
                  </a:txBody>
                  <a:tcPr marL="73152" marR="73152" marT="27432" marB="27432" anchor="ctr">
                    <a:lnL w="0">
                      <a:noFill/>
                    </a:lnL>
                    <a:lnR w="0">
                      <a:noFill/>
                    </a:lnR>
                    <a:lnT w="0">
                      <a:noFill/>
                    </a:lnT>
                    <a:lnB w="9525">
                      <a:solidFill>
                        <a:srgbClr val="D6DDE5"/>
                      </a:solidFill>
                    </a:lnB>
                    <a:solidFill>
                      <a:srgbClr val="FFFFFF"/>
                    </a:solidFill>
                  </a:tcPr>
                </a:tc>
              </a:tr>
            </a:tbl>
          </a:graphicData>
        </a:graphic>
      </p:graphicFrame>
      <p:sp>
        <p:nvSpPr>
          <p:cNvPr id="12" name="TextBox 11"/>
          <p:cNvSpPr txBox="1"/>
          <p:nvPr/>
        </p:nvSpPr>
        <p:spPr>
          <a:xfrm>
            <a:off x="548640" y="5806440"/>
            <a:ext cx="11094415" cy="457200"/>
          </a:xfrm>
          <a:prstGeom prst="rect">
            <a:avLst/>
          </a:prstGeom>
          <a:noFill/>
        </p:spPr>
        <p:txBody>
          <a:bodyPr wrap="square" lIns="0" rIns="0" tIns="0" bIns="0" anchor="t">
            <a:noAutofit/>
          </a:bodyPr>
          <a:lstStyle/>
          <a:p>
            <a:pPr algn="l">
              <a:lnSpc>
                <a:spcPct val="110000"/>
              </a:lnSpc>
              <a:spcAft>
                <a:spcPts val="0"/>
              </a:spcAft>
            </a:pPr>
            <a:r>
              <a:rPr sz="1050" i="0" b="0">
                <a:solidFill>
                  <a:srgbClr val="647282"/>
                </a:solidFill>
                <a:latin typeface="Arial"/>
              </a:rPr>
              <a:t>Runner: scripts/run_pipeline.py (row-count checks, CSV exports to outputs/). About 30 seconds on 48.4M rows with DuckDB.  </a:t>
            </a:r>
            <a:r>
              <a:rPr sz="1050" i="0" b="1">
                <a:solidFill>
                  <a:srgbClr val="006BA1"/>
                </a:solidFill>
                <a:latin typeface="Arial"/>
              </a:rPr>
              <a:t>github.com/Hagaygro/partnerize-assignment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APPENDIX</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A2 · Attribution-hijacking indicators, per affiliate click</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15</a:t>
            </a:r>
          </a:p>
        </p:txBody>
      </p:sp>
      <p:graphicFrame>
        <p:nvGraphicFramePr>
          <p:cNvPr id="11" name="Table 10"/>
          <p:cNvGraphicFramePr>
            <a:graphicFrameLocks noGrp="1"/>
          </p:cNvGraphicFramePr>
          <p:nvPr/>
        </p:nvGraphicFramePr>
        <p:xfrm>
          <a:off x="548640" y="1691640"/>
          <a:ext cx="11091672" cy="4023360"/>
        </p:xfrm>
        <a:graphic>
          <a:graphicData uri="http://schemas.openxmlformats.org/drawingml/2006/table">
            <a:tbl>
              <a:tblPr firstRow="0" bandRow="0">
                <a:tableStyleId>{2D5ABB26-0587-4C30-8999-92F81FD0307C}</a:tableStyleId>
              </a:tblPr>
              <a:tblGrid>
                <a:gridCol w="2377440"/>
                <a:gridCol w="7068312"/>
                <a:gridCol w="1645920"/>
              </a:tblGrid>
              <a:tr h="365760">
                <a:tc>
                  <a:txBody>
                    <a:bodyPr/>
                    <a:lstStyle/>
                    <a:p>
                      <a:pPr algn="l">
                        <a:lnSpc>
                          <a:spcPct val="100000"/>
                        </a:lnSpc>
                        <a:spcAft>
                          <a:spcPts val="0"/>
                        </a:spcAft>
                      </a:pPr>
                      <a:r>
                        <a:rPr sz="1000" i="0" b="1">
                          <a:solidFill>
                            <a:srgbClr val="FFFFFF"/>
                          </a:solidFill>
                          <a:latin typeface="Arial"/>
                        </a:rPr>
                        <a:t>Indicator</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Definition</a:t>
                      </a:r>
                    </a:p>
                  </a:txBody>
                  <a:tcPr marL="73152" marR="73152" marT="27432" marB="27432" anchor="ctr">
                    <a:lnL w="0">
                      <a:noFill/>
                    </a:lnL>
                    <a:lnR w="0">
                      <a:noFill/>
                    </a:lnR>
                    <a:lnT w="0">
                      <a:noFill/>
                    </a:lnT>
                    <a:lnB w="0">
                      <a:noFill/>
                    </a:lnB>
                    <a:solidFill>
                      <a:srgbClr val="0B2A4A"/>
                    </a:solidFill>
                  </a:tcPr>
                </a:tc>
                <a:tc>
                  <a:txBody>
                    <a:bodyPr/>
                    <a:lstStyle/>
                    <a:p>
                      <a:pPr algn="l">
                        <a:lnSpc>
                          <a:spcPct val="100000"/>
                        </a:lnSpc>
                        <a:spcAft>
                          <a:spcPts val="0"/>
                        </a:spcAft>
                      </a:pPr>
                      <a:r>
                        <a:rPr sz="1000" i="0" b="1">
                          <a:solidFill>
                            <a:srgbClr val="FFFFFF"/>
                          </a:solidFill>
                          <a:latin typeface="Arial"/>
                        </a:rPr>
                        <a:t>Tier</a:t>
                      </a:r>
                    </a:p>
                  </a:txBody>
                  <a:tcPr marL="73152" marR="73152" marT="27432" marB="27432" anchor="ctr">
                    <a:lnL w="0">
                      <a:noFill/>
                    </a:lnL>
                    <a:lnR w="0">
                      <a:noFill/>
                    </a:lnR>
                    <a:lnT w="0">
                      <a:noFill/>
                    </a:lnT>
                    <a:lnB w="0">
                      <a:noFill/>
                    </a:lnB>
                    <a:solidFill>
                      <a:srgbClr val="0B2A4A"/>
                    </a:solidFill>
                  </a:tcPr>
                </a:tc>
              </a:tr>
              <a:tr h="457200">
                <a:tc>
                  <a:txBody>
                    <a:bodyPr/>
                    <a:lstStyle/>
                    <a:p>
                      <a:pPr algn="l">
                        <a:lnSpc>
                          <a:spcPct val="100000"/>
                        </a:lnSpc>
                        <a:spcAft>
                          <a:spcPts val="0"/>
                        </a:spcAft>
                      </a:pPr>
                      <a:r>
                        <a:rPr sz="1100" i="0" b="1">
                          <a:solidFill>
                            <a:srgbClr val="1E2833"/>
                          </a:solidFill>
                          <a:latin typeface="Arial"/>
                        </a:rPr>
                        <a:t>Click without landing</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l">
                        <a:lnSpc>
                          <a:spcPct val="100000"/>
                        </a:lnSpc>
                        <a:spcAft>
                          <a:spcPts val="0"/>
                        </a:spcAft>
                      </a:pPr>
                      <a:r>
                        <a:rPr sz="1100" i="0" b="0">
                          <a:solidFill>
                            <a:srgbClr val="1E2833"/>
                          </a:solidFill>
                          <a:latin typeface="Arial"/>
                        </a:rPr>
                        <a:t>The network registered a click, but the brand's site never loaded (cookie stuffing)</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l">
                        <a:lnSpc>
                          <a:spcPct val="100000"/>
                        </a:lnSpc>
                        <a:spcAft>
                          <a:spcPts val="0"/>
                        </a:spcAft>
                      </a:pPr>
                      <a:r>
                        <a:rPr sz="1100" i="0" b="0">
                          <a:solidFill>
                            <a:srgbClr val="1E2833"/>
                          </a:solidFill>
                          <a:latin typeface="Arial"/>
                        </a:rPr>
                        <a:t>Strong</a:t>
                      </a:r>
                    </a:p>
                  </a:txBody>
                  <a:tcPr marL="73152" marR="73152" marT="27432" marB="27432" anchor="ctr">
                    <a:lnL w="0">
                      <a:noFill/>
                    </a:lnL>
                    <a:lnR w="0">
                      <a:noFill/>
                    </a:lnR>
                    <a:lnT w="0">
                      <a:noFill/>
                    </a:lnT>
                    <a:lnB w="9525">
                      <a:solidFill>
                        <a:srgbClr val="D6DDE5"/>
                      </a:solidFill>
                    </a:lnB>
                    <a:solidFill>
                      <a:srgbClr val="FFF1E5"/>
                    </a:solidFill>
                  </a:tcPr>
                </a:tc>
              </a:tr>
              <a:tr h="457200">
                <a:tc>
                  <a:txBody>
                    <a:bodyPr/>
                    <a:lstStyle/>
                    <a:p>
                      <a:pPr algn="l">
                        <a:lnSpc>
                          <a:spcPct val="100000"/>
                        </a:lnSpc>
                        <a:spcAft>
                          <a:spcPts val="0"/>
                        </a:spcAft>
                      </a:pPr>
                      <a:r>
                        <a:rPr sz="1100" i="0" b="1">
                          <a:solidFill>
                            <a:srgbClr val="1E2833"/>
                          </a:solidFill>
                          <a:latin typeface="Arial"/>
                        </a:rPr>
                        <a:t>Injected at cart / checkout</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l">
                        <a:lnSpc>
                          <a:spcPct val="100000"/>
                        </a:lnSpc>
                        <a:spcAft>
                          <a:spcPts val="0"/>
                        </a:spcAft>
                      </a:pPr>
                      <a:r>
                        <a:rPr sz="1100" i="0" b="0">
                          <a:solidFill>
                            <a:srgbClr val="1E2833"/>
                          </a:solidFill>
                          <a:latin typeface="Arial"/>
                        </a:rPr>
                        <a:t>The user was in the brand's cart or checkout in the 30 minutes before the click</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l">
                        <a:lnSpc>
                          <a:spcPct val="100000"/>
                        </a:lnSpc>
                        <a:spcAft>
                          <a:spcPts val="0"/>
                        </a:spcAft>
                      </a:pPr>
                      <a:r>
                        <a:rPr sz="1100" i="0" b="0">
                          <a:solidFill>
                            <a:srgbClr val="1E2833"/>
                          </a:solidFill>
                          <a:latin typeface="Arial"/>
                        </a:rPr>
                        <a:t>Strong</a:t>
                      </a:r>
                    </a:p>
                  </a:txBody>
                  <a:tcPr marL="73152" marR="73152" marT="27432" marB="27432" anchor="ctr">
                    <a:lnL w="0">
                      <a:noFill/>
                    </a:lnL>
                    <a:lnR w="0">
                      <a:noFill/>
                    </a:lnR>
                    <a:lnT w="0">
                      <a:noFill/>
                    </a:lnT>
                    <a:lnB w="9525">
                      <a:solidFill>
                        <a:srgbClr val="D6DDE5"/>
                      </a:solidFill>
                    </a:lnB>
                    <a:solidFill>
                      <a:srgbClr val="FFF1E5"/>
                    </a:solidFill>
                  </a:tcPr>
                </a:tc>
              </a:tr>
              <a:tr h="457200">
                <a:tc>
                  <a:txBody>
                    <a:bodyPr/>
                    <a:lstStyle/>
                    <a:p>
                      <a:pPr algn="l">
                        <a:lnSpc>
                          <a:spcPct val="100000"/>
                        </a:lnSpc>
                        <a:spcAft>
                          <a:spcPts val="0"/>
                        </a:spcAft>
                      </a:pPr>
                      <a:r>
                        <a:rPr sz="1100" i="0" b="1">
                          <a:solidFill>
                            <a:srgbClr val="1E2833"/>
                          </a:solidFill>
                          <a:latin typeface="Arial"/>
                        </a:rPr>
                        <a:t>Already on site</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l">
                        <a:lnSpc>
                          <a:spcPct val="100000"/>
                        </a:lnSpc>
                        <a:spcAft>
                          <a:spcPts val="0"/>
                        </a:spcAft>
                      </a:pPr>
                      <a:r>
                        <a:rPr sz="1100" i="0" b="0">
                          <a:solidFill>
                            <a:srgbClr val="1E2833"/>
                          </a:solidFill>
                          <a:latin typeface="Arial"/>
                        </a:rPr>
                        <a:t>The user was on the brand's site, without an affiliate tag, in the 30 minutes before</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l">
                        <a:lnSpc>
                          <a:spcPct val="100000"/>
                        </a:lnSpc>
                        <a:spcAft>
                          <a:spcPts val="0"/>
                        </a:spcAft>
                      </a:pPr>
                      <a:r>
                        <a:rPr sz="1100" i="0" b="0">
                          <a:solidFill>
                            <a:srgbClr val="1E2833"/>
                          </a:solidFill>
                          <a:latin typeface="Arial"/>
                        </a:rPr>
                        <a:t>Strong</a:t>
                      </a:r>
                    </a:p>
                  </a:txBody>
                  <a:tcPr marL="73152" marR="73152" marT="27432" marB="27432" anchor="ctr">
                    <a:lnL w="0">
                      <a:noFill/>
                    </a:lnL>
                    <a:lnR w="0">
                      <a:noFill/>
                    </a:lnR>
                    <a:lnT w="0">
                      <a:noFill/>
                    </a:lnT>
                    <a:lnB w="9525">
                      <a:solidFill>
                        <a:srgbClr val="D6DDE5"/>
                      </a:solidFill>
                    </a:lnB>
                    <a:solidFill>
                      <a:srgbClr val="FFF1E5"/>
                    </a:solidFill>
                  </a:tcPr>
                </a:tc>
              </a:tr>
              <a:tr h="457200">
                <a:tc>
                  <a:txBody>
                    <a:bodyPr/>
                    <a:lstStyle/>
                    <a:p>
                      <a:pPr algn="l">
                        <a:lnSpc>
                          <a:spcPct val="100000"/>
                        </a:lnSpc>
                        <a:spcAft>
                          <a:spcPts val="0"/>
                        </a:spcAft>
                      </a:pPr>
                      <a:r>
                        <a:rPr sz="1100" i="0" b="1">
                          <a:solidFill>
                            <a:srgbClr val="1E2833"/>
                          </a:solidFill>
                          <a:latin typeface="Arial"/>
                        </a:rPr>
                        <a:t>Publisher-bought search ad</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l">
                        <a:lnSpc>
                          <a:spcPct val="100000"/>
                        </a:lnSpc>
                        <a:spcAft>
                          <a:spcPts val="0"/>
                        </a:spcAft>
                      </a:pPr>
                      <a:r>
                        <a:rPr sz="1100" i="0" b="0">
                          <a:solidFill>
                            <a:srgbClr val="1E2833"/>
                          </a:solidFill>
                          <a:latin typeface="Arial"/>
                        </a:rPr>
                        <a:t>The affiliate landing carries a Google or Bing ad click id (gclid, gad_source)</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l">
                        <a:lnSpc>
                          <a:spcPct val="100000"/>
                        </a:lnSpc>
                        <a:spcAft>
                          <a:spcPts val="0"/>
                        </a:spcAft>
                      </a:pPr>
                      <a:r>
                        <a:rPr sz="1100" i="0" b="0">
                          <a:solidFill>
                            <a:srgbClr val="1E2833"/>
                          </a:solidFill>
                          <a:latin typeface="Arial"/>
                        </a:rPr>
                        <a:t>Strong (policy)</a:t>
                      </a:r>
                    </a:p>
                  </a:txBody>
                  <a:tcPr marL="73152" marR="73152" marT="27432" marB="27432" anchor="ctr">
                    <a:lnL w="0">
                      <a:noFill/>
                    </a:lnL>
                    <a:lnR w="0">
                      <a:noFill/>
                    </a:lnR>
                    <a:lnT w="0">
                      <a:noFill/>
                    </a:lnT>
                    <a:lnB w="9525">
                      <a:solidFill>
                        <a:srgbClr val="D6DDE5"/>
                      </a:solidFill>
                    </a:lnB>
                    <a:solidFill>
                      <a:srgbClr val="FFF1E5"/>
                    </a:solidFill>
                  </a:tcPr>
                </a:tc>
              </a:tr>
              <a:tr h="457200">
                <a:tc>
                  <a:txBody>
                    <a:bodyPr/>
                    <a:lstStyle/>
                    <a:p>
                      <a:pPr algn="l">
                        <a:lnSpc>
                          <a:spcPct val="100000"/>
                        </a:lnSpc>
                        <a:spcAft>
                          <a:spcPts val="0"/>
                        </a:spcAft>
                      </a:pPr>
                      <a:r>
                        <a:rPr sz="1100" i="0" b="1">
                          <a:solidFill>
                            <a:srgbClr val="1E2833"/>
                          </a:solidFill>
                          <a:latin typeface="Arial"/>
                        </a:rPr>
                        <a:t>Brand search before</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A search for the brand name within 60 seconds before the click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Medium</a:t>
                      </a:r>
                    </a:p>
                  </a:txBody>
                  <a:tcPr marL="73152" marR="73152" marT="27432" marB="27432" anchor="ctr">
                    <a:lnL w="0">
                      <a:noFill/>
                    </a:lnL>
                    <a:lnR w="0">
                      <a:noFill/>
                    </a:lnR>
                    <a:lnT w="0">
                      <a:noFill/>
                    </a:lnT>
                    <a:lnB w="9525">
                      <a:solidFill>
                        <a:srgbClr val="D6DDE5"/>
                      </a:solidFill>
                    </a:lnB>
                    <a:solidFill>
                      <a:srgbClr val="FFFFFF"/>
                    </a:solidFill>
                  </a:tcPr>
                </a:tc>
              </a:tr>
              <a:tr h="457200">
                <a:tc>
                  <a:txBody>
                    <a:bodyPr/>
                    <a:lstStyle/>
                    <a:p>
                      <a:pPr algn="l">
                        <a:lnSpc>
                          <a:spcPct val="100000"/>
                        </a:lnSpc>
                        <a:spcAft>
                          <a:spcPts val="0"/>
                        </a:spcAft>
                      </a:pPr>
                      <a:r>
                        <a:rPr sz="1100" i="0" b="1">
                          <a:solidFill>
                            <a:srgbClr val="1E2833"/>
                          </a:solidFill>
                          <a:latin typeface="Arial"/>
                        </a:rPr>
                        <a:t>Coupon / cash-back before</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A coupon or cash-back site or extension fired within 60 seconds before</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Medium</a:t>
                      </a:r>
                    </a:p>
                  </a:txBody>
                  <a:tcPr marL="73152" marR="73152" marT="27432" marB="27432" anchor="ctr">
                    <a:lnL w="0">
                      <a:noFill/>
                    </a:lnL>
                    <a:lnR w="0">
                      <a:noFill/>
                    </a:lnR>
                    <a:lnT w="0">
                      <a:noFill/>
                    </a:lnT>
                    <a:lnB w="9525">
                      <a:solidFill>
                        <a:srgbClr val="D6DDE5"/>
                      </a:solidFill>
                    </a:lnB>
                    <a:solidFill>
                      <a:srgbClr val="FFFFFF"/>
                    </a:solidFill>
                  </a:tcPr>
                </a:tc>
              </a:tr>
              <a:tr h="457200">
                <a:tc>
                  <a:txBody>
                    <a:bodyPr/>
                    <a:lstStyle/>
                    <a:p>
                      <a:pPr algn="l">
                        <a:lnSpc>
                          <a:spcPct val="100000"/>
                        </a:lnSpc>
                        <a:spcAft>
                          <a:spcPts val="0"/>
                        </a:spcAft>
                      </a:pPr>
                      <a:r>
                        <a:rPr sz="1100" i="0" b="1">
                          <a:solidFill>
                            <a:srgbClr val="1E2833"/>
                          </a:solidFill>
                          <a:latin typeface="Arial"/>
                        </a:rPr>
                        <a:t>Multi-brand burst</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Landings on 2+ other advertisers within ±2 minutes; stuffing only if the user never engages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Review</a:t>
                      </a:r>
                    </a:p>
                  </a:txBody>
                  <a:tcPr marL="73152" marR="73152" marT="27432" marB="27432" anchor="ctr">
                    <a:lnL w="0">
                      <a:noFill/>
                    </a:lnL>
                    <a:lnR w="0">
                      <a:noFill/>
                    </a:lnR>
                    <a:lnT w="0">
                      <a:noFill/>
                    </a:lnT>
                    <a:lnB w="9525">
                      <a:solidFill>
                        <a:srgbClr val="D6DDE5"/>
                      </a:solidFill>
                    </a:lnB>
                    <a:solidFill>
                      <a:srgbClr val="FFFFFF"/>
                    </a:solidFill>
                  </a:tcPr>
                </a:tc>
              </a:tr>
              <a:tr h="457200">
                <a:tc>
                  <a:txBody>
                    <a:bodyPr/>
                    <a:lstStyle/>
                    <a:p>
                      <a:pPr algn="l">
                        <a:lnSpc>
                          <a:spcPct val="100000"/>
                        </a:lnSpc>
                        <a:spcAft>
                          <a:spcPts val="0"/>
                        </a:spcAft>
                      </a:pPr>
                      <a:r>
                        <a:rPr sz="1100" i="0" b="1">
                          <a:solidFill>
                            <a:srgbClr val="1E2833"/>
                          </a:solidFill>
                          <a:latin typeface="Arial"/>
                        </a:rPr>
                        <a:t>No visible referrer</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No activity in the 30 minutes before (also true for app and email clicks)</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l">
                        <a:lnSpc>
                          <a:spcPct val="100000"/>
                        </a:lnSpc>
                        <a:spcAft>
                          <a:spcPts val="0"/>
                        </a:spcAft>
                      </a:pPr>
                      <a:r>
                        <a:rPr sz="1100" i="0" b="0">
                          <a:solidFill>
                            <a:srgbClr val="1E2833"/>
                          </a:solidFill>
                          <a:latin typeface="Arial"/>
                        </a:rPr>
                        <a:t>Weak</a:t>
                      </a:r>
                    </a:p>
                  </a:txBody>
                  <a:tcPr marL="73152" marR="73152" marT="27432" marB="27432" anchor="ctr">
                    <a:lnL w="0">
                      <a:noFill/>
                    </a:lnL>
                    <a:lnR w="0">
                      <a:noFill/>
                    </a:lnR>
                    <a:lnT w="0">
                      <a:noFill/>
                    </a:lnT>
                    <a:lnB w="9525">
                      <a:solidFill>
                        <a:srgbClr val="D6DDE5"/>
                      </a:solidFill>
                    </a:lnB>
                    <a:solidFill>
                      <a:srgbClr val="FFFFFF"/>
                    </a:solidFill>
                  </a:tcPr>
                </a:tc>
              </a:tr>
            </a:tbl>
          </a:graphicData>
        </a:graphic>
      </p:graphicFrame>
      <p:sp>
        <p:nvSpPr>
          <p:cNvPr id="12" name="TextBox 11"/>
          <p:cNvSpPr txBox="1"/>
          <p:nvPr/>
        </p:nvSpPr>
        <p:spPr>
          <a:xfrm>
            <a:off x="548640" y="5852160"/>
            <a:ext cx="11094415" cy="365760"/>
          </a:xfrm>
          <a:prstGeom prst="rect">
            <a:avLst/>
          </a:prstGeom>
          <a:noFill/>
        </p:spPr>
        <p:txBody>
          <a:bodyPr wrap="square" lIns="0" rIns="0" tIns="0" bIns="0" anchor="t">
            <a:noAutofit/>
          </a:bodyPr>
          <a:lstStyle/>
          <a:p>
            <a:pPr algn="l">
              <a:lnSpc>
                <a:spcPct val="110000"/>
              </a:lnSpc>
              <a:spcAft>
                <a:spcPts val="0"/>
              </a:spcAft>
            </a:pPr>
            <a:r>
              <a:rPr sz="1050" i="0" b="0">
                <a:solidFill>
                  <a:srgbClr val="647282"/>
                </a:solidFill>
                <a:latin typeface="Arial"/>
              </a:rPr>
              <a:t>The 30-minute look-back is tested at 10 and 2 minutes in 10_sensitivity.sql.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APPENDIX</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A3 · Walmart: outcomes by primary signal (30-minute look-back)</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16</a:t>
            </a:r>
          </a:p>
        </p:txBody>
      </p:sp>
      <p:graphicFrame>
        <p:nvGraphicFramePr>
          <p:cNvPr id="11" name="Table 10"/>
          <p:cNvGraphicFramePr>
            <a:graphicFrameLocks noGrp="1"/>
          </p:cNvGraphicFramePr>
          <p:nvPr/>
        </p:nvGraphicFramePr>
        <p:xfrm>
          <a:off x="548640" y="1691640"/>
          <a:ext cx="11091672" cy="3291840"/>
        </p:xfrm>
        <a:graphic>
          <a:graphicData uri="http://schemas.openxmlformats.org/drawingml/2006/table">
            <a:tbl>
              <a:tblPr firstRow="0" bandRow="0">
                <a:tableStyleId>{2D5ABB26-0587-4C30-8999-92F81FD0307C}</a:tableStyleId>
              </a:tblPr>
              <a:tblGrid>
                <a:gridCol w="3566160"/>
                <a:gridCol w="1280160"/>
                <a:gridCol w="1463040"/>
                <a:gridCol w="1554480"/>
                <a:gridCol w="1463040"/>
                <a:gridCol w="1764792"/>
              </a:tblGrid>
              <a:tr h="411480">
                <a:tc>
                  <a:txBody>
                    <a:bodyPr/>
                    <a:lstStyle/>
                    <a:p>
                      <a:pPr algn="l">
                        <a:lnSpc>
                          <a:spcPct val="100000"/>
                        </a:lnSpc>
                        <a:spcAft>
                          <a:spcPts val="0"/>
                        </a:spcAft>
                      </a:pPr>
                      <a:r>
                        <a:rPr sz="1000" i="0" b="1">
                          <a:solidFill>
                            <a:srgbClr val="FFFFFF"/>
                          </a:solidFill>
                          <a:latin typeface="Arial"/>
                        </a:rPr>
                        <a:t>Primary signal</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Clicks</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Share of clicks</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Converted clicks</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Conversion rate</a:t>
                      </a:r>
                    </a:p>
                  </a:txBody>
                  <a:tcPr marL="73152" marR="73152" marT="27432" marB="27432" anchor="ctr">
                    <a:lnL w="0">
                      <a:noFill/>
                    </a:lnL>
                    <a:lnR w="0">
                      <a:noFill/>
                    </a:lnR>
                    <a:lnT w="0">
                      <a:noFill/>
                    </a:lnT>
                    <a:lnB w="0">
                      <a:noFill/>
                    </a:lnB>
                    <a:solidFill>
                      <a:srgbClr val="0B2A4A"/>
                    </a:solidFill>
                  </a:tcPr>
                </a:tc>
                <a:tc>
                  <a:txBody>
                    <a:bodyPr/>
                    <a:lstStyle/>
                    <a:p>
                      <a:pPr algn="r">
                        <a:lnSpc>
                          <a:spcPct val="100000"/>
                        </a:lnSpc>
                        <a:spcAft>
                          <a:spcPts val="0"/>
                        </a:spcAft>
                      </a:pPr>
                      <a:r>
                        <a:rPr sz="1000" i="0" b="1">
                          <a:solidFill>
                            <a:srgbClr val="FFFFFF"/>
                          </a:solidFill>
                          <a:latin typeface="Arial"/>
                        </a:rPr>
                        <a:t>Share of credited orders</a:t>
                      </a:r>
                    </a:p>
                  </a:txBody>
                  <a:tcPr marL="73152" marR="73152" marT="27432" marB="27432" anchor="ctr">
                    <a:lnL w="0">
                      <a:noFill/>
                    </a:lnL>
                    <a:lnR w="0">
                      <a:noFill/>
                    </a:lnR>
                    <a:lnT w="0">
                      <a:noFill/>
                    </a:lnT>
                    <a:lnB w="0">
                      <a:noFill/>
                    </a:lnB>
                    <a:solidFill>
                      <a:srgbClr val="0B2A4A"/>
                    </a:solidFill>
                  </a:tcPr>
                </a:tc>
              </a:tr>
              <a:tr h="411480">
                <a:tc>
                  <a:txBody>
                    <a:bodyPr/>
                    <a:lstStyle/>
                    <a:p>
                      <a:pPr algn="l">
                        <a:lnSpc>
                          <a:spcPct val="100000"/>
                        </a:lnSpc>
                        <a:spcAft>
                          <a:spcPts val="0"/>
                        </a:spcAft>
                      </a:pPr>
                      <a:r>
                        <a:rPr sz="1100" i="0" b="1">
                          <a:solidFill>
                            <a:srgbClr val="1E2833"/>
                          </a:solidFill>
                          <a:latin typeface="Arial"/>
                        </a:rPr>
                        <a:t>Injected at cart/checkout</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430</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6.7%</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56</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13.02%</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50.0%</a:t>
                      </a:r>
                    </a:p>
                  </a:txBody>
                  <a:tcPr marL="73152" marR="73152" marT="27432" marB="27432" anchor="ctr">
                    <a:lnL w="0">
                      <a:noFill/>
                    </a:lnL>
                    <a:lnR w="0">
                      <a:noFill/>
                    </a:lnR>
                    <a:lnT w="0">
                      <a:noFill/>
                    </a:lnT>
                    <a:lnB w="9525">
                      <a:solidFill>
                        <a:srgbClr val="D6DDE5"/>
                      </a:solidFill>
                    </a:lnB>
                    <a:solidFill>
                      <a:srgbClr val="FFF1E5"/>
                    </a:solidFill>
                  </a:tcPr>
                </a:tc>
              </a:tr>
              <a:tr h="411480">
                <a:tc>
                  <a:txBody>
                    <a:bodyPr/>
                    <a:lstStyle/>
                    <a:p>
                      <a:pPr algn="l">
                        <a:lnSpc>
                          <a:spcPct val="100000"/>
                        </a:lnSpc>
                        <a:spcAft>
                          <a:spcPts val="0"/>
                        </a:spcAft>
                      </a:pPr>
                      <a:r>
                        <a:rPr sz="1100" i="0" b="1">
                          <a:solidFill>
                            <a:srgbClr val="1E2833"/>
                          </a:solidFill>
                          <a:latin typeface="Arial"/>
                        </a:rPr>
                        <a:t>User already on brand site</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1,055</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16.4%</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32</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3.03%</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28.6%</a:t>
                      </a:r>
                    </a:p>
                  </a:txBody>
                  <a:tcPr marL="73152" marR="73152" marT="27432" marB="27432" anchor="ctr">
                    <a:lnL w="0">
                      <a:noFill/>
                    </a:lnL>
                    <a:lnR w="0">
                      <a:noFill/>
                    </a:lnR>
                    <a:lnT w="0">
                      <a:noFill/>
                    </a:lnT>
                    <a:lnB w="9525">
                      <a:solidFill>
                        <a:srgbClr val="D6DDE5"/>
                      </a:solidFill>
                    </a:lnB>
                    <a:solidFill>
                      <a:srgbClr val="FFF1E5"/>
                    </a:solidFill>
                  </a:tcPr>
                </a:tc>
              </a:tr>
              <a:tr h="411480">
                <a:tc>
                  <a:txBody>
                    <a:bodyPr/>
                    <a:lstStyle/>
                    <a:p>
                      <a:pPr algn="l">
                        <a:lnSpc>
                          <a:spcPct val="100000"/>
                        </a:lnSpc>
                        <a:spcAft>
                          <a:spcPts val="0"/>
                        </a:spcAft>
                      </a:pPr>
                      <a:r>
                        <a:rPr sz="1100" i="0" b="1">
                          <a:solidFill>
                            <a:srgbClr val="1E2833"/>
                          </a:solidFill>
                          <a:latin typeface="Arial"/>
                        </a:rPr>
                        <a:t>Publisher-bought search ad</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27</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0.4%</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0</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0.00%</a:t>
                      </a:r>
                    </a:p>
                  </a:txBody>
                  <a:tcPr marL="73152" marR="73152" marT="27432" marB="27432" anchor="ctr">
                    <a:lnL w="0">
                      <a:noFill/>
                    </a:lnL>
                    <a:lnR w="0">
                      <a:noFill/>
                    </a:lnR>
                    <a:lnT w="0">
                      <a:noFill/>
                    </a:lnT>
                    <a:lnB w="9525">
                      <a:solidFill>
                        <a:srgbClr val="D6DDE5"/>
                      </a:solidFill>
                    </a:lnB>
                    <a:solidFill>
                      <a:srgbClr val="FFF1E5"/>
                    </a:solidFill>
                  </a:tcPr>
                </a:tc>
                <a:tc>
                  <a:txBody>
                    <a:bodyPr/>
                    <a:lstStyle/>
                    <a:p>
                      <a:pPr algn="r">
                        <a:lnSpc>
                          <a:spcPct val="100000"/>
                        </a:lnSpc>
                        <a:spcAft>
                          <a:spcPts val="0"/>
                        </a:spcAft>
                      </a:pPr>
                      <a:r>
                        <a:rPr sz="1100" i="0" b="0">
                          <a:solidFill>
                            <a:srgbClr val="1E2833"/>
                          </a:solidFill>
                          <a:latin typeface="Arial"/>
                        </a:rPr>
                        <a:t>0.0%</a:t>
                      </a:r>
                    </a:p>
                  </a:txBody>
                  <a:tcPr marL="73152" marR="73152" marT="27432" marB="27432" anchor="ctr">
                    <a:lnL w="0">
                      <a:noFill/>
                    </a:lnL>
                    <a:lnR w="0">
                      <a:noFill/>
                    </a:lnR>
                    <a:lnT w="0">
                      <a:noFill/>
                    </a:lnT>
                    <a:lnB w="9525">
                      <a:solidFill>
                        <a:srgbClr val="D6DDE5"/>
                      </a:solidFill>
                    </a:lnB>
                    <a:solidFill>
                      <a:srgbClr val="FFF1E5"/>
                    </a:solidFill>
                  </a:tcPr>
                </a:tc>
              </a:tr>
              <a:tr h="411480">
                <a:tc>
                  <a:txBody>
                    <a:bodyPr/>
                    <a:lstStyle/>
                    <a:p>
                      <a:pPr algn="l">
                        <a:lnSpc>
                          <a:spcPct val="100000"/>
                        </a:lnSpc>
                        <a:spcAft>
                          <a:spcPts val="0"/>
                        </a:spcAft>
                      </a:pPr>
                      <a:r>
                        <a:rPr sz="1100" i="0" b="1">
                          <a:solidFill>
                            <a:srgbClr val="1E2833"/>
                          </a:solidFill>
                          <a:latin typeface="Arial"/>
                        </a:rPr>
                        <a:t>Coupon/cash-back just before</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74</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1.1%</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3</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4.05%</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2.7%</a:t>
                      </a:r>
                    </a:p>
                  </a:txBody>
                  <a:tcPr marL="73152" marR="73152" marT="27432" marB="27432" anchor="ctr">
                    <a:lnL w="0">
                      <a:noFill/>
                    </a:lnL>
                    <a:lnR w="0">
                      <a:noFill/>
                    </a:lnR>
                    <a:lnT w="0">
                      <a:noFill/>
                    </a:lnT>
                    <a:lnB w="9525">
                      <a:solidFill>
                        <a:srgbClr val="D6DDE5"/>
                      </a:solidFill>
                    </a:lnB>
                    <a:solidFill>
                      <a:srgbClr val="FFFFFF"/>
                    </a:solidFill>
                  </a:tcPr>
                </a:tc>
              </a:tr>
              <a:tr h="411480">
                <a:tc>
                  <a:txBody>
                    <a:bodyPr/>
                    <a:lstStyle/>
                    <a:p>
                      <a:pPr algn="l">
                        <a:lnSpc>
                          <a:spcPct val="100000"/>
                        </a:lnSpc>
                        <a:spcAft>
                          <a:spcPts val="0"/>
                        </a:spcAft>
                      </a:pPr>
                      <a:r>
                        <a:rPr sz="1100" i="0" b="1">
                          <a:solidFill>
                            <a:srgbClr val="1E2833"/>
                          </a:solidFill>
                          <a:latin typeface="Arial"/>
                        </a:rPr>
                        <a:t>Multi-brand burst (review)</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4</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0.1%</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0</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0.00%</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0.0%</a:t>
                      </a:r>
                    </a:p>
                  </a:txBody>
                  <a:tcPr marL="73152" marR="73152" marT="27432" marB="27432" anchor="ctr">
                    <a:lnL w="0">
                      <a:noFill/>
                    </a:lnL>
                    <a:lnR w="0">
                      <a:noFill/>
                    </a:lnR>
                    <a:lnT w="0">
                      <a:noFill/>
                    </a:lnT>
                    <a:lnB w="9525">
                      <a:solidFill>
                        <a:srgbClr val="D6DDE5"/>
                      </a:solidFill>
                    </a:lnB>
                    <a:solidFill>
                      <a:srgbClr val="FFFFFF"/>
                    </a:solidFill>
                  </a:tcPr>
                </a:tc>
              </a:tr>
              <a:tr h="411480">
                <a:tc>
                  <a:txBody>
                    <a:bodyPr/>
                    <a:lstStyle/>
                    <a:p>
                      <a:pPr algn="l">
                        <a:lnSpc>
                          <a:spcPct val="100000"/>
                        </a:lnSpc>
                        <a:spcAft>
                          <a:spcPts val="0"/>
                        </a:spcAft>
                      </a:pPr>
                      <a:r>
                        <a:rPr sz="1100" i="0" b="1">
                          <a:solidFill>
                            <a:srgbClr val="1E2833"/>
                          </a:solidFill>
                          <a:latin typeface="Arial"/>
                        </a:rPr>
                        <a:t>No visible referrer (weak)</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148</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2.3%</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2</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1.35%</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1.8%</a:t>
                      </a:r>
                    </a:p>
                  </a:txBody>
                  <a:tcPr marL="73152" marR="73152" marT="27432" marB="27432" anchor="ctr">
                    <a:lnL w="0">
                      <a:noFill/>
                    </a:lnL>
                    <a:lnR w="0">
                      <a:noFill/>
                    </a:lnR>
                    <a:lnT w="0">
                      <a:noFill/>
                    </a:lnT>
                    <a:lnB w="9525">
                      <a:solidFill>
                        <a:srgbClr val="D6DDE5"/>
                      </a:solidFill>
                    </a:lnB>
                    <a:solidFill>
                      <a:srgbClr val="FFFFFF"/>
                    </a:solidFill>
                  </a:tcPr>
                </a:tc>
              </a:tr>
              <a:tr h="411480">
                <a:tc>
                  <a:txBody>
                    <a:bodyPr/>
                    <a:lstStyle/>
                    <a:p>
                      <a:pPr algn="l">
                        <a:lnSpc>
                          <a:spcPct val="100000"/>
                        </a:lnSpc>
                        <a:spcAft>
                          <a:spcPts val="0"/>
                        </a:spcAft>
                      </a:pPr>
                      <a:r>
                        <a:rPr sz="1100" i="0" b="1">
                          <a:solidFill>
                            <a:srgbClr val="1E2833"/>
                          </a:solidFill>
                          <a:latin typeface="Arial"/>
                        </a:rPr>
                        <a:t>No hijack indicator</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4,711</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73.1%</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19</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0.40%</a:t>
                      </a:r>
                    </a:p>
                  </a:txBody>
                  <a:tcPr marL="73152" marR="73152" marT="27432" marB="27432" anchor="ctr">
                    <a:lnL w="0">
                      <a:noFill/>
                    </a:lnL>
                    <a:lnR w="0">
                      <a:noFill/>
                    </a:lnR>
                    <a:lnT w="0">
                      <a:noFill/>
                    </a:lnT>
                    <a:lnB w="9525">
                      <a:solidFill>
                        <a:srgbClr val="D6DDE5"/>
                      </a:solidFill>
                    </a:lnB>
                    <a:solidFill>
                      <a:srgbClr val="FFFFFF"/>
                    </a:solidFill>
                  </a:tcPr>
                </a:tc>
                <a:tc>
                  <a:txBody>
                    <a:bodyPr/>
                    <a:lstStyle/>
                    <a:p>
                      <a:pPr algn="r">
                        <a:lnSpc>
                          <a:spcPct val="100000"/>
                        </a:lnSpc>
                        <a:spcAft>
                          <a:spcPts val="0"/>
                        </a:spcAft>
                      </a:pPr>
                      <a:r>
                        <a:rPr sz="1100" i="0" b="0">
                          <a:solidFill>
                            <a:srgbClr val="1E2833"/>
                          </a:solidFill>
                          <a:latin typeface="Arial"/>
                        </a:rPr>
                        <a:t>17.0%</a:t>
                      </a:r>
                    </a:p>
                  </a:txBody>
                  <a:tcPr marL="73152" marR="73152" marT="27432" marB="27432" anchor="ctr">
                    <a:lnL w="0">
                      <a:noFill/>
                    </a:lnL>
                    <a:lnR w="0">
                      <a:noFill/>
                    </a:lnR>
                    <a:lnT w="0">
                      <a:noFill/>
                    </a:lnT>
                    <a:lnB w="9525">
                      <a:solidFill>
                        <a:srgbClr val="D6DDE5"/>
                      </a:solidFill>
                    </a:lnB>
                    <a:solidFill>
                      <a:srgbClr val="FFFFFF"/>
                    </a:solidFill>
                  </a:tcPr>
                </a:tc>
              </a:tr>
            </a:tbl>
          </a:graphicData>
        </a:graphic>
      </p:graphicFrame>
      <p:sp>
        <p:nvSpPr>
          <p:cNvPr id="12" name="TextBox 11"/>
          <p:cNvSpPr txBox="1"/>
          <p:nvPr/>
        </p:nvSpPr>
        <p:spPr>
          <a:xfrm>
            <a:off x="548640" y="5486400"/>
            <a:ext cx="11094415" cy="548640"/>
          </a:xfrm>
          <a:prstGeom prst="rect">
            <a:avLst/>
          </a:prstGeom>
          <a:noFill/>
        </p:spPr>
        <p:txBody>
          <a:bodyPr wrap="square" lIns="0" rIns="0" tIns="0" bIns="0" anchor="t">
            <a:noAutofit/>
          </a:bodyPr>
          <a:lstStyle/>
          <a:p>
            <a:pPr algn="l">
              <a:lnSpc>
                <a:spcPct val="108000"/>
              </a:lnSpc>
              <a:spcAft>
                <a:spcPts val="0"/>
              </a:spcAft>
            </a:pPr>
            <a:r>
              <a:rPr sz="1050" i="0" b="0">
                <a:solidFill>
                  <a:srgbClr val="647282"/>
                </a:solidFill>
                <a:latin typeface="Arial"/>
              </a:rPr>
              <a:t>Highlighted: strong signals. Converted = the user reached walmart.com's order confirmation after the click and before any later affiliate click for Walmart, the same 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B2A4A"/>
          </a:solidFill>
          <a:ln>
            <a:noFill/>
          </a:ln>
        </p:spPr>
        <p:txBody>
          <a:bodyPr rtlCol="0" anchor="ctr"/>
          <a:lstStyle/>
          <a:p>
            <a:pPr algn="ctr"/>
          </a:p>
        </p:txBody>
      </p:sp>
      <p:sp>
        <p:nvSpPr>
          <p:cNvPr id="3" name="Rectangle 2"/>
          <p:cNvSpPr/>
          <p:nvPr/>
        </p:nvSpPr>
        <p:spPr>
          <a:xfrm>
            <a:off x="0" y="0"/>
            <a:ext cx="2011680" cy="64008"/>
          </a:xfrm>
          <a:prstGeom prst="rect">
            <a:avLst/>
          </a:prstGeom>
          <a:solidFill>
            <a:srgbClr val="FF9438"/>
          </a:solidFill>
          <a:ln>
            <a:noFill/>
          </a:ln>
        </p:spPr>
        <p:txBody>
          <a:bodyPr rtlCol="0" anchor="ctr"/>
          <a:lstStyle/>
          <a:p>
            <a:pPr algn="ctr"/>
          </a:p>
        </p:txBody>
      </p:sp>
      <p:sp>
        <p:nvSpPr>
          <p:cNvPr id="4" name="TextBox 3"/>
          <p:cNvSpPr txBox="1"/>
          <p:nvPr/>
        </p:nvSpPr>
        <p:spPr>
          <a:xfrm>
            <a:off x="548640" y="365760"/>
            <a:ext cx="8229600" cy="256032"/>
          </a:xfrm>
          <a:prstGeom prst="rect">
            <a:avLst/>
          </a:prstGeom>
          <a:noFill/>
        </p:spPr>
        <p:txBody>
          <a:bodyPr wrap="square" lIns="0" rIns="0" tIns="0" bIns="0" anchor="t">
            <a:noAutofit/>
          </a:bodyPr>
          <a:lstStyle/>
          <a:p>
            <a:pPr algn="l">
              <a:lnSpc>
                <a:spcPct val="110000"/>
              </a:lnSpc>
              <a:spcAft>
                <a:spcPts val="0"/>
              </a:spcAft>
            </a:pPr>
            <a:r>
              <a:rPr sz="1050" i="0" b="1" spc="150">
                <a:solidFill>
                  <a:srgbClr val="C9620E"/>
                </a:solidFill>
                <a:latin typeface="Arial"/>
              </a:rPr>
              <a:t>APPENDIX</a:t>
            </a:r>
          </a:p>
        </p:txBody>
      </p:sp>
      <p:sp>
        <p:nvSpPr>
          <p:cNvPr id="5" name="TextBox 4"/>
          <p:cNvSpPr txBox="1"/>
          <p:nvPr/>
        </p:nvSpPr>
        <p:spPr>
          <a:xfrm>
            <a:off x="548640" y="640080"/>
            <a:ext cx="11094415" cy="960120"/>
          </a:xfrm>
          <a:prstGeom prst="rect">
            <a:avLst/>
          </a:prstGeom>
          <a:noFill/>
        </p:spPr>
        <p:txBody>
          <a:bodyPr wrap="square" lIns="0" rIns="0" tIns="0" bIns="0" anchor="t">
            <a:noAutofit/>
          </a:bodyPr>
          <a:lstStyle/>
          <a:p>
            <a:pPr algn="l">
              <a:lnSpc>
                <a:spcPct val="100000"/>
              </a:lnSpc>
              <a:spcAft>
                <a:spcPts val="0"/>
              </a:spcAft>
            </a:pPr>
            <a:r>
              <a:rPr sz="2400" i="0" b="0">
                <a:solidFill>
                  <a:srgbClr val="0B2A4A"/>
                </a:solidFill>
                <a:latin typeface="Georgia"/>
              </a:rPr>
              <a:t>A4 · External sources</a:t>
            </a:r>
          </a:p>
        </p:txBody>
      </p:sp>
      <p:cxnSp>
        <p:nvCxnSpPr>
          <p:cNvPr id="6" name="Connector 5"/>
          <p:cNvCxnSpPr/>
          <p:nvPr/>
        </p:nvCxnSpPr>
        <p:spPr>
          <a:xfrm>
            <a:off x="548640" y="6400800"/>
            <a:ext cx="11094415" cy="0"/>
          </a:xfrm>
          <a:prstGeom prst="line">
            <a:avLst/>
          </a:prstGeom>
          <a:ln w="6350">
            <a:solidFill>
              <a:srgbClr val="D6DDE5"/>
            </a:solidFill>
          </a:ln>
        </p:spPr>
      </p:cxnSp>
      <p:sp>
        <p:nvSpPr>
          <p:cNvPr id="7" name="TextBox 6"/>
          <p:cNvSpPr txBox="1"/>
          <p:nvPr/>
        </p:nvSpPr>
        <p:spPr>
          <a:xfrm>
            <a:off x="548640" y="6464808"/>
            <a:ext cx="8229600" cy="228600"/>
          </a:xfrm>
          <a:prstGeom prst="rect">
            <a:avLst/>
          </a:prstGeom>
          <a:noFill/>
        </p:spPr>
        <p:txBody>
          <a:bodyPr wrap="square" lIns="0" rIns="0" tIns="0" bIns="0" anchor="t">
            <a:noAutofit/>
          </a:bodyPr>
          <a:lstStyle/>
          <a:p>
            <a:pPr algn="l">
              <a:lnSpc>
                <a:spcPct val="110000"/>
              </a:lnSpc>
              <a:spcAft>
                <a:spcPts val="0"/>
              </a:spcAft>
            </a:pPr>
            <a:r>
              <a:rPr sz="850" i="0" b="0">
                <a:solidFill>
                  <a:srgbClr val="647282"/>
                </a:solidFill>
                <a:latin typeface="Arial"/>
              </a:rPr>
              <a:t>Saatva affiliate analysis  ·  Partnerize home assignment  ·  Hagay Gross</a:t>
            </a:r>
          </a:p>
        </p:txBody>
      </p:sp>
      <p:sp>
        <p:nvSpPr>
          <p:cNvPr id="8" name="Oval 7"/>
          <p:cNvSpPr/>
          <p:nvPr/>
        </p:nvSpPr>
        <p:spPr>
          <a:xfrm>
            <a:off x="11213287" y="6505956"/>
            <a:ext cx="118872" cy="118872"/>
          </a:xfrm>
          <a:prstGeom prst="ellipse">
            <a:avLst/>
          </a:prstGeom>
          <a:solidFill>
            <a:srgbClr val="FF9438"/>
          </a:solidFill>
          <a:ln>
            <a:noFill/>
          </a:ln>
        </p:spPr>
        <p:txBody>
          <a:bodyPr rtlCol="0" anchor="ctr"/>
          <a:lstStyle/>
          <a:p>
            <a:pPr algn="ctr"/>
          </a:p>
        </p:txBody>
      </p:sp>
      <p:sp>
        <p:nvSpPr>
          <p:cNvPr id="9" name="Oval 8"/>
          <p:cNvSpPr/>
          <p:nvPr/>
        </p:nvSpPr>
        <p:spPr>
          <a:xfrm>
            <a:off x="11286439" y="6505956"/>
            <a:ext cx="118872" cy="118872"/>
          </a:xfrm>
          <a:prstGeom prst="ellipse">
            <a:avLst/>
          </a:prstGeom>
          <a:solidFill>
            <a:srgbClr val="368EF8"/>
          </a:solidFill>
          <a:ln>
            <a:noFill/>
          </a:ln>
        </p:spPr>
        <p:txBody>
          <a:bodyPr rtlCol="0" anchor="ctr"/>
          <a:lstStyle/>
          <a:p>
            <a:pPr algn="ctr"/>
          </a:p>
        </p:txBody>
      </p:sp>
      <p:sp>
        <p:nvSpPr>
          <p:cNvPr id="10" name="TextBox 9"/>
          <p:cNvSpPr txBox="1"/>
          <p:nvPr/>
        </p:nvSpPr>
        <p:spPr>
          <a:xfrm>
            <a:off x="11441887" y="6464808"/>
            <a:ext cx="201168" cy="228600"/>
          </a:xfrm>
          <a:prstGeom prst="rect">
            <a:avLst/>
          </a:prstGeom>
          <a:noFill/>
        </p:spPr>
        <p:txBody>
          <a:bodyPr wrap="square" lIns="0" rIns="0" tIns="0" bIns="0" anchor="t">
            <a:noAutofit/>
          </a:bodyPr>
          <a:lstStyle/>
          <a:p>
            <a:pPr algn="r">
              <a:lnSpc>
                <a:spcPct val="110000"/>
              </a:lnSpc>
              <a:spcAft>
                <a:spcPts val="0"/>
              </a:spcAft>
            </a:pPr>
            <a:r>
              <a:rPr sz="850" i="0" b="0">
                <a:solidFill>
                  <a:srgbClr val="647282"/>
                </a:solidFill>
                <a:latin typeface="Arial"/>
              </a:rPr>
              <a:t>17</a:t>
            </a:r>
          </a:p>
        </p:txBody>
      </p:sp>
      <p:sp>
        <p:nvSpPr>
          <p:cNvPr id="11" name="TextBox 10"/>
          <p:cNvSpPr txBox="1"/>
          <p:nvPr/>
        </p:nvSpPr>
        <p:spPr>
          <a:xfrm>
            <a:off x="548640" y="1691640"/>
            <a:ext cx="11094415" cy="3291840"/>
          </a:xfrm>
          <a:prstGeom prst="rect">
            <a:avLst/>
          </a:prstGeom>
          <a:noFill/>
        </p:spPr>
        <p:txBody>
          <a:bodyPr wrap="square" lIns="0" rIns="0" tIns="0" bIns="0" anchor="t">
            <a:noAutofit/>
          </a:bodyPr>
          <a:lstStyle/>
          <a:p>
            <a:pPr algn="l" marL="155448" indent="-155448">
              <a:lnSpc>
                <a:spcPct val="112000"/>
              </a:lnSpc>
              <a:spcAft>
                <a:spcPts val="200"/>
              </a:spcAft>
              <a:buClr>
                <a:srgbClr val="B7C1CC"/>
              </a:buClr>
              <a:buFont typeface="Arial"/>
              <a:buChar char="•"/>
            </a:pPr>
            <a:r>
              <a:rPr sz="1250" i="0" b="1">
                <a:solidFill>
                  <a:srgbClr val="0B2A4A"/>
                </a:solidFill>
                <a:latin typeface="Arial"/>
              </a:rPr>
              <a:t>Similarweb</a:t>
            </a:r>
            <a:r>
              <a:rPr sz="1250" i="0" b="0">
                <a:solidFill>
                  <a:srgbClr val="1E2833"/>
                </a:solidFill>
                <a:latin typeface="Arial"/>
              </a:rPr>
              <a:t> website pages for walmart.com, saatva.com, nectarsleep.com, dreamcloudsleep.com and helixsleep.com, retrieved 4 Oct 2026 (latest month: August 2026): monthly visits, US share, top channels.</a:t>
            </a:r>
          </a:p>
          <a:p>
            <a:pPr algn="l" marL="155448">
              <a:lnSpc>
                <a:spcPct val="112000"/>
              </a:lnSpc>
              <a:spcAft>
                <a:spcPts val="1200"/>
              </a:spcAft>
            </a:pPr>
            <a:r>
              <a:rPr sz="1050" i="0" b="0">
                <a:solidFill>
                  <a:srgbClr val="006BA1"/>
                </a:solidFill>
                <a:latin typeface="Arial"/>
              </a:rPr>
              <a:t>similarweb.com/website/saatva.com  (same path for each domain)</a:t>
            </a:r>
          </a:p>
          <a:p>
            <a:pPr algn="l" marL="155448" indent="-155448">
              <a:lnSpc>
                <a:spcPct val="112000"/>
              </a:lnSpc>
              <a:spcAft>
                <a:spcPts val="200"/>
              </a:spcAft>
              <a:buClr>
                <a:srgbClr val="B7C1CC"/>
              </a:buClr>
              <a:buFont typeface="Arial"/>
              <a:buChar char="•"/>
            </a:pPr>
            <a:r>
              <a:rPr sz="1250" i="0" b="1">
                <a:solidFill>
                  <a:srgbClr val="0B2A4A"/>
                </a:solidFill>
                <a:latin typeface="Arial"/>
              </a:rPr>
              <a:t>DataReportal, Digital 2026:</a:t>
            </a:r>
            <a:r>
              <a:rPr sz="1250" i="0" b="0">
                <a:solidFill>
                  <a:srgbClr val="1E2833"/>
                </a:solidFill>
                <a:latin typeface="Arial"/>
              </a:rPr>
              <a:t> 324M US internet users (93.1% of the population).</a:t>
            </a:r>
          </a:p>
          <a:p>
            <a:pPr algn="l" marL="155448">
              <a:lnSpc>
                <a:spcPct val="112000"/>
              </a:lnSpc>
              <a:spcAft>
                <a:spcPts val="1200"/>
              </a:spcAft>
            </a:pPr>
            <a:r>
              <a:rPr sz="1050" i="0" b="0">
                <a:solidFill>
                  <a:srgbClr val="006BA1"/>
                </a:solidFill>
                <a:latin typeface="Arial"/>
              </a:rPr>
              <a:t>datareportal.com/reports/digital-2026-six-billion-internet-users</a:t>
            </a:r>
          </a:p>
          <a:p>
            <a:pPr algn="l" marL="155448" indent="-155448">
              <a:lnSpc>
                <a:spcPct val="112000"/>
              </a:lnSpc>
              <a:spcAft>
                <a:spcPts val="200"/>
              </a:spcAft>
              <a:buClr>
                <a:srgbClr val="B7C1CC"/>
              </a:buClr>
              <a:buFont typeface="Arial"/>
              <a:buChar char="•"/>
            </a:pPr>
            <a:r>
              <a:rPr sz="1250" i="0" b="1">
                <a:solidFill>
                  <a:srgbClr val="0B2A4A"/>
                </a:solidFill>
                <a:latin typeface="Arial"/>
              </a:rPr>
              <a:t>Grips Intelligence</a:t>
            </a:r>
            <a:r>
              <a:rPr sz="1250" i="0" b="0">
                <a:solidFill>
                  <a:srgbClr val="1E2833"/>
                </a:solidFill>
                <a:latin typeface="Arial"/>
              </a:rPr>
              <a:t> retailer pages (us-mattress.com, mattressfirmep.com, mattressfirm.com): mattress e-commerce conversion rates of 0.5–2%.</a:t>
            </a:r>
          </a:p>
          <a:p>
            <a:pPr algn="l" marL="155448">
              <a:lnSpc>
                <a:spcPct val="112000"/>
              </a:lnSpc>
              <a:spcAft>
                <a:spcPts val="1200"/>
              </a:spcAft>
            </a:pPr>
            <a:r>
              <a:rPr sz="1050" i="0" b="0">
                <a:solidFill>
                  <a:srgbClr val="006BA1"/>
                </a:solidFill>
                <a:latin typeface="Arial"/>
              </a:rPr>
              <a:t>gripsintelligence.com/insights/retailers/us-mattress.com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B2A4A"/>
      </a:dk2>
      <a:lt2>
        <a:srgbClr val="F3F6F9"/>
      </a:lt2>
      <a:accent1>
        <a:srgbClr val="368EF8"/>
      </a:accent1>
      <a:accent2>
        <a:srgbClr val="FF9438"/>
      </a:accent2>
      <a:accent3>
        <a:srgbClr val="C19678"/>
      </a:accent3>
      <a:accent4>
        <a:srgbClr val="006BA1"/>
      </a:accent4>
      <a:accent5>
        <a:srgbClr val="6F8196"/>
      </a:accent5>
      <a:accent6>
        <a:srgbClr val="B7C1CC"/>
      </a:accent6>
      <a:hlink>
        <a:srgbClr val="0000FF"/>
      </a:hlink>
      <a:folHlink>
        <a:srgbClr val="800080"/>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