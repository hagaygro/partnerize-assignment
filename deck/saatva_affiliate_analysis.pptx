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for Saatva: how its US affiliate program compares with Nectar, Helix, DreamCloud and Walmart; how to grow it; and how to control attribution hijacking. The data is a one-day US clickstream panel: 48.4M events from 784K users on 1 May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First, 16% of Saatva's visits start with an affiliate click, against 4–11% for the other mattress brands, and Similarweb independently ranks affiliate as Saatva's #1 channel. Second, scaled to the US, that is about 16.7K affiliate clicks a day. The range is wide, 6.1K–36.4K, because it rests on six panel clicks; at category conversion rates it means roughly 84–334 orders a day. Third, where the data has volume (Walmart), the 13–24% of clicks that carry a hijack signal take 52–79% of the affiliate-credited orders, and Saatva's own clicks already show the same patterns. So the recommendations split in two: grow the channel, and stop paying for credit that was taken, not earned.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share of visits that start with an affiliate click is the most robust comparison, because it doesn't depend on scaling: Saatva 16%, Helix 10.5%, DreamCloud 7.4%, Nectar 3.9%. Nectar and DreamCloud lean on paid search instead, 43% and 37% of their visits. Similarweb agrees independently: affiliate is the #1 channel for Saatva (23.7% of traffic) and Helix (21.0%), paid search for Nectar and DreamCloud. Caveat: one day gives 19–51 visits per mattress brand, so read the order, not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 estimate = panel clicks × a scale factor calibrated on the mattress audience (next slide). Saatva comes to about 16.7K clicks a day, with a 95% interval of 6.1K–36.4K; with the Walmart-calibrated factor the conservative estimate is 6.5K. The four intervals overlap, so one day can't rank the mattress brands by volume. No mattress order followed an affiliate click within the day, which is expected for a considered purchase, so orders use a 0.5–2% category conversion rate: 84–334 a day for Saatva. Walmart has the volume to measure directly: 6,449 panel clicks, 1.72% converting, so about 7.0M clicks and 121K converting clicks a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changed the answer. 14.7% of rows were exact duplicates, and some people were recorded under two user ids, one a partial copy of the other; left as is, that inflated brand visits by 14–28% and orders by 20%. I merged ids that share three or more identical events. One pass selects the users who touched any of the five brands, so everything runs on 3.4% of the data, in about 30 seconds. Scaling: a factor calibrated on walmart.com recovers only 35–50% of the mattress sites' Similarweb traffic, because the panel under-covers that audience. The mattress brands therefore use a factor calibrated on the mattress sites themselves, which reproduces each brand within 0.89–1.27×. Caveat: Similarweb's latest public month is August, the Labor Day sale season.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Walmart has the volume to test the indicators. Flagged clicks are clicks without a landing, clicks fired while the shopper was already in the cart or on the site, and clicks from a publisher-bought search ad. They are 13–24% of clicks but take 52–79% of the affiliate-credited orders, depending on how strict the look-back window is, from 2 to 30 minutes. Clicks fired after the shopper had already viewed the cart convert at 13%, against 0.4% for clicks with no signal, and the order follows a median 2.3 minutes later: these clicks close sales that were already happening. Mechanisms: 258 clicks fired from walmart.com itself a median 2 seconds after a walmart.com page, with no publisher page in between; price-comparison redirects (rd.bizrate.com, 461 flagged clicks); and coupon and cash-back extensions (Capital One Shopping, Slickdeals, Rakuten).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objection to slide 6: shoppers in the cart convert at a high rate anyway, so of course these clicks convert. That is the point, and it can be tested. Take every US Walmart shopper at the moment they first view the cart, and separately the checkout. The stage is fixed before any click, and shoppers an affiliate brought to the cart are left out. Then compare those who got an affiliate click afterwards with those who did not. At the cart, 34.2% vs 31.7% order within two hours; at the checkout, 66.7% vs 75.8%. Across the 56 shoppers who got a click, 25 ordered; 25.7 would have without it. The interval is wide (ratio 0.63–1.44), so at most about 31% of these orders could be incremental, and the best estimate is none. The design favours the click, since a shopper who got one stayed on the site at least until it fired. Clicks fired at the cart carry half of Walmart's affiliate-credited orders. At an average order of $100–125 and 1–4% commission, that is $22.3M–111.3M a year paid for sales that were already happening. Saatva's panel has no orders to measure its share, so the Saatva figure is per 10% of orders hijacked: about $860 per order and 3–10% commission.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from Saatva's own clicks. One: a 'new tab' browser extension (newtab.club, via tatrck.com) fired a Partnerize click for Saatva (publisher camref 1011laqH9), but saatva.com never loaded; the user was on Sleep Number at the time. If they buy from Saatva within the cookie window, the extension is paid: that is cookie stuffing. Two: brandxemail is listed as an email publisher, but its click came from a Google ad (gad_source=1) and landed on /sale with an auto-applied coupon: a question for the PPC terms. Three: TrafficPoint, a paid-search listicle, sent one user to six brands within a minute. The user really browsed, so this is not stuffing, but nine minutes later they came back through a Google Shopping ad, likely Saatva's own, so Saatva may pay twice. The indicators should trigger a review, not an automatic penalty.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recruit the partner types the rivals already get traffic from: review sites like Mattress Clarity, buyer's guides like buyersguide.org, and HSA/FSA payment partners like Truemed. Give each publisher its own coupon code: today Mattress Nerd and TrafficPoint landings auto-apply the same code. Tier commissions: more for content and new customers, less for coupon clicks and for clicks after a cart exists. Protect: start by reconciling Partnerize click logs with saatva.com landings, because a click id that never lands is direct evidence. Then no commission overwrite after a cart exists, extension stand-down, a PPC and trademark policy, and weekly per-publisher monitoring of six indicators, with payouts held on flagged orders. Next step: the same pipeline on 90 days of data and on Saatva's own Partnerize logs, to size the impact.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results table. Conservative estimates use the Walmart-calibrated factor for the mattress brands and the population ratio for Walmart.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check, what it found, and how the pipeline handles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counts once, under its first-ranked indicator, so the Walmart columns add up to all 6,449 clicks. Strong indicators are highlighted.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A4A"/>
          </a:solidFill>
          <a:ln>
            <a:noFill/>
          </a:ln>
        </p:spPr>
        <p:txBody>
          <a:bodyPr rtlCol="0" anchor="ctr"/>
          <a:lstStyle/>
          <a:p>
            <a:pPr algn="ctr"/>
          </a:p>
        </p:txBody>
      </p:sp>
      <p:sp>
        <p:nvSpPr>
          <p:cNvPr id="3" name="Oval 2"/>
          <p:cNvSpPr/>
          <p:nvPr/>
        </p:nvSpPr>
        <p:spPr>
          <a:xfrm>
            <a:off x="8321040" y="777240"/>
            <a:ext cx="3383280" cy="3383280"/>
          </a:xfrm>
          <a:prstGeom prst="ellipse">
            <a:avLst/>
          </a:prstGeom>
          <a:solidFill>
            <a:srgbClr val="FF9438"/>
          </a:solidFill>
          <a:ln>
            <a:noFill/>
          </a:ln>
        </p:spPr>
        <p:txBody>
          <a:bodyPr rtlCol="0" anchor="ctr"/>
          <a:lstStyle/>
          <a:p>
            <a:pPr algn="ctr"/>
          </a:p>
        </p:txBody>
      </p:sp>
      <p:sp>
        <p:nvSpPr>
          <p:cNvPr id="4" name="Oval 3"/>
          <p:cNvSpPr/>
          <p:nvPr/>
        </p:nvSpPr>
        <p:spPr>
          <a:xfrm>
            <a:off x="9875520" y="2148840"/>
            <a:ext cx="3383280" cy="3383280"/>
          </a:xfrm>
          <a:prstGeom prst="ellipse">
            <a:avLst/>
          </a:prstGeom>
          <a:solidFill>
            <a:srgbClr val="368EF8"/>
          </a:solidFill>
          <a:ln>
            <a:noFill/>
          </a:ln>
        </p:spPr>
        <p:txBody>
          <a:bodyPr rtlCol="0" anchor="ctr"/>
          <a:lstStyle/>
          <a:p>
            <a:pPr algn="ctr"/>
          </a:p>
        </p:txBody>
      </p:sp>
      <p:sp>
        <p:nvSpPr>
          <p:cNvPr id="5" name="Freeform 4"/>
          <p:cNvSpPr/>
          <p:nvPr/>
        </p:nvSpPr>
        <p:spPr>
          <a:xfrm>
            <a:off x="9875522" y="2148971"/>
            <a:ext cx="1828795" cy="2011417"/>
          </a:xfrm>
          <a:custGeom>
            <a:avLst/>
            <a:gdLst/>
            <a:ahLst/>
            <a:cxnLst/>
            <a:rect l="l" t="t" r="r" b="b"/>
            <a:pathLst>
              <a:path w="1828795" h="2011417">
                <a:moveTo>
                  <a:pt x="1798900" y="3273"/>
                </a:moveTo>
                <a:lnTo>
                  <a:pt x="1809722" y="66581"/>
                </a:lnTo>
                <a:lnTo>
                  <a:pt x="1818133" y="130255"/>
                </a:lnTo>
                <a:lnTo>
                  <a:pt x="1824120" y="194202"/>
                </a:lnTo>
                <a:lnTo>
                  <a:pt x="1827676" y="258330"/>
                </a:lnTo>
                <a:lnTo>
                  <a:pt x="1828795" y="322547"/>
                </a:lnTo>
                <a:lnTo>
                  <a:pt x="1827476" y="386760"/>
                </a:lnTo>
                <a:lnTo>
                  <a:pt x="1823720" y="450877"/>
                </a:lnTo>
                <a:lnTo>
                  <a:pt x="1817533" y="514805"/>
                </a:lnTo>
                <a:lnTo>
                  <a:pt x="1808923" y="578452"/>
                </a:lnTo>
                <a:lnTo>
                  <a:pt x="1797904" y="641727"/>
                </a:lnTo>
                <a:lnTo>
                  <a:pt x="1784491" y="704537"/>
                </a:lnTo>
                <a:lnTo>
                  <a:pt x="1768703" y="766793"/>
                </a:lnTo>
                <a:lnTo>
                  <a:pt x="1750563" y="828405"/>
                </a:lnTo>
                <a:lnTo>
                  <a:pt x="1730097" y="889284"/>
                </a:lnTo>
                <a:lnTo>
                  <a:pt x="1707335" y="949342"/>
                </a:lnTo>
                <a:lnTo>
                  <a:pt x="1682310" y="1008493"/>
                </a:lnTo>
                <a:lnTo>
                  <a:pt x="1655058" y="1066651"/>
                </a:lnTo>
                <a:lnTo>
                  <a:pt x="1625617" y="1123733"/>
                </a:lnTo>
                <a:lnTo>
                  <a:pt x="1594031" y="1179656"/>
                </a:lnTo>
                <a:lnTo>
                  <a:pt x="1560344" y="1234340"/>
                </a:lnTo>
                <a:lnTo>
                  <a:pt x="1524607" y="1287705"/>
                </a:lnTo>
                <a:lnTo>
                  <a:pt x="1486869" y="1339676"/>
                </a:lnTo>
                <a:lnTo>
                  <a:pt x="1447185" y="1390176"/>
                </a:lnTo>
                <a:lnTo>
                  <a:pt x="1405613" y="1439134"/>
                </a:lnTo>
                <a:lnTo>
                  <a:pt x="1362213" y="1486478"/>
                </a:lnTo>
                <a:lnTo>
                  <a:pt x="1317046" y="1532141"/>
                </a:lnTo>
                <a:lnTo>
                  <a:pt x="1270179" y="1576056"/>
                </a:lnTo>
                <a:lnTo>
                  <a:pt x="1221679" y="1618161"/>
                </a:lnTo>
                <a:lnTo>
                  <a:pt x="1171615" y="1658394"/>
                </a:lnTo>
                <a:lnTo>
                  <a:pt x="1120060" y="1696698"/>
                </a:lnTo>
                <a:lnTo>
                  <a:pt x="1067088" y="1733017"/>
                </a:lnTo>
                <a:lnTo>
                  <a:pt x="1012776" y="1767299"/>
                </a:lnTo>
                <a:lnTo>
                  <a:pt x="957202" y="1799494"/>
                </a:lnTo>
                <a:lnTo>
                  <a:pt x="900445" y="1829557"/>
                </a:lnTo>
                <a:lnTo>
                  <a:pt x="842588" y="1857443"/>
                </a:lnTo>
                <a:lnTo>
                  <a:pt x="783714" y="1883114"/>
                </a:lnTo>
                <a:lnTo>
                  <a:pt x="723909" y="1906530"/>
                </a:lnTo>
                <a:lnTo>
                  <a:pt x="663257" y="1927660"/>
                </a:lnTo>
                <a:lnTo>
                  <a:pt x="601847" y="1946472"/>
                </a:lnTo>
                <a:lnTo>
                  <a:pt x="539767" y="1962940"/>
                </a:lnTo>
                <a:lnTo>
                  <a:pt x="477107" y="1977039"/>
                </a:lnTo>
                <a:lnTo>
                  <a:pt x="413957" y="1988749"/>
                </a:lnTo>
                <a:lnTo>
                  <a:pt x="350408" y="1998053"/>
                </a:lnTo>
                <a:lnTo>
                  <a:pt x="286551" y="2004939"/>
                </a:lnTo>
                <a:lnTo>
                  <a:pt x="222479" y="2009395"/>
                </a:lnTo>
                <a:lnTo>
                  <a:pt x="158284" y="2011417"/>
                </a:lnTo>
                <a:lnTo>
                  <a:pt x="94058" y="2010999"/>
                </a:lnTo>
                <a:lnTo>
                  <a:pt x="29895" y="2008144"/>
                </a:lnTo>
                <a:lnTo>
                  <a:pt x="29895" y="2008144"/>
                </a:lnTo>
                <a:lnTo>
                  <a:pt x="19073" y="1944836"/>
                </a:lnTo>
                <a:lnTo>
                  <a:pt x="10662" y="1881162"/>
                </a:lnTo>
                <a:lnTo>
                  <a:pt x="4675" y="1817215"/>
                </a:lnTo>
                <a:lnTo>
                  <a:pt x="1119" y="1753087"/>
                </a:lnTo>
                <a:lnTo>
                  <a:pt x="0" y="1688870"/>
                </a:lnTo>
                <a:lnTo>
                  <a:pt x="1319" y="1624657"/>
                </a:lnTo>
                <a:lnTo>
                  <a:pt x="5075" y="1560540"/>
                </a:lnTo>
                <a:lnTo>
                  <a:pt x="11262" y="1496612"/>
                </a:lnTo>
                <a:lnTo>
                  <a:pt x="19872" y="1432965"/>
                </a:lnTo>
                <a:lnTo>
                  <a:pt x="30891" y="1369690"/>
                </a:lnTo>
                <a:lnTo>
                  <a:pt x="44304" y="1306880"/>
                </a:lnTo>
                <a:lnTo>
                  <a:pt x="60092" y="1244624"/>
                </a:lnTo>
                <a:lnTo>
                  <a:pt x="78232" y="1183012"/>
                </a:lnTo>
                <a:lnTo>
                  <a:pt x="98698" y="1122133"/>
                </a:lnTo>
                <a:lnTo>
                  <a:pt x="121460" y="1062075"/>
                </a:lnTo>
                <a:lnTo>
                  <a:pt x="146485" y="1002924"/>
                </a:lnTo>
                <a:lnTo>
                  <a:pt x="173737" y="944766"/>
                </a:lnTo>
                <a:lnTo>
                  <a:pt x="203178" y="887684"/>
                </a:lnTo>
                <a:lnTo>
                  <a:pt x="234764" y="831761"/>
                </a:lnTo>
                <a:lnTo>
                  <a:pt x="268451" y="777077"/>
                </a:lnTo>
                <a:lnTo>
                  <a:pt x="304188" y="723712"/>
                </a:lnTo>
                <a:lnTo>
                  <a:pt x="341926" y="671741"/>
                </a:lnTo>
                <a:lnTo>
                  <a:pt x="381610" y="621241"/>
                </a:lnTo>
                <a:lnTo>
                  <a:pt x="423182" y="572283"/>
                </a:lnTo>
                <a:lnTo>
                  <a:pt x="466582" y="524939"/>
                </a:lnTo>
                <a:lnTo>
                  <a:pt x="511749" y="479276"/>
                </a:lnTo>
                <a:lnTo>
                  <a:pt x="558616" y="435361"/>
                </a:lnTo>
                <a:lnTo>
                  <a:pt x="607116" y="393256"/>
                </a:lnTo>
                <a:lnTo>
                  <a:pt x="657180" y="353023"/>
                </a:lnTo>
                <a:lnTo>
                  <a:pt x="708735" y="314719"/>
                </a:lnTo>
                <a:lnTo>
                  <a:pt x="761707" y="278400"/>
                </a:lnTo>
                <a:lnTo>
                  <a:pt x="816019" y="244118"/>
                </a:lnTo>
                <a:lnTo>
                  <a:pt x="871593" y="211923"/>
                </a:lnTo>
                <a:lnTo>
                  <a:pt x="928350" y="181860"/>
                </a:lnTo>
                <a:lnTo>
                  <a:pt x="986207" y="153974"/>
                </a:lnTo>
                <a:lnTo>
                  <a:pt x="1045081" y="128303"/>
                </a:lnTo>
                <a:lnTo>
                  <a:pt x="1104886" y="104887"/>
                </a:lnTo>
                <a:lnTo>
                  <a:pt x="1165538" y="83757"/>
                </a:lnTo>
                <a:lnTo>
                  <a:pt x="1226948" y="64945"/>
                </a:lnTo>
                <a:lnTo>
                  <a:pt x="1289028" y="48477"/>
                </a:lnTo>
                <a:lnTo>
                  <a:pt x="1351688" y="34378"/>
                </a:lnTo>
                <a:lnTo>
                  <a:pt x="1414838" y="22668"/>
                </a:lnTo>
                <a:lnTo>
                  <a:pt x="1478387" y="13364"/>
                </a:lnTo>
                <a:lnTo>
                  <a:pt x="1542244" y="6478"/>
                </a:lnTo>
                <a:lnTo>
                  <a:pt x="1606316" y="2022"/>
                </a:lnTo>
                <a:lnTo>
                  <a:pt x="1670511" y="0"/>
                </a:lnTo>
                <a:lnTo>
                  <a:pt x="1734737" y="418"/>
                </a:lnTo>
                <a:lnTo>
                  <a:pt x="1798900" y="3273"/>
                </a:lnTo>
                <a:close/>
              </a:path>
            </a:pathLst>
          </a:custGeom>
          <a:solidFill>
            <a:srgbClr val="C19678"/>
          </a:solidFill>
          <a:ln>
            <a:noFill/>
          </a:ln>
        </p:spPr>
        <p:txBody>
          <a:bodyPr rtlCol="0" anchor="ctr"/>
          <a:lstStyle/>
          <a:p>
            <a:pPr algn="ctr"/>
          </a:p>
        </p:txBody>
      </p:sp>
      <p:sp>
        <p:nvSpPr>
          <p:cNvPr id="6" name="TextBox 5"/>
          <p:cNvSpPr txBox="1"/>
          <p:nvPr/>
        </p:nvSpPr>
        <p:spPr>
          <a:xfrm>
            <a:off x="731520" y="1325880"/>
            <a:ext cx="7680960" cy="274320"/>
          </a:xfrm>
          <a:prstGeom prst="rect">
            <a:avLst/>
          </a:prstGeom>
          <a:noFill/>
        </p:spPr>
        <p:txBody>
          <a:bodyPr wrap="square" lIns="0" rIns="0" tIns="0" bIns="0" anchor="t">
            <a:noAutofit/>
          </a:bodyPr>
          <a:lstStyle/>
          <a:p>
            <a:pPr algn="l">
              <a:lnSpc>
                <a:spcPct val="110000"/>
              </a:lnSpc>
              <a:spcAft>
                <a:spcPts val="0"/>
              </a:spcAft>
            </a:pPr>
            <a:r>
              <a:rPr sz="1200" i="0" b="1" spc="200">
                <a:solidFill>
                  <a:srgbClr val="FF9438"/>
                </a:solidFill>
                <a:latin typeface="Arial"/>
              </a:rPr>
              <a:t>PARTNERIZE  ·  SENIOR DATA ANALYST HOME ASSIGNMENT</a:t>
            </a:r>
          </a:p>
        </p:txBody>
      </p:sp>
      <p:sp>
        <p:nvSpPr>
          <p:cNvPr id="7" name="TextBox 6"/>
          <p:cNvSpPr txBox="1"/>
          <p:nvPr/>
        </p:nvSpPr>
        <p:spPr>
          <a:xfrm>
            <a:off x="731520" y="1783080"/>
            <a:ext cx="7223760" cy="1600200"/>
          </a:xfrm>
          <a:prstGeom prst="rect">
            <a:avLst/>
          </a:prstGeom>
          <a:noFill/>
        </p:spPr>
        <p:txBody>
          <a:bodyPr wrap="square" lIns="0" rIns="0" tIns="0" bIns="0" anchor="t">
            <a:noAutofit/>
          </a:bodyPr>
          <a:lstStyle/>
          <a:p>
            <a:pPr algn="l">
              <a:lnSpc>
                <a:spcPct val="100000"/>
              </a:lnSpc>
              <a:spcAft>
                <a:spcPts val="0"/>
              </a:spcAft>
            </a:pPr>
            <a:r>
              <a:rPr sz="4200" i="0" b="0">
                <a:solidFill>
                  <a:srgbClr val="D9BC9F"/>
                </a:solidFill>
                <a:latin typeface="Georgia"/>
              </a:rPr>
              <a:t>Saatva's</a:t>
            </a:r>
            <a:r>
              <a:rPr sz="4200" i="0" b="0">
                <a:solidFill>
                  <a:srgbClr val="FFFFFF"/>
                </a:solidFill>
                <a:latin typeface="Georgia"/>
              </a:rPr>
              <a:t> affiliate program vs. US mattress competitors</a:t>
            </a:r>
          </a:p>
        </p:txBody>
      </p:sp>
      <p:sp>
        <p:nvSpPr>
          <p:cNvPr id="8" name="TextBox 7"/>
          <p:cNvSpPr txBox="1"/>
          <p:nvPr/>
        </p:nvSpPr>
        <p:spPr>
          <a:xfrm>
            <a:off x="731520" y="3520440"/>
            <a:ext cx="7315200" cy="365760"/>
          </a:xfrm>
          <a:prstGeom prst="rect">
            <a:avLst/>
          </a:prstGeom>
          <a:noFill/>
        </p:spPr>
        <p:txBody>
          <a:bodyPr wrap="square" lIns="0" rIns="0" tIns="0" bIns="0" anchor="t">
            <a:noAutofit/>
          </a:bodyPr>
          <a:lstStyle/>
          <a:p>
            <a:pPr algn="l">
              <a:lnSpc>
                <a:spcPct val="110000"/>
              </a:lnSpc>
              <a:spcAft>
                <a:spcPts val="0"/>
              </a:spcAft>
            </a:pPr>
            <a:r>
              <a:rPr sz="1700" i="0" b="0">
                <a:solidFill>
                  <a:srgbClr val="C9D6E3"/>
                </a:solidFill>
                <a:latin typeface="Arial"/>
              </a:rPr>
              <a:t>Clicks and conversions  ·  Growth levers  ·  Attribution hijacking</a:t>
            </a:r>
          </a:p>
        </p:txBody>
      </p:sp>
      <p:sp>
        <p:nvSpPr>
          <p:cNvPr id="9" name="TextBox 8"/>
          <p:cNvSpPr txBox="1"/>
          <p:nvPr/>
        </p:nvSpPr>
        <p:spPr>
          <a:xfrm>
            <a:off x="731520" y="5230368"/>
            <a:ext cx="7315200" cy="292608"/>
          </a:xfrm>
          <a:prstGeom prst="rect">
            <a:avLst/>
          </a:prstGeom>
          <a:noFill/>
        </p:spPr>
        <p:txBody>
          <a:bodyPr wrap="square" lIns="0" rIns="0" tIns="0" bIns="0" anchor="t">
            <a:noAutofit/>
          </a:bodyPr>
          <a:lstStyle/>
          <a:p>
            <a:pPr algn="l">
              <a:lnSpc>
                <a:spcPct val="110000"/>
              </a:lnSpc>
              <a:spcAft>
                <a:spcPts val="0"/>
              </a:spcAft>
            </a:pPr>
            <a:r>
              <a:rPr sz="1600" i="0" b="1">
                <a:solidFill>
                  <a:srgbClr val="FFFFFF"/>
                </a:solidFill>
                <a:latin typeface="Arial"/>
              </a:rPr>
              <a:t>Hagay Gross</a:t>
            </a:r>
          </a:p>
        </p:txBody>
      </p:sp>
      <p:sp>
        <p:nvSpPr>
          <p:cNvPr id="10" name="TextBox 9"/>
          <p:cNvSpPr txBox="1"/>
          <p:nvPr/>
        </p:nvSpPr>
        <p:spPr>
          <a:xfrm>
            <a:off x="731520" y="5559552"/>
            <a:ext cx="8229600" cy="274320"/>
          </a:xfrm>
          <a:prstGeom prst="rect">
            <a:avLst/>
          </a:prstGeom>
          <a:noFill/>
        </p:spPr>
        <p:txBody>
          <a:bodyPr wrap="square" lIns="0" rIns="0" tIns="0" bIns="0" anchor="t">
            <a:noAutofit/>
          </a:bodyPr>
          <a:lstStyle/>
          <a:p>
            <a:pPr algn="l">
              <a:lnSpc>
                <a:spcPct val="110000"/>
              </a:lnSpc>
              <a:spcAft>
                <a:spcPts val="0"/>
              </a:spcAft>
            </a:pPr>
            <a:r>
              <a:rPr sz="1150" i="0" b="0">
                <a:solidFill>
                  <a:srgbClr val="9FB3C8"/>
                </a:solidFill>
                <a:latin typeface="Arial"/>
              </a:rPr>
              <a:t>October 2026  ·  Data: US clickstream panel, 1 May 2026 (48.4M events, 784K users)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THE ANSWER</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is Saatva's edge; quality is the next lever</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2</a:t>
            </a:r>
          </a:p>
        </p:txBody>
      </p:sp>
      <p:sp>
        <p:nvSpPr>
          <p:cNvPr id="8" name="Rectangle 7"/>
          <p:cNvSpPr/>
          <p:nvPr/>
        </p:nvSpPr>
        <p:spPr>
          <a:xfrm>
            <a:off x="548640" y="1508760"/>
            <a:ext cx="3515258" cy="2514600"/>
          </a:xfrm>
          <a:prstGeom prst="rect">
            <a:avLst/>
          </a:prstGeom>
          <a:solidFill>
            <a:srgbClr val="F3F6F9"/>
          </a:solidFill>
          <a:ln>
            <a:noFill/>
          </a:ln>
        </p:spPr>
        <p:txBody>
          <a:bodyPr rtlCol="0" anchor="ctr"/>
          <a:lstStyle/>
          <a:p>
            <a:pPr algn="ctr"/>
          </a:p>
        </p:txBody>
      </p:sp>
      <p:sp>
        <p:nvSpPr>
          <p:cNvPr id="9" name="Oval 8"/>
          <p:cNvSpPr/>
          <p:nvPr/>
        </p:nvSpPr>
        <p:spPr>
          <a:xfrm>
            <a:off x="822959" y="1810512"/>
            <a:ext cx="146304" cy="146304"/>
          </a:xfrm>
          <a:prstGeom prst="ellipse">
            <a:avLst/>
          </a:prstGeom>
          <a:solidFill>
            <a:srgbClr val="B5793F"/>
          </a:solidFill>
          <a:ln>
            <a:noFill/>
          </a:ln>
        </p:spPr>
        <p:txBody>
          <a:bodyPr rtlCol="0" anchor="ctr"/>
          <a:lstStyle/>
          <a:p>
            <a:pPr algn="ctr"/>
          </a:p>
        </p:txBody>
      </p:sp>
      <p:sp>
        <p:nvSpPr>
          <p:cNvPr id="10" name="TextBox 9"/>
          <p:cNvSpPr txBox="1"/>
          <p:nvPr/>
        </p:nvSpPr>
        <p:spPr>
          <a:xfrm>
            <a:off x="1051560"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traffic share</a:t>
            </a:r>
          </a:p>
        </p:txBody>
      </p:sp>
      <p:sp>
        <p:nvSpPr>
          <p:cNvPr id="11" name="TextBox 10"/>
          <p:cNvSpPr txBox="1"/>
          <p:nvPr/>
        </p:nvSpPr>
        <p:spPr>
          <a:xfrm>
            <a:off x="822959"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a:t>
            </a:r>
          </a:p>
        </p:txBody>
      </p:sp>
      <p:sp>
        <p:nvSpPr>
          <p:cNvPr id="12" name="TextBox 11"/>
          <p:cNvSpPr txBox="1"/>
          <p:nvPr/>
        </p:nvSpPr>
        <p:spPr>
          <a:xfrm>
            <a:off x="822959"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visits start with an affiliate click</a:t>
            </a:r>
          </a:p>
        </p:txBody>
      </p:sp>
      <p:sp>
        <p:nvSpPr>
          <p:cNvPr id="13" name="TextBox 12"/>
          <p:cNvSpPr txBox="1"/>
          <p:nvPr/>
        </p:nvSpPr>
        <p:spPr>
          <a:xfrm>
            <a:off x="822959"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Rivals: 4–11%</a:t>
            </a:r>
          </a:p>
        </p:txBody>
      </p:sp>
      <p:sp>
        <p:nvSpPr>
          <p:cNvPr id="14" name="Rectangle 13"/>
          <p:cNvSpPr/>
          <p:nvPr/>
        </p:nvSpPr>
        <p:spPr>
          <a:xfrm>
            <a:off x="4338218" y="1508760"/>
            <a:ext cx="3515258" cy="2514600"/>
          </a:xfrm>
          <a:prstGeom prst="rect">
            <a:avLst/>
          </a:prstGeom>
          <a:solidFill>
            <a:srgbClr val="F3F6F9"/>
          </a:solidFill>
          <a:ln>
            <a:noFill/>
          </a:ln>
        </p:spPr>
        <p:txBody>
          <a:bodyPr rtlCol="0" anchor="ctr"/>
          <a:lstStyle/>
          <a:p>
            <a:pPr algn="ctr"/>
          </a:p>
        </p:txBody>
      </p:sp>
      <p:sp>
        <p:nvSpPr>
          <p:cNvPr id="15" name="Oval 14"/>
          <p:cNvSpPr/>
          <p:nvPr/>
        </p:nvSpPr>
        <p:spPr>
          <a:xfrm>
            <a:off x="4612538" y="1810512"/>
            <a:ext cx="146304" cy="146304"/>
          </a:xfrm>
          <a:prstGeom prst="ellipse">
            <a:avLst/>
          </a:prstGeom>
          <a:solidFill>
            <a:srgbClr val="B5793F"/>
          </a:solidFill>
          <a:ln>
            <a:noFill/>
          </a:ln>
        </p:spPr>
        <p:txBody>
          <a:bodyPr rtlCol="0" anchor="ctr"/>
          <a:lstStyle/>
          <a:p>
            <a:pPr algn="ctr"/>
          </a:p>
        </p:txBody>
      </p:sp>
      <p:sp>
        <p:nvSpPr>
          <p:cNvPr id="16" name="TextBox 15"/>
          <p:cNvSpPr txBox="1"/>
          <p:nvPr/>
        </p:nvSpPr>
        <p:spPr>
          <a:xfrm>
            <a:off x="4841138"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Saatva · US volume</a:t>
            </a:r>
          </a:p>
        </p:txBody>
      </p:sp>
      <p:sp>
        <p:nvSpPr>
          <p:cNvPr id="17" name="TextBox 16"/>
          <p:cNvSpPr txBox="1"/>
          <p:nvPr/>
        </p:nvSpPr>
        <p:spPr>
          <a:xfrm>
            <a:off x="4612538"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~16.7K</a:t>
            </a:r>
          </a:p>
        </p:txBody>
      </p:sp>
      <p:sp>
        <p:nvSpPr>
          <p:cNvPr id="18" name="TextBox 17"/>
          <p:cNvSpPr txBox="1"/>
          <p:nvPr/>
        </p:nvSpPr>
        <p:spPr>
          <a:xfrm>
            <a:off x="4612538"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affiliate clicks a day</a:t>
            </a:r>
          </a:p>
        </p:txBody>
      </p:sp>
      <p:sp>
        <p:nvSpPr>
          <p:cNvPr id="19" name="TextBox 18"/>
          <p:cNvSpPr txBox="1"/>
          <p:nvPr/>
        </p:nvSpPr>
        <p:spPr>
          <a:xfrm>
            <a:off x="4612538"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Range 6.1K–36.4K  ·  84–334 orders a day</a:t>
            </a:r>
          </a:p>
        </p:txBody>
      </p:sp>
      <p:sp>
        <p:nvSpPr>
          <p:cNvPr id="20" name="Rectangle 19"/>
          <p:cNvSpPr/>
          <p:nvPr/>
        </p:nvSpPr>
        <p:spPr>
          <a:xfrm>
            <a:off x="8127796" y="1508760"/>
            <a:ext cx="3515258" cy="2514600"/>
          </a:xfrm>
          <a:prstGeom prst="rect">
            <a:avLst/>
          </a:prstGeom>
          <a:solidFill>
            <a:srgbClr val="F3F6F9"/>
          </a:solidFill>
          <a:ln>
            <a:noFill/>
          </a:ln>
        </p:spPr>
        <p:txBody>
          <a:bodyPr rtlCol="0" anchor="ctr"/>
          <a:lstStyle/>
          <a:p>
            <a:pPr algn="ctr"/>
          </a:p>
        </p:txBody>
      </p:sp>
      <p:sp>
        <p:nvSpPr>
          <p:cNvPr id="21" name="Oval 20"/>
          <p:cNvSpPr/>
          <p:nvPr/>
        </p:nvSpPr>
        <p:spPr>
          <a:xfrm>
            <a:off x="8402116" y="1810512"/>
            <a:ext cx="146304" cy="146304"/>
          </a:xfrm>
          <a:prstGeom prst="ellipse">
            <a:avLst/>
          </a:prstGeom>
          <a:solidFill>
            <a:srgbClr val="FF9438"/>
          </a:solidFill>
          <a:ln>
            <a:noFill/>
          </a:ln>
        </p:spPr>
        <p:txBody>
          <a:bodyPr rtlCol="0" anchor="ctr"/>
          <a:lstStyle/>
          <a:p>
            <a:pPr algn="ctr"/>
          </a:p>
        </p:txBody>
      </p:sp>
      <p:sp>
        <p:nvSpPr>
          <p:cNvPr id="22" name="TextBox 21"/>
          <p:cNvSpPr txBox="1"/>
          <p:nvPr/>
        </p:nvSpPr>
        <p:spPr>
          <a:xfrm>
            <a:off x="8630716" y="1755648"/>
            <a:ext cx="2783738"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 hijacking</a:t>
            </a:r>
          </a:p>
        </p:txBody>
      </p:sp>
      <p:sp>
        <p:nvSpPr>
          <p:cNvPr id="23" name="TextBox 22"/>
          <p:cNvSpPr txBox="1"/>
          <p:nvPr/>
        </p:nvSpPr>
        <p:spPr>
          <a:xfrm>
            <a:off x="8402116" y="2075688"/>
            <a:ext cx="2966618" cy="868680"/>
          </a:xfrm>
          <a:prstGeom prst="rect">
            <a:avLst/>
          </a:prstGeom>
          <a:noFill/>
        </p:spPr>
        <p:txBody>
          <a:bodyPr wrap="square" lIns="0" rIns="0" tIns="0" bIns="0" anchor="t">
            <a:noAutofit/>
          </a:bodyPr>
          <a:lstStyle/>
          <a:p>
            <a:pPr algn="l">
              <a:lnSpc>
                <a:spcPct val="110000"/>
              </a:lnSpc>
              <a:spcAft>
                <a:spcPts val="0"/>
              </a:spcAft>
            </a:pPr>
            <a:r>
              <a:rPr sz="5400" i="0" b="1">
                <a:solidFill>
                  <a:srgbClr val="0B2A4A"/>
                </a:solidFill>
                <a:latin typeface="Arial"/>
              </a:rPr>
              <a:t>52–79%</a:t>
            </a:r>
          </a:p>
        </p:txBody>
      </p:sp>
      <p:sp>
        <p:nvSpPr>
          <p:cNvPr id="24" name="TextBox 23"/>
          <p:cNvSpPr txBox="1"/>
          <p:nvPr/>
        </p:nvSpPr>
        <p:spPr>
          <a:xfrm>
            <a:off x="8402116" y="2971800"/>
            <a:ext cx="2966618" cy="502920"/>
          </a:xfrm>
          <a:prstGeom prst="rect">
            <a:avLst/>
          </a:prstGeom>
          <a:noFill/>
        </p:spPr>
        <p:txBody>
          <a:bodyPr wrap="square" lIns="0" rIns="0" tIns="0" bIns="0" anchor="t">
            <a:noAutofit/>
          </a:bodyPr>
          <a:lstStyle/>
          <a:p>
            <a:pPr algn="l">
              <a:lnSpc>
                <a:spcPct val="105000"/>
              </a:lnSpc>
              <a:spcAft>
                <a:spcPts val="0"/>
              </a:spcAft>
            </a:pPr>
            <a:r>
              <a:rPr sz="1500" i="0" b="1">
                <a:solidFill>
                  <a:srgbClr val="1E2833"/>
                </a:solidFill>
                <a:latin typeface="Arial"/>
              </a:rPr>
              <a:t>of affiliate orders go to flagged clicks</a:t>
            </a:r>
          </a:p>
        </p:txBody>
      </p:sp>
      <p:sp>
        <p:nvSpPr>
          <p:cNvPr id="25" name="TextBox 24"/>
          <p:cNvSpPr txBox="1"/>
          <p:nvPr/>
        </p:nvSpPr>
        <p:spPr>
          <a:xfrm>
            <a:off x="8402116" y="3520440"/>
            <a:ext cx="2966618" cy="32004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Only 13–24% of clicks carry the signals</a:t>
            </a:r>
          </a:p>
        </p:txBody>
      </p:sp>
      <p:sp>
        <p:nvSpPr>
          <p:cNvPr id="26" name="Rectangle 25"/>
          <p:cNvSpPr/>
          <p:nvPr/>
        </p:nvSpPr>
        <p:spPr>
          <a:xfrm>
            <a:off x="548640" y="4251960"/>
            <a:ext cx="5410047" cy="1920240"/>
          </a:xfrm>
          <a:prstGeom prst="rect">
            <a:avLst/>
          </a:prstGeom>
          <a:solidFill>
            <a:srgbClr val="F6EFE8"/>
          </a:solidFill>
          <a:ln>
            <a:noFill/>
          </a:ln>
        </p:spPr>
        <p:txBody>
          <a:bodyPr rtlCol="0" anchor="ctr"/>
          <a:lstStyle/>
          <a:p>
            <a:pPr algn="ctr"/>
          </a:p>
        </p:txBody>
      </p:sp>
      <p:sp>
        <p:nvSpPr>
          <p:cNvPr id="27" name="TextBox 26"/>
          <p:cNvSpPr txBox="1"/>
          <p:nvPr/>
        </p:nvSpPr>
        <p:spPr>
          <a:xfrm>
            <a:off x="822959"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Grow the program</a:t>
            </a:r>
          </a:p>
        </p:txBody>
      </p:sp>
      <p:sp>
        <p:nvSpPr>
          <p:cNvPr id="28" name="Oval 27"/>
          <p:cNvSpPr/>
          <p:nvPr/>
        </p:nvSpPr>
        <p:spPr>
          <a:xfrm>
            <a:off x="822959" y="487375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29" name="TextBox 28"/>
          <p:cNvSpPr txBox="1"/>
          <p:nvPr/>
        </p:nvSpPr>
        <p:spPr>
          <a:xfrm>
            <a:off x="1261872"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Recruit review and HSA/FSA partners</a:t>
            </a:r>
          </a:p>
        </p:txBody>
      </p:sp>
      <p:sp>
        <p:nvSpPr>
          <p:cNvPr id="30" name="Oval 29"/>
          <p:cNvSpPr/>
          <p:nvPr/>
        </p:nvSpPr>
        <p:spPr>
          <a:xfrm>
            <a:off x="822959" y="528523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1" name="TextBox 30"/>
          <p:cNvSpPr txBox="1"/>
          <p:nvPr/>
        </p:nvSpPr>
        <p:spPr>
          <a:xfrm>
            <a:off x="1261872"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Give each publisher its own coupon code</a:t>
            </a:r>
          </a:p>
        </p:txBody>
      </p:sp>
      <p:sp>
        <p:nvSpPr>
          <p:cNvPr id="32" name="Oval 31"/>
          <p:cNvSpPr/>
          <p:nvPr/>
        </p:nvSpPr>
        <p:spPr>
          <a:xfrm>
            <a:off x="822959" y="5696712"/>
            <a:ext cx="274320" cy="274320"/>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33" name="TextBox 32"/>
          <p:cNvSpPr txBox="1"/>
          <p:nvPr/>
        </p:nvSpPr>
        <p:spPr>
          <a:xfrm>
            <a:off x="1261872"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Pay for the assist, not the last touch</a:t>
            </a:r>
          </a:p>
        </p:txBody>
      </p:sp>
      <p:sp>
        <p:nvSpPr>
          <p:cNvPr id="34" name="Rectangle 33"/>
          <p:cNvSpPr/>
          <p:nvPr/>
        </p:nvSpPr>
        <p:spPr>
          <a:xfrm>
            <a:off x="6233007" y="4251960"/>
            <a:ext cx="5410047" cy="1920240"/>
          </a:xfrm>
          <a:prstGeom prst="rect">
            <a:avLst/>
          </a:prstGeom>
          <a:solidFill>
            <a:srgbClr val="FFF1E5"/>
          </a:solidFill>
          <a:ln>
            <a:noFill/>
          </a:ln>
        </p:spPr>
        <p:txBody>
          <a:bodyPr rtlCol="0" anchor="ctr"/>
          <a:lstStyle/>
          <a:p>
            <a:pPr algn="ctr"/>
          </a:p>
        </p:txBody>
      </p:sp>
      <p:sp>
        <p:nvSpPr>
          <p:cNvPr id="35" name="TextBox 34"/>
          <p:cNvSpPr txBox="1"/>
          <p:nvPr/>
        </p:nvSpPr>
        <p:spPr>
          <a:xfrm>
            <a:off x="6507327" y="4407408"/>
            <a:ext cx="4861407" cy="320040"/>
          </a:xfrm>
          <a:prstGeom prst="rect">
            <a:avLst/>
          </a:prstGeom>
          <a:noFill/>
        </p:spPr>
        <p:txBody>
          <a:bodyPr wrap="square" lIns="0" rIns="0" tIns="0" bIns="0" anchor="t">
            <a:noAutofit/>
          </a:bodyPr>
          <a:lstStyle/>
          <a:p>
            <a:pPr algn="l">
              <a:lnSpc>
                <a:spcPct val="110000"/>
              </a:lnSpc>
              <a:spcAft>
                <a:spcPts val="0"/>
              </a:spcAft>
            </a:pPr>
            <a:r>
              <a:rPr sz="1700" i="0" b="1">
                <a:solidFill>
                  <a:srgbClr val="0B2A4A"/>
                </a:solidFill>
                <a:latin typeface="Arial"/>
              </a:rPr>
              <a:t>Protect it from hijacking</a:t>
            </a:r>
          </a:p>
        </p:txBody>
      </p:sp>
      <p:sp>
        <p:nvSpPr>
          <p:cNvPr id="36" name="Oval 35"/>
          <p:cNvSpPr/>
          <p:nvPr/>
        </p:nvSpPr>
        <p:spPr>
          <a:xfrm>
            <a:off x="6507327" y="487375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1</a:t>
            </a:r>
          </a:p>
        </p:txBody>
      </p:sp>
      <p:sp>
        <p:nvSpPr>
          <p:cNvPr id="37" name="TextBox 36"/>
          <p:cNvSpPr txBox="1"/>
          <p:nvPr/>
        </p:nvSpPr>
        <p:spPr>
          <a:xfrm>
            <a:off x="6946239" y="488289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Reconcile clicks with site landings</a:t>
            </a:r>
          </a:p>
        </p:txBody>
      </p:sp>
      <p:sp>
        <p:nvSpPr>
          <p:cNvPr id="38" name="Oval 37"/>
          <p:cNvSpPr/>
          <p:nvPr/>
        </p:nvSpPr>
        <p:spPr>
          <a:xfrm>
            <a:off x="6507327" y="528523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2</a:t>
            </a:r>
          </a:p>
        </p:txBody>
      </p:sp>
      <p:sp>
        <p:nvSpPr>
          <p:cNvPr id="39" name="TextBox 38"/>
          <p:cNvSpPr txBox="1"/>
          <p:nvPr/>
        </p:nvSpPr>
        <p:spPr>
          <a:xfrm>
            <a:off x="6946239" y="529437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No commission overwrite after a cart</a:t>
            </a:r>
          </a:p>
        </p:txBody>
      </p:sp>
      <p:sp>
        <p:nvSpPr>
          <p:cNvPr id="40" name="Oval 39"/>
          <p:cNvSpPr/>
          <p:nvPr/>
        </p:nvSpPr>
        <p:spPr>
          <a:xfrm>
            <a:off x="6507327" y="5696712"/>
            <a:ext cx="274320" cy="274320"/>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100" i="0" b="1">
                <a:solidFill>
                  <a:srgbClr val="FFFFFF"/>
                </a:solidFill>
                <a:latin typeface="Arial"/>
              </a:rPr>
              <a:t>3</a:t>
            </a:r>
          </a:p>
        </p:txBody>
      </p:sp>
      <p:sp>
        <p:nvSpPr>
          <p:cNvPr id="41" name="TextBox 40"/>
          <p:cNvSpPr txBox="1"/>
          <p:nvPr/>
        </p:nvSpPr>
        <p:spPr>
          <a:xfrm>
            <a:off x="6946239" y="5705856"/>
            <a:ext cx="4495647"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Extension stand-down and a PPC policy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TRAFFIC MIX</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Affiliate drives 16% of Saatva's visits, the top share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3</a:t>
            </a:r>
          </a:p>
        </p:txBody>
      </p:sp>
      <p:sp>
        <p:nvSpPr>
          <p:cNvPr id="8" name="TextBox 7"/>
          <p:cNvSpPr txBox="1"/>
          <p:nvPr/>
        </p:nvSpPr>
        <p:spPr>
          <a:xfrm>
            <a:off x="2377440" y="1572768"/>
            <a:ext cx="59436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visits that start with an affiliate click</a:t>
            </a:r>
          </a:p>
        </p:txBody>
      </p:sp>
      <p:sp>
        <p:nvSpPr>
          <p:cNvPr id="9" name="TextBox 8"/>
          <p:cNvSpPr txBox="1"/>
          <p:nvPr/>
        </p:nvSpPr>
        <p:spPr>
          <a:xfrm>
            <a:off x="9098280" y="1572768"/>
            <a:ext cx="25603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Similarweb: #1 channel</a:t>
            </a:r>
          </a:p>
        </p:txBody>
      </p:sp>
      <p:sp>
        <p:nvSpPr>
          <p:cNvPr id="10" name="TextBox 9"/>
          <p:cNvSpPr txBox="1"/>
          <p:nvPr/>
        </p:nvSpPr>
        <p:spPr>
          <a:xfrm>
            <a:off x="548640" y="2057400"/>
            <a:ext cx="1737360" cy="274320"/>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11" name="TextBox 10"/>
          <p:cNvSpPr txBox="1"/>
          <p:nvPr/>
        </p:nvSpPr>
        <p:spPr>
          <a:xfrm>
            <a:off x="548640" y="2331720"/>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25 visits</a:t>
            </a:r>
          </a:p>
        </p:txBody>
      </p:sp>
      <p:sp>
        <p:nvSpPr>
          <p:cNvPr id="12" name="Round Same Side Corner Rectangle 11"/>
          <p:cNvSpPr/>
          <p:nvPr/>
        </p:nvSpPr>
        <p:spPr>
          <a:xfrm rot="5400000">
            <a:off x="4718304" y="-237744"/>
            <a:ext cx="292608" cy="4974336"/>
          </a:xfrm>
          <a:prstGeom prst="round2SameRect">
            <a:avLst>
              <a:gd name="adj1" fmla="val 14000"/>
              <a:gd name="adj2" fmla="val 0"/>
            </a:avLst>
          </a:prstGeom>
          <a:solidFill>
            <a:srgbClr val="B5793F"/>
          </a:solidFill>
          <a:ln>
            <a:noFill/>
          </a:ln>
        </p:spPr>
        <p:txBody>
          <a:bodyPr rtlCol="0" anchor="ctr"/>
          <a:lstStyle/>
          <a:p>
            <a:pPr algn="ctr"/>
          </a:p>
        </p:txBody>
      </p:sp>
      <p:sp>
        <p:nvSpPr>
          <p:cNvPr id="13" name="TextBox 12"/>
          <p:cNvSpPr txBox="1"/>
          <p:nvPr/>
        </p:nvSpPr>
        <p:spPr>
          <a:xfrm>
            <a:off x="7461504" y="2112263"/>
            <a:ext cx="91440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16.0%</a:t>
            </a:r>
          </a:p>
        </p:txBody>
      </p:sp>
      <p:sp>
        <p:nvSpPr>
          <p:cNvPr id="14" name="Rounded Rectangle 13"/>
          <p:cNvSpPr/>
          <p:nvPr/>
        </p:nvSpPr>
        <p:spPr>
          <a:xfrm>
            <a:off x="9098280" y="2093976"/>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23.7%</a:t>
            </a:r>
          </a:p>
        </p:txBody>
      </p:sp>
      <p:sp>
        <p:nvSpPr>
          <p:cNvPr id="15" name="TextBox 14"/>
          <p:cNvSpPr txBox="1"/>
          <p:nvPr/>
        </p:nvSpPr>
        <p:spPr>
          <a:xfrm>
            <a:off x="548640" y="2770632"/>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16" name="TextBox 15"/>
          <p:cNvSpPr txBox="1"/>
          <p:nvPr/>
        </p:nvSpPr>
        <p:spPr>
          <a:xfrm>
            <a:off x="548640" y="3044952"/>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19 visits</a:t>
            </a:r>
          </a:p>
        </p:txBody>
      </p:sp>
      <p:sp>
        <p:nvSpPr>
          <p:cNvPr id="17" name="Round Same Side Corner Rectangle 16"/>
          <p:cNvSpPr/>
          <p:nvPr/>
        </p:nvSpPr>
        <p:spPr>
          <a:xfrm rot="5400000">
            <a:off x="3863339" y="1330452"/>
            <a:ext cx="292608" cy="3264408"/>
          </a:xfrm>
          <a:prstGeom prst="round2SameRect">
            <a:avLst>
              <a:gd name="adj1" fmla="val 14000"/>
              <a:gd name="adj2" fmla="val 0"/>
            </a:avLst>
          </a:prstGeom>
          <a:solidFill>
            <a:srgbClr val="B7C1CC"/>
          </a:solidFill>
          <a:ln>
            <a:noFill/>
          </a:ln>
        </p:spPr>
        <p:txBody>
          <a:bodyPr rtlCol="0" anchor="ctr"/>
          <a:lstStyle/>
          <a:p>
            <a:pPr algn="ctr"/>
          </a:p>
        </p:txBody>
      </p:sp>
      <p:sp>
        <p:nvSpPr>
          <p:cNvPr id="18" name="TextBox 17"/>
          <p:cNvSpPr txBox="1"/>
          <p:nvPr/>
        </p:nvSpPr>
        <p:spPr>
          <a:xfrm>
            <a:off x="5751576" y="2825496"/>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10.5%</a:t>
            </a:r>
          </a:p>
        </p:txBody>
      </p:sp>
      <p:sp>
        <p:nvSpPr>
          <p:cNvPr id="19" name="Rounded Rectangle 18"/>
          <p:cNvSpPr/>
          <p:nvPr/>
        </p:nvSpPr>
        <p:spPr>
          <a:xfrm>
            <a:off x="9098280" y="2807208"/>
            <a:ext cx="23774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Affiliate · 21.0%</a:t>
            </a:r>
          </a:p>
        </p:txBody>
      </p:sp>
      <p:sp>
        <p:nvSpPr>
          <p:cNvPr id="20" name="TextBox 19"/>
          <p:cNvSpPr txBox="1"/>
          <p:nvPr/>
        </p:nvSpPr>
        <p:spPr>
          <a:xfrm>
            <a:off x="548640" y="3483864"/>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21" name="TextBox 20"/>
          <p:cNvSpPr txBox="1"/>
          <p:nvPr/>
        </p:nvSpPr>
        <p:spPr>
          <a:xfrm>
            <a:off x="548640" y="3758183"/>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27 visits</a:t>
            </a:r>
          </a:p>
        </p:txBody>
      </p:sp>
      <p:sp>
        <p:nvSpPr>
          <p:cNvPr id="22" name="Round Same Side Corner Rectangle 21"/>
          <p:cNvSpPr/>
          <p:nvPr/>
        </p:nvSpPr>
        <p:spPr>
          <a:xfrm rot="5400000">
            <a:off x="3381451" y="2525572"/>
            <a:ext cx="292608" cy="2300630"/>
          </a:xfrm>
          <a:prstGeom prst="round2SameRect">
            <a:avLst>
              <a:gd name="adj1" fmla="val 14000"/>
              <a:gd name="adj2" fmla="val 0"/>
            </a:avLst>
          </a:prstGeom>
          <a:solidFill>
            <a:srgbClr val="B7C1CC"/>
          </a:solidFill>
          <a:ln>
            <a:noFill/>
          </a:ln>
        </p:spPr>
        <p:txBody>
          <a:bodyPr rtlCol="0" anchor="ctr"/>
          <a:lstStyle/>
          <a:p>
            <a:pPr algn="ctr"/>
          </a:p>
        </p:txBody>
      </p:sp>
      <p:sp>
        <p:nvSpPr>
          <p:cNvPr id="23" name="TextBox 22"/>
          <p:cNvSpPr txBox="1"/>
          <p:nvPr/>
        </p:nvSpPr>
        <p:spPr>
          <a:xfrm>
            <a:off x="4787798" y="3538727"/>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7.4%</a:t>
            </a:r>
          </a:p>
        </p:txBody>
      </p:sp>
      <p:sp>
        <p:nvSpPr>
          <p:cNvPr id="24" name="Rounded Rectangle 23"/>
          <p:cNvSpPr/>
          <p:nvPr/>
        </p:nvSpPr>
        <p:spPr>
          <a:xfrm>
            <a:off x="9098280" y="3520440"/>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25" name="TextBox 24"/>
          <p:cNvSpPr txBox="1"/>
          <p:nvPr/>
        </p:nvSpPr>
        <p:spPr>
          <a:xfrm>
            <a:off x="548640" y="4197096"/>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TextBox 25"/>
          <p:cNvSpPr txBox="1"/>
          <p:nvPr/>
        </p:nvSpPr>
        <p:spPr>
          <a:xfrm>
            <a:off x="548640" y="4471416"/>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51 visits</a:t>
            </a:r>
          </a:p>
        </p:txBody>
      </p:sp>
      <p:sp>
        <p:nvSpPr>
          <p:cNvPr id="27" name="Round Same Side Corner Rectangle 26"/>
          <p:cNvSpPr/>
          <p:nvPr/>
        </p:nvSpPr>
        <p:spPr>
          <a:xfrm rot="5400000">
            <a:off x="2837383" y="3782872"/>
            <a:ext cx="292608" cy="1212494"/>
          </a:xfrm>
          <a:prstGeom prst="round2SameRect">
            <a:avLst>
              <a:gd name="adj1" fmla="val 14000"/>
              <a:gd name="adj2" fmla="val 0"/>
            </a:avLst>
          </a:prstGeom>
          <a:solidFill>
            <a:srgbClr val="B7C1CC"/>
          </a:solidFill>
          <a:ln>
            <a:noFill/>
          </a:ln>
        </p:spPr>
        <p:txBody>
          <a:bodyPr rtlCol="0" anchor="ctr"/>
          <a:lstStyle/>
          <a:p>
            <a:pPr algn="ctr"/>
          </a:p>
        </p:txBody>
      </p:sp>
      <p:sp>
        <p:nvSpPr>
          <p:cNvPr id="28" name="TextBox 27"/>
          <p:cNvSpPr txBox="1"/>
          <p:nvPr/>
        </p:nvSpPr>
        <p:spPr>
          <a:xfrm>
            <a:off x="3699662" y="4251959"/>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3.9%</a:t>
            </a:r>
          </a:p>
        </p:txBody>
      </p:sp>
      <p:sp>
        <p:nvSpPr>
          <p:cNvPr id="29" name="Rounded Rectangle 28"/>
          <p:cNvSpPr/>
          <p:nvPr/>
        </p:nvSpPr>
        <p:spPr>
          <a:xfrm>
            <a:off x="9098280" y="4233672"/>
            <a:ext cx="2377440" cy="310896"/>
          </a:xfrm>
          <a:prstGeom prst="roundRect">
            <a:avLst>
              <a:gd name="adj" fmla="val 50000"/>
            </a:avLst>
          </a:prstGeom>
          <a:solidFill>
            <a:srgbClr val="F3F6F9"/>
          </a:solidFill>
          <a:ln w="9525">
            <a:solidFill>
              <a:srgbClr val="D5DCE4"/>
            </a:solidFill>
          </a:ln>
        </p:spPr>
        <p:txBody>
          <a:bodyPr rtlCol="0" anchor="ctr" wrap="square" lIns="73152" rIns="73152" tIns="18288" bIns="18288">
            <a:noAutofit/>
          </a:bodyPr>
          <a:lstStyle/>
          <a:p>
            <a:pPr algn="ctr">
              <a:lnSpc>
                <a:spcPct val="110000"/>
              </a:lnSpc>
              <a:spcAft>
                <a:spcPts val="0"/>
              </a:spcAft>
            </a:pPr>
            <a:r>
              <a:rPr sz="1200" i="0" b="1">
                <a:solidFill>
                  <a:srgbClr val="647282"/>
                </a:solidFill>
                <a:latin typeface="Arial"/>
              </a:rPr>
              <a:t>Paid search</a:t>
            </a:r>
          </a:p>
        </p:txBody>
      </p:sp>
      <p:sp>
        <p:nvSpPr>
          <p:cNvPr id="30" name="TextBox 29"/>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Walmart</a:t>
            </a:r>
          </a:p>
        </p:txBody>
      </p:sp>
      <p:sp>
        <p:nvSpPr>
          <p:cNvPr id="31" name="TextBox 30"/>
          <p:cNvSpPr txBox="1"/>
          <p:nvPr/>
        </p:nvSpPr>
        <p:spPr>
          <a:xfrm>
            <a:off x="548640" y="5413248"/>
            <a:ext cx="1737360" cy="2286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retail benchmark</a:t>
            </a:r>
          </a:p>
        </p:txBody>
      </p:sp>
      <p:sp>
        <p:nvSpPr>
          <p:cNvPr id="32" name="Round Same Side Corner Rectangle 31"/>
          <p:cNvSpPr/>
          <p:nvPr/>
        </p:nvSpPr>
        <p:spPr>
          <a:xfrm rot="5400000">
            <a:off x="3226003" y="4336084"/>
            <a:ext cx="292608" cy="1989734"/>
          </a:xfrm>
          <a:prstGeom prst="round2SameRect">
            <a:avLst>
              <a:gd name="adj1" fmla="val 14000"/>
              <a:gd name="adj2" fmla="val 0"/>
            </a:avLst>
          </a:prstGeom>
          <a:solidFill>
            <a:srgbClr val="D5DCE4"/>
          </a:solidFill>
          <a:ln>
            <a:noFill/>
          </a:ln>
        </p:spPr>
        <p:txBody>
          <a:bodyPr rtlCol="0" anchor="ctr"/>
          <a:lstStyle/>
          <a:p>
            <a:pPr algn="ctr"/>
          </a:p>
        </p:txBody>
      </p:sp>
      <p:sp>
        <p:nvSpPr>
          <p:cNvPr id="33" name="TextBox 32"/>
          <p:cNvSpPr txBox="1"/>
          <p:nvPr/>
        </p:nvSpPr>
        <p:spPr>
          <a:xfrm>
            <a:off x="4476902" y="5193792"/>
            <a:ext cx="91440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6.4%</a:t>
            </a:r>
          </a:p>
        </p:txBody>
      </p:sp>
      <p:cxnSp>
        <p:nvCxnSpPr>
          <p:cNvPr id="34" name="Connector 33"/>
          <p:cNvCxnSpPr/>
          <p:nvPr/>
        </p:nvCxnSpPr>
        <p:spPr>
          <a:xfrm>
            <a:off x="2377440" y="1920239"/>
            <a:ext cx="0" cy="3602737"/>
          </a:xfrm>
          <a:prstGeom prst="line">
            <a:avLst/>
          </a:prstGeom>
          <a:ln w="9525">
            <a:solidFill>
              <a:srgbClr val="1E2833"/>
            </a:solidFill>
          </a:ln>
        </p:spPr>
      </p:cxnSp>
      <p:sp>
        <p:nvSpPr>
          <p:cNvPr id="35" name="TextBox 34"/>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US panel visits, 1 May 2026. Nectar and DreamCloud lean on paid search: 43% and 37% of their visits.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RESULTS · US ESTIMATES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Saatva: ~16.7K US affiliate clicks a day</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4</a:t>
            </a:r>
          </a:p>
        </p:txBody>
      </p:sp>
      <p:sp>
        <p:nvSpPr>
          <p:cNvPr id="8" name="TextBox 7"/>
          <p:cNvSpPr txBox="1"/>
          <p:nvPr/>
        </p:nvSpPr>
        <p:spPr>
          <a:xfrm>
            <a:off x="2377440" y="1481328"/>
            <a:ext cx="576072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Affiliate clicks a day: estimate and 95% interval</a:t>
            </a:r>
          </a:p>
        </p:txBody>
      </p:sp>
      <p:cxnSp>
        <p:nvCxnSpPr>
          <p:cNvPr id="9" name="Connector 8"/>
          <p:cNvCxnSpPr/>
          <p:nvPr/>
        </p:nvCxnSpPr>
        <p:spPr>
          <a:xfrm>
            <a:off x="2377440" y="1783080"/>
            <a:ext cx="0" cy="3200400"/>
          </a:xfrm>
          <a:prstGeom prst="line">
            <a:avLst/>
          </a:prstGeom>
          <a:ln w="9525">
            <a:solidFill>
              <a:srgbClr val="1E2833"/>
            </a:solidFill>
          </a:ln>
        </p:spPr>
      </p:cxnSp>
      <p:sp>
        <p:nvSpPr>
          <p:cNvPr id="10" name="TextBox 9"/>
          <p:cNvSpPr txBox="1"/>
          <p:nvPr/>
        </p:nvSpPr>
        <p:spPr>
          <a:xfrm>
            <a:off x="201168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0</a:t>
            </a:r>
          </a:p>
        </p:txBody>
      </p:sp>
      <p:cxnSp>
        <p:nvCxnSpPr>
          <p:cNvPr id="11" name="Connector 10"/>
          <p:cNvCxnSpPr/>
          <p:nvPr/>
        </p:nvCxnSpPr>
        <p:spPr>
          <a:xfrm>
            <a:off x="3817620" y="1783080"/>
            <a:ext cx="0" cy="3200400"/>
          </a:xfrm>
          <a:prstGeom prst="line">
            <a:avLst/>
          </a:prstGeom>
          <a:ln w="9525">
            <a:solidFill>
              <a:srgbClr val="E3E8EE"/>
            </a:solidFill>
          </a:ln>
        </p:spPr>
      </p:cxnSp>
      <p:sp>
        <p:nvSpPr>
          <p:cNvPr id="12" name="TextBox 11"/>
          <p:cNvSpPr txBox="1"/>
          <p:nvPr/>
        </p:nvSpPr>
        <p:spPr>
          <a:xfrm>
            <a:off x="345186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10K</a:t>
            </a:r>
          </a:p>
        </p:txBody>
      </p:sp>
      <p:cxnSp>
        <p:nvCxnSpPr>
          <p:cNvPr id="13" name="Connector 12"/>
          <p:cNvCxnSpPr/>
          <p:nvPr/>
        </p:nvCxnSpPr>
        <p:spPr>
          <a:xfrm>
            <a:off x="5257800" y="1783080"/>
            <a:ext cx="0" cy="3200400"/>
          </a:xfrm>
          <a:prstGeom prst="line">
            <a:avLst/>
          </a:prstGeom>
          <a:ln w="9525">
            <a:solidFill>
              <a:srgbClr val="E3E8EE"/>
            </a:solidFill>
          </a:ln>
        </p:spPr>
      </p:cxnSp>
      <p:sp>
        <p:nvSpPr>
          <p:cNvPr id="14" name="TextBox 13"/>
          <p:cNvSpPr txBox="1"/>
          <p:nvPr/>
        </p:nvSpPr>
        <p:spPr>
          <a:xfrm>
            <a:off x="489204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20K</a:t>
            </a:r>
          </a:p>
        </p:txBody>
      </p:sp>
      <p:cxnSp>
        <p:nvCxnSpPr>
          <p:cNvPr id="15" name="Connector 14"/>
          <p:cNvCxnSpPr/>
          <p:nvPr/>
        </p:nvCxnSpPr>
        <p:spPr>
          <a:xfrm>
            <a:off x="6697980" y="1783080"/>
            <a:ext cx="0" cy="3200400"/>
          </a:xfrm>
          <a:prstGeom prst="line">
            <a:avLst/>
          </a:prstGeom>
          <a:ln w="9525">
            <a:solidFill>
              <a:srgbClr val="E3E8EE"/>
            </a:solidFill>
          </a:ln>
        </p:spPr>
      </p:cxnSp>
      <p:sp>
        <p:nvSpPr>
          <p:cNvPr id="16" name="TextBox 15"/>
          <p:cNvSpPr txBox="1"/>
          <p:nvPr/>
        </p:nvSpPr>
        <p:spPr>
          <a:xfrm>
            <a:off x="633222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30K</a:t>
            </a:r>
          </a:p>
        </p:txBody>
      </p:sp>
      <p:cxnSp>
        <p:nvCxnSpPr>
          <p:cNvPr id="17" name="Connector 16"/>
          <p:cNvCxnSpPr/>
          <p:nvPr/>
        </p:nvCxnSpPr>
        <p:spPr>
          <a:xfrm>
            <a:off x="8138160" y="1783080"/>
            <a:ext cx="0" cy="3200400"/>
          </a:xfrm>
          <a:prstGeom prst="line">
            <a:avLst/>
          </a:prstGeom>
          <a:ln w="9525">
            <a:solidFill>
              <a:srgbClr val="E3E8EE"/>
            </a:solidFill>
          </a:ln>
        </p:spPr>
      </p:cxnSp>
      <p:sp>
        <p:nvSpPr>
          <p:cNvPr id="18" name="TextBox 17"/>
          <p:cNvSpPr txBox="1"/>
          <p:nvPr/>
        </p:nvSpPr>
        <p:spPr>
          <a:xfrm>
            <a:off x="7772400" y="5056632"/>
            <a:ext cx="731520" cy="228600"/>
          </a:xfrm>
          <a:prstGeom prst="rect">
            <a:avLst/>
          </a:prstGeom>
          <a:noFill/>
        </p:spPr>
        <p:txBody>
          <a:bodyPr wrap="square" lIns="0" rIns="0" tIns="0" bIns="0" anchor="t">
            <a:noAutofit/>
          </a:bodyPr>
          <a:lstStyle/>
          <a:p>
            <a:pPr algn="ctr">
              <a:lnSpc>
                <a:spcPct val="110000"/>
              </a:lnSpc>
              <a:spcAft>
                <a:spcPts val="0"/>
              </a:spcAft>
            </a:pPr>
            <a:r>
              <a:rPr sz="1100" i="0" b="0">
                <a:solidFill>
                  <a:srgbClr val="647282"/>
                </a:solidFill>
                <a:latin typeface="Arial"/>
              </a:rPr>
              <a:t>40K</a:t>
            </a:r>
          </a:p>
        </p:txBody>
      </p:sp>
      <p:sp>
        <p:nvSpPr>
          <p:cNvPr id="19" name="TextBox 18"/>
          <p:cNvSpPr txBox="1"/>
          <p:nvPr/>
        </p:nvSpPr>
        <p:spPr>
          <a:xfrm>
            <a:off x="8732520" y="1481328"/>
            <a:ext cx="292608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Orders a day (est.)</a:t>
            </a:r>
          </a:p>
        </p:txBody>
      </p:sp>
      <p:sp>
        <p:nvSpPr>
          <p:cNvPr id="20" name="TextBox 19"/>
          <p:cNvSpPr txBox="1"/>
          <p:nvPr/>
        </p:nvSpPr>
        <p:spPr>
          <a:xfrm>
            <a:off x="548640" y="2084832"/>
            <a:ext cx="173736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Saatva</a:t>
            </a:r>
          </a:p>
        </p:txBody>
      </p:sp>
      <p:sp>
        <p:nvSpPr>
          <p:cNvPr id="21" name="Rectangle 20"/>
          <p:cNvSpPr/>
          <p:nvPr/>
        </p:nvSpPr>
        <p:spPr>
          <a:xfrm>
            <a:off x="3255949" y="2194560"/>
            <a:ext cx="4358560" cy="91440"/>
          </a:xfrm>
          <a:prstGeom prst="rect">
            <a:avLst/>
          </a:prstGeom>
          <a:solidFill>
            <a:srgbClr val="B5793F"/>
          </a:solidFill>
          <a:ln>
            <a:noFill/>
          </a:ln>
        </p:spPr>
        <p:txBody>
          <a:bodyPr rtlCol="0" anchor="ctr"/>
          <a:lstStyle/>
          <a:p>
            <a:pPr algn="ctr"/>
          </a:p>
        </p:txBody>
      </p:sp>
      <p:sp>
        <p:nvSpPr>
          <p:cNvPr id="22" name="Oval 21"/>
          <p:cNvSpPr/>
          <p:nvPr/>
        </p:nvSpPr>
        <p:spPr>
          <a:xfrm>
            <a:off x="4673676" y="2130552"/>
            <a:ext cx="219456" cy="219456"/>
          </a:xfrm>
          <a:prstGeom prst="ellipse">
            <a:avLst/>
          </a:prstGeom>
          <a:solidFill>
            <a:srgbClr val="B5793F"/>
          </a:solidFill>
          <a:ln w="25400">
            <a:solidFill>
              <a:srgbClr val="FFFFFF"/>
            </a:solidFill>
          </a:ln>
        </p:spPr>
        <p:txBody>
          <a:bodyPr rtlCol="0" anchor="ctr"/>
          <a:lstStyle/>
          <a:p>
            <a:pPr algn="ctr"/>
          </a:p>
        </p:txBody>
      </p:sp>
      <p:sp>
        <p:nvSpPr>
          <p:cNvPr id="23" name="TextBox 22"/>
          <p:cNvSpPr txBox="1"/>
          <p:nvPr/>
        </p:nvSpPr>
        <p:spPr>
          <a:xfrm>
            <a:off x="4326204" y="1810512"/>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16.7K</a:t>
            </a:r>
          </a:p>
        </p:txBody>
      </p:sp>
      <p:sp>
        <p:nvSpPr>
          <p:cNvPr id="24" name="TextBox 23"/>
          <p:cNvSpPr txBox="1"/>
          <p:nvPr/>
        </p:nvSpPr>
        <p:spPr>
          <a:xfrm>
            <a:off x="8732520" y="2084832"/>
            <a:ext cx="2926080"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84–334</a:t>
            </a:r>
          </a:p>
        </p:txBody>
      </p:sp>
      <p:sp>
        <p:nvSpPr>
          <p:cNvPr id="25" name="TextBox 24"/>
          <p:cNvSpPr txBox="1"/>
          <p:nvPr/>
        </p:nvSpPr>
        <p:spPr>
          <a:xfrm>
            <a:off x="548640" y="2871216"/>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Nectar</a:t>
            </a:r>
          </a:p>
        </p:txBody>
      </p:sp>
      <p:sp>
        <p:nvSpPr>
          <p:cNvPr id="26" name="Rectangle 25"/>
          <p:cNvSpPr/>
          <p:nvPr/>
        </p:nvSpPr>
        <p:spPr>
          <a:xfrm>
            <a:off x="2808917" y="2980944"/>
            <a:ext cx="3675195" cy="91440"/>
          </a:xfrm>
          <a:prstGeom prst="rect">
            <a:avLst/>
          </a:prstGeom>
          <a:solidFill>
            <a:srgbClr val="B7C1CC"/>
          </a:solidFill>
          <a:ln>
            <a:noFill/>
          </a:ln>
        </p:spPr>
        <p:txBody>
          <a:bodyPr rtlCol="0" anchor="ctr"/>
          <a:lstStyle/>
          <a:p>
            <a:pPr algn="ctr"/>
          </a:p>
        </p:txBody>
      </p:sp>
      <p:sp>
        <p:nvSpPr>
          <p:cNvPr id="27" name="Oval 26"/>
          <p:cNvSpPr/>
          <p:nvPr/>
        </p:nvSpPr>
        <p:spPr>
          <a:xfrm>
            <a:off x="3871784" y="2916936"/>
            <a:ext cx="219456" cy="219456"/>
          </a:xfrm>
          <a:prstGeom prst="ellipse">
            <a:avLst/>
          </a:prstGeom>
          <a:solidFill>
            <a:srgbClr val="B7C1CC"/>
          </a:solidFill>
          <a:ln w="25400">
            <a:solidFill>
              <a:srgbClr val="FFFFFF"/>
            </a:solidFill>
          </a:ln>
        </p:spPr>
        <p:txBody>
          <a:bodyPr rtlCol="0" anchor="ctr"/>
          <a:lstStyle/>
          <a:p>
            <a:pPr algn="ctr"/>
          </a:p>
        </p:txBody>
      </p:sp>
      <p:sp>
        <p:nvSpPr>
          <p:cNvPr id="28" name="TextBox 27"/>
          <p:cNvSpPr txBox="1"/>
          <p:nvPr/>
        </p:nvSpPr>
        <p:spPr>
          <a:xfrm>
            <a:off x="3524312" y="2596896"/>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11.1K</a:t>
            </a:r>
          </a:p>
        </p:txBody>
      </p:sp>
      <p:sp>
        <p:nvSpPr>
          <p:cNvPr id="29" name="TextBox 28"/>
          <p:cNvSpPr txBox="1"/>
          <p:nvPr/>
        </p:nvSpPr>
        <p:spPr>
          <a:xfrm>
            <a:off x="8732520" y="2871216"/>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56–223</a:t>
            </a:r>
          </a:p>
        </p:txBody>
      </p:sp>
      <p:sp>
        <p:nvSpPr>
          <p:cNvPr id="30" name="TextBox 29"/>
          <p:cNvSpPr txBox="1"/>
          <p:nvPr/>
        </p:nvSpPr>
        <p:spPr>
          <a:xfrm>
            <a:off x="548640" y="3657600"/>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Helix</a:t>
            </a:r>
          </a:p>
        </p:txBody>
      </p:sp>
      <p:sp>
        <p:nvSpPr>
          <p:cNvPr id="31" name="Rectangle 30"/>
          <p:cNvSpPr/>
          <p:nvPr/>
        </p:nvSpPr>
        <p:spPr>
          <a:xfrm>
            <a:off x="2467451" y="3767328"/>
            <a:ext cx="2805614" cy="91440"/>
          </a:xfrm>
          <a:prstGeom prst="rect">
            <a:avLst/>
          </a:prstGeom>
          <a:solidFill>
            <a:srgbClr val="B7C1CC"/>
          </a:solidFill>
          <a:ln>
            <a:noFill/>
          </a:ln>
        </p:spPr>
        <p:txBody>
          <a:bodyPr rtlCol="0" anchor="ctr"/>
          <a:lstStyle/>
          <a:p>
            <a:pPr algn="ctr"/>
          </a:p>
        </p:txBody>
      </p:sp>
      <p:sp>
        <p:nvSpPr>
          <p:cNvPr id="32" name="Oval 31"/>
          <p:cNvSpPr/>
          <p:nvPr/>
        </p:nvSpPr>
        <p:spPr>
          <a:xfrm>
            <a:off x="3069748" y="3703320"/>
            <a:ext cx="219456" cy="219456"/>
          </a:xfrm>
          <a:prstGeom prst="ellipse">
            <a:avLst/>
          </a:prstGeom>
          <a:solidFill>
            <a:srgbClr val="B7C1CC"/>
          </a:solidFill>
          <a:ln w="25400">
            <a:solidFill>
              <a:srgbClr val="FFFFFF"/>
            </a:solidFill>
          </a:ln>
        </p:spPr>
        <p:txBody>
          <a:bodyPr rtlCol="0" anchor="ctr"/>
          <a:lstStyle/>
          <a:p>
            <a:pPr algn="ctr"/>
          </a:p>
        </p:txBody>
      </p:sp>
      <p:sp>
        <p:nvSpPr>
          <p:cNvPr id="33" name="TextBox 32"/>
          <p:cNvSpPr txBox="1"/>
          <p:nvPr/>
        </p:nvSpPr>
        <p:spPr>
          <a:xfrm>
            <a:off x="2722276" y="3383280"/>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4" name="TextBox 33"/>
          <p:cNvSpPr txBox="1"/>
          <p:nvPr/>
        </p:nvSpPr>
        <p:spPr>
          <a:xfrm>
            <a:off x="8732520" y="3657600"/>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35" name="TextBox 34"/>
          <p:cNvSpPr txBox="1"/>
          <p:nvPr/>
        </p:nvSpPr>
        <p:spPr>
          <a:xfrm>
            <a:off x="548640" y="4443984"/>
            <a:ext cx="173736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DreamCloud</a:t>
            </a:r>
          </a:p>
        </p:txBody>
      </p:sp>
      <p:sp>
        <p:nvSpPr>
          <p:cNvPr id="36" name="Rectangle 35"/>
          <p:cNvSpPr/>
          <p:nvPr/>
        </p:nvSpPr>
        <p:spPr>
          <a:xfrm>
            <a:off x="2467451" y="4553712"/>
            <a:ext cx="2805614" cy="91440"/>
          </a:xfrm>
          <a:prstGeom prst="rect">
            <a:avLst/>
          </a:prstGeom>
          <a:solidFill>
            <a:srgbClr val="B7C1CC"/>
          </a:solidFill>
          <a:ln>
            <a:noFill/>
          </a:ln>
        </p:spPr>
        <p:txBody>
          <a:bodyPr rtlCol="0" anchor="ctr"/>
          <a:lstStyle/>
          <a:p>
            <a:pPr algn="ctr"/>
          </a:p>
        </p:txBody>
      </p:sp>
      <p:sp>
        <p:nvSpPr>
          <p:cNvPr id="37" name="Oval 36"/>
          <p:cNvSpPr/>
          <p:nvPr/>
        </p:nvSpPr>
        <p:spPr>
          <a:xfrm>
            <a:off x="3069748" y="4489704"/>
            <a:ext cx="219456" cy="219456"/>
          </a:xfrm>
          <a:prstGeom prst="ellipse">
            <a:avLst/>
          </a:prstGeom>
          <a:solidFill>
            <a:srgbClr val="B7C1CC"/>
          </a:solidFill>
          <a:ln w="25400">
            <a:solidFill>
              <a:srgbClr val="FFFFFF"/>
            </a:solidFill>
          </a:ln>
        </p:spPr>
        <p:txBody>
          <a:bodyPr rtlCol="0" anchor="ctr"/>
          <a:lstStyle/>
          <a:p>
            <a:pPr algn="ctr"/>
          </a:p>
        </p:txBody>
      </p:sp>
      <p:sp>
        <p:nvSpPr>
          <p:cNvPr id="38" name="TextBox 37"/>
          <p:cNvSpPr txBox="1"/>
          <p:nvPr/>
        </p:nvSpPr>
        <p:spPr>
          <a:xfrm>
            <a:off x="2722276" y="4169664"/>
            <a:ext cx="914400" cy="237744"/>
          </a:xfrm>
          <a:prstGeom prst="rect">
            <a:avLst/>
          </a:prstGeom>
          <a:noFill/>
        </p:spPr>
        <p:txBody>
          <a:bodyPr wrap="square" lIns="0" rIns="0" tIns="0" bIns="0" anchor="t">
            <a:noAutofit/>
          </a:bodyPr>
          <a:lstStyle/>
          <a:p>
            <a:pPr algn="ctr">
              <a:lnSpc>
                <a:spcPct val="110000"/>
              </a:lnSpc>
              <a:spcAft>
                <a:spcPts val="0"/>
              </a:spcAft>
            </a:pPr>
            <a:r>
              <a:rPr sz="1300" i="0" b="1">
                <a:solidFill>
                  <a:srgbClr val="1E2833"/>
                </a:solidFill>
                <a:latin typeface="Arial"/>
              </a:rPr>
              <a:t>5.6K</a:t>
            </a:r>
          </a:p>
        </p:txBody>
      </p:sp>
      <p:sp>
        <p:nvSpPr>
          <p:cNvPr id="39" name="TextBox 38"/>
          <p:cNvSpPr txBox="1"/>
          <p:nvPr/>
        </p:nvSpPr>
        <p:spPr>
          <a:xfrm>
            <a:off x="8732520" y="4443984"/>
            <a:ext cx="2926080" cy="292608"/>
          </a:xfrm>
          <a:prstGeom prst="rect">
            <a:avLst/>
          </a:prstGeom>
          <a:noFill/>
        </p:spPr>
        <p:txBody>
          <a:bodyPr wrap="square" lIns="0" rIns="0" tIns="0" bIns="0" anchor="t">
            <a:noAutofit/>
          </a:bodyPr>
          <a:lstStyle/>
          <a:p>
            <a:pPr algn="l">
              <a:lnSpc>
                <a:spcPct val="110000"/>
              </a:lnSpc>
              <a:spcAft>
                <a:spcPts val="0"/>
              </a:spcAft>
            </a:pPr>
            <a:r>
              <a:rPr sz="1600" i="0" b="0">
                <a:solidFill>
                  <a:srgbClr val="1E2833"/>
                </a:solidFill>
                <a:latin typeface="Arial"/>
              </a:rPr>
              <a:t>28–111</a:t>
            </a:r>
          </a:p>
        </p:txBody>
      </p:sp>
      <p:sp>
        <p:nvSpPr>
          <p:cNvPr id="40" name="TextBox 39"/>
          <p:cNvSpPr txBox="1"/>
          <p:nvPr/>
        </p:nvSpPr>
        <p:spPr>
          <a:xfrm>
            <a:off x="8732520" y="5056632"/>
            <a:ext cx="2926080" cy="457200"/>
          </a:xfrm>
          <a:prstGeom prst="rect">
            <a:avLst/>
          </a:prstGeom>
          <a:noFill/>
        </p:spPr>
        <p:txBody>
          <a:bodyPr wrap="square" lIns="0" rIns="0" tIns="0" bIns="0" anchor="t">
            <a:noAutofit/>
          </a:bodyPr>
          <a:lstStyle/>
          <a:p>
            <a:pPr algn="l">
              <a:lnSpc>
                <a:spcPct val="110000"/>
              </a:lnSpc>
              <a:spcAft>
                <a:spcPts val="0"/>
              </a:spcAft>
            </a:pPr>
            <a:r>
              <a:rPr sz="1100" i="0" b="0">
                <a:solidFill>
                  <a:srgbClr val="647282"/>
                </a:solidFill>
                <a:latin typeface="Arial"/>
              </a:rPr>
              <a:t>At a 0.5–2% category conversion rate</a:t>
            </a:r>
          </a:p>
        </p:txBody>
      </p:sp>
      <p:sp>
        <p:nvSpPr>
          <p:cNvPr id="41" name="TextBox 40"/>
          <p:cNvSpPr txBox="1"/>
          <p:nvPr/>
        </p:nvSpPr>
        <p:spPr>
          <a:xfrm>
            <a:off x="548640" y="5760720"/>
            <a:ext cx="11094415" cy="45720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The intervals overlap: one day can't rank the mattress brands by volume.  Walmart, for scale: ~7.0M clicks a day, 1.72% convert (~121K).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METHOD</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Cleaned data, scaled on the right audience</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5</a:t>
            </a:r>
          </a:p>
        </p:txBody>
      </p:sp>
      <p:sp>
        <p:nvSpPr>
          <p:cNvPr id="8" name="Rectangle 7"/>
          <p:cNvSpPr/>
          <p:nvPr/>
        </p:nvSpPr>
        <p:spPr>
          <a:xfrm>
            <a:off x="548640" y="1554480"/>
            <a:ext cx="2514600" cy="960120"/>
          </a:xfrm>
          <a:prstGeom prst="rect">
            <a:avLst/>
          </a:prstGeom>
          <a:solidFill>
            <a:srgbClr val="F3F6F9"/>
          </a:solidFill>
          <a:ln>
            <a:noFill/>
          </a:ln>
        </p:spPr>
        <p:txBody>
          <a:bodyPr rtlCol="0" anchor="ctr"/>
          <a:lstStyle/>
          <a:p>
            <a:pPr algn="ctr"/>
          </a:p>
        </p:txBody>
      </p:sp>
      <p:sp>
        <p:nvSpPr>
          <p:cNvPr id="9" name="TextBox 8"/>
          <p:cNvSpPr txBox="1"/>
          <p:nvPr/>
        </p:nvSpPr>
        <p:spPr>
          <a:xfrm>
            <a:off x="777240"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48.4M</a:t>
            </a:r>
          </a:p>
        </p:txBody>
      </p:sp>
      <p:sp>
        <p:nvSpPr>
          <p:cNvPr id="10" name="TextBox 9"/>
          <p:cNvSpPr txBox="1"/>
          <p:nvPr/>
        </p:nvSpPr>
        <p:spPr>
          <a:xfrm>
            <a:off x="777240"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panel events from 784K users, one day</a:t>
            </a:r>
          </a:p>
        </p:txBody>
      </p:sp>
      <p:cxnSp>
        <p:nvCxnSpPr>
          <p:cNvPr id="11" name="Connector 10"/>
          <p:cNvCxnSpPr/>
          <p:nvPr/>
        </p:nvCxnSpPr>
        <p:spPr>
          <a:xfrm>
            <a:off x="3118104" y="2029968"/>
            <a:ext cx="235610" cy="0"/>
          </a:xfrm>
          <a:prstGeom prst="line">
            <a:avLst/>
          </a:prstGeom>
          <a:ln w="19050">
            <a:solidFill>
              <a:srgbClr val="FF9438"/>
            </a:solidFill>
            <a:tailEnd type="triangle" w="med" len="med"/>
          </a:ln>
        </p:spPr>
      </p:cxnSp>
      <p:sp>
        <p:nvSpPr>
          <p:cNvPr id="12" name="Rectangle 11"/>
          <p:cNvSpPr/>
          <p:nvPr/>
        </p:nvSpPr>
        <p:spPr>
          <a:xfrm>
            <a:off x="3408578" y="1554480"/>
            <a:ext cx="2514600" cy="960120"/>
          </a:xfrm>
          <a:prstGeom prst="rect">
            <a:avLst/>
          </a:prstGeom>
          <a:solidFill>
            <a:srgbClr val="F3F6F9"/>
          </a:solidFill>
          <a:ln>
            <a:noFill/>
          </a:ln>
        </p:spPr>
        <p:txBody>
          <a:bodyPr rtlCol="0" anchor="ctr"/>
          <a:lstStyle/>
          <a:p>
            <a:pPr algn="ctr"/>
          </a:p>
        </p:txBody>
      </p:sp>
      <p:sp>
        <p:nvSpPr>
          <p:cNvPr id="13" name="TextBox 12"/>
          <p:cNvSpPr txBox="1"/>
          <p:nvPr/>
        </p:nvSpPr>
        <p:spPr>
          <a:xfrm>
            <a:off x="3637178"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1.64M</a:t>
            </a:r>
          </a:p>
        </p:txBody>
      </p:sp>
      <p:sp>
        <p:nvSpPr>
          <p:cNvPr id="14" name="TextBox 13"/>
          <p:cNvSpPr txBox="1"/>
          <p:nvPr/>
        </p:nvSpPr>
        <p:spPr>
          <a:xfrm>
            <a:off x="3637178"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events of users who touched a brand (3.4%)</a:t>
            </a:r>
          </a:p>
        </p:txBody>
      </p:sp>
      <p:cxnSp>
        <p:nvCxnSpPr>
          <p:cNvPr id="15" name="Connector 14"/>
          <p:cNvCxnSpPr/>
          <p:nvPr/>
        </p:nvCxnSpPr>
        <p:spPr>
          <a:xfrm>
            <a:off x="5978042" y="2029968"/>
            <a:ext cx="235610" cy="0"/>
          </a:xfrm>
          <a:prstGeom prst="line">
            <a:avLst/>
          </a:prstGeom>
          <a:ln w="19050">
            <a:solidFill>
              <a:srgbClr val="FF9438"/>
            </a:solidFill>
            <a:tailEnd type="triangle" w="med" len="med"/>
          </a:ln>
        </p:spPr>
      </p:cxnSp>
      <p:sp>
        <p:nvSpPr>
          <p:cNvPr id="16" name="Rectangle 15"/>
          <p:cNvSpPr/>
          <p:nvPr/>
        </p:nvSpPr>
        <p:spPr>
          <a:xfrm>
            <a:off x="6268516" y="1554480"/>
            <a:ext cx="2514600" cy="960120"/>
          </a:xfrm>
          <a:prstGeom prst="rect">
            <a:avLst/>
          </a:prstGeom>
          <a:solidFill>
            <a:srgbClr val="F3F6F9"/>
          </a:solidFill>
          <a:ln>
            <a:noFill/>
          </a:ln>
        </p:spPr>
        <p:txBody>
          <a:bodyPr rtlCol="0" anchor="ctr"/>
          <a:lstStyle/>
          <a:p>
            <a:pPr algn="ctr"/>
          </a:p>
        </p:txBody>
      </p:sp>
      <p:sp>
        <p:nvSpPr>
          <p:cNvPr id="17" name="TextBox 16"/>
          <p:cNvSpPr txBox="1"/>
          <p:nvPr/>
        </p:nvSpPr>
        <p:spPr>
          <a:xfrm>
            <a:off x="6497116"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6.5K</a:t>
            </a:r>
          </a:p>
        </p:txBody>
      </p:sp>
      <p:sp>
        <p:nvSpPr>
          <p:cNvPr id="18" name="TextBox 17"/>
          <p:cNvSpPr txBox="1"/>
          <p:nvPr/>
        </p:nvSpPr>
        <p:spPr>
          <a:xfrm>
            <a:off x="6497116"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US affiliate clicks, de-duplicated by click id</a:t>
            </a:r>
          </a:p>
        </p:txBody>
      </p:sp>
      <p:cxnSp>
        <p:nvCxnSpPr>
          <p:cNvPr id="19" name="Connector 18"/>
          <p:cNvCxnSpPr/>
          <p:nvPr/>
        </p:nvCxnSpPr>
        <p:spPr>
          <a:xfrm>
            <a:off x="8837980" y="2029968"/>
            <a:ext cx="235611" cy="0"/>
          </a:xfrm>
          <a:prstGeom prst="line">
            <a:avLst/>
          </a:prstGeom>
          <a:ln w="19050">
            <a:solidFill>
              <a:srgbClr val="FF9438"/>
            </a:solidFill>
            <a:tailEnd type="triangle" w="med" len="med"/>
          </a:ln>
        </p:spPr>
      </p:cxnSp>
      <p:sp>
        <p:nvSpPr>
          <p:cNvPr id="20" name="Rectangle 19"/>
          <p:cNvSpPr/>
          <p:nvPr/>
        </p:nvSpPr>
        <p:spPr>
          <a:xfrm>
            <a:off x="9128455" y="1554480"/>
            <a:ext cx="2514600" cy="960120"/>
          </a:xfrm>
          <a:prstGeom prst="rect">
            <a:avLst/>
          </a:prstGeom>
          <a:solidFill>
            <a:srgbClr val="F3F6F9"/>
          </a:solidFill>
          <a:ln>
            <a:noFill/>
          </a:ln>
        </p:spPr>
        <p:txBody>
          <a:bodyPr rtlCol="0" anchor="ctr"/>
          <a:lstStyle/>
          <a:p>
            <a:pPr algn="ctr"/>
          </a:p>
        </p:txBody>
      </p:sp>
      <p:sp>
        <p:nvSpPr>
          <p:cNvPr id="21" name="TextBox 20"/>
          <p:cNvSpPr txBox="1"/>
          <p:nvPr/>
        </p:nvSpPr>
        <p:spPr>
          <a:xfrm>
            <a:off x="9357055" y="1645920"/>
            <a:ext cx="2148840" cy="411480"/>
          </a:xfrm>
          <a:prstGeom prst="rect">
            <a:avLst/>
          </a:prstGeom>
          <a:noFill/>
        </p:spPr>
        <p:txBody>
          <a:bodyPr wrap="square" lIns="0" rIns="0" tIns="0" bIns="0" anchor="t">
            <a:noAutofit/>
          </a:bodyPr>
          <a:lstStyle/>
          <a:p>
            <a:pPr algn="l">
              <a:lnSpc>
                <a:spcPct val="110000"/>
              </a:lnSpc>
              <a:spcAft>
                <a:spcPts val="0"/>
              </a:spcAft>
            </a:pPr>
            <a:r>
              <a:rPr sz="2600" i="0" b="1">
                <a:solidFill>
                  <a:srgbClr val="0B2A4A"/>
                </a:solidFill>
                <a:latin typeface="Arial"/>
              </a:rPr>
              <a:t>× F</a:t>
            </a:r>
          </a:p>
        </p:txBody>
      </p:sp>
      <p:sp>
        <p:nvSpPr>
          <p:cNvPr id="22" name="TextBox 21"/>
          <p:cNvSpPr txBox="1"/>
          <p:nvPr/>
        </p:nvSpPr>
        <p:spPr>
          <a:xfrm>
            <a:off x="9357055" y="2084831"/>
            <a:ext cx="2148840" cy="411480"/>
          </a:xfrm>
          <a:prstGeom prst="rect">
            <a:avLst/>
          </a:prstGeom>
          <a:noFill/>
        </p:spPr>
        <p:txBody>
          <a:bodyPr wrap="square" lIns="0" rIns="0" tIns="0" bIns="0" anchor="t">
            <a:noAutofit/>
          </a:bodyPr>
          <a:lstStyle/>
          <a:p>
            <a:pPr algn="l">
              <a:lnSpc>
                <a:spcPct val="100000"/>
              </a:lnSpc>
              <a:spcAft>
                <a:spcPts val="0"/>
              </a:spcAft>
            </a:pPr>
            <a:r>
              <a:rPr sz="1200" i="0" b="0">
                <a:solidFill>
                  <a:srgbClr val="1E2833"/>
                </a:solidFill>
                <a:latin typeface="Arial"/>
              </a:rPr>
              <a:t>scaled to US totals, per audience</a:t>
            </a:r>
          </a:p>
        </p:txBody>
      </p:sp>
      <p:sp>
        <p:nvSpPr>
          <p:cNvPr id="23" name="Rounded Rectangle 22"/>
          <p:cNvSpPr/>
          <p:nvPr/>
        </p:nvSpPr>
        <p:spPr>
          <a:xfrm>
            <a:off x="3408578" y="2633472"/>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−14.7% duplicate rows</a:t>
            </a:r>
          </a:p>
        </p:txBody>
      </p:sp>
      <p:sp>
        <p:nvSpPr>
          <p:cNvPr id="24" name="Rounded Rectangle 23"/>
          <p:cNvSpPr/>
          <p:nvPr/>
        </p:nvSpPr>
        <p:spPr>
          <a:xfrm>
            <a:off x="3408578" y="3017520"/>
            <a:ext cx="2514600"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150" i="0" b="1">
                <a:solidFill>
                  <a:srgbClr val="C9620E"/>
                </a:solidFill>
                <a:latin typeface="Arial"/>
              </a:rPr>
              <a:t>Mirror user IDs merged</a:t>
            </a:r>
          </a:p>
        </p:txBody>
      </p:sp>
      <p:sp>
        <p:nvSpPr>
          <p:cNvPr id="25" name="TextBox 24"/>
          <p:cNvSpPr txBox="1"/>
          <p:nvPr/>
        </p:nvSpPr>
        <p:spPr>
          <a:xfrm>
            <a:off x="548640" y="3566160"/>
            <a:ext cx="73152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Scaled panel visits ÷ Similarweb visits  (1.0 = exact match)</a:t>
            </a:r>
          </a:p>
        </p:txBody>
      </p:sp>
      <p:sp>
        <p:nvSpPr>
          <p:cNvPr id="26" name="Rectangle 25"/>
          <p:cNvSpPr/>
          <p:nvPr/>
        </p:nvSpPr>
        <p:spPr>
          <a:xfrm>
            <a:off x="548640" y="3895344"/>
            <a:ext cx="146304" cy="146304"/>
          </a:xfrm>
          <a:prstGeom prst="rect">
            <a:avLst/>
          </a:prstGeom>
          <a:solidFill>
            <a:srgbClr val="B7C1CC"/>
          </a:solidFill>
          <a:ln>
            <a:noFill/>
          </a:ln>
        </p:spPr>
        <p:txBody>
          <a:bodyPr rtlCol="0" anchor="ctr"/>
          <a:lstStyle/>
          <a:p>
            <a:pPr algn="ctr"/>
          </a:p>
        </p:txBody>
      </p:sp>
      <p:sp>
        <p:nvSpPr>
          <p:cNvPr id="27" name="TextBox 26"/>
          <p:cNvSpPr txBox="1"/>
          <p:nvPr/>
        </p:nvSpPr>
        <p:spPr>
          <a:xfrm>
            <a:off x="777240"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Walmart-calibrated factor (1,089)</a:t>
            </a:r>
          </a:p>
        </p:txBody>
      </p:sp>
      <p:sp>
        <p:nvSpPr>
          <p:cNvPr id="28" name="Rectangle 27"/>
          <p:cNvSpPr/>
          <p:nvPr/>
        </p:nvSpPr>
        <p:spPr>
          <a:xfrm>
            <a:off x="3798417" y="3895344"/>
            <a:ext cx="146304" cy="146304"/>
          </a:xfrm>
          <a:prstGeom prst="rect">
            <a:avLst/>
          </a:prstGeom>
          <a:solidFill>
            <a:srgbClr val="368EF8"/>
          </a:solidFill>
          <a:ln>
            <a:noFill/>
          </a:ln>
        </p:spPr>
        <p:txBody>
          <a:bodyPr rtlCol="0" anchor="ctr"/>
          <a:lstStyle/>
          <a:p>
            <a:pPr algn="ctr"/>
          </a:p>
        </p:txBody>
      </p:sp>
      <p:sp>
        <p:nvSpPr>
          <p:cNvPr id="29" name="TextBox 28"/>
          <p:cNvSpPr txBox="1"/>
          <p:nvPr/>
        </p:nvSpPr>
        <p:spPr>
          <a:xfrm>
            <a:off x="4027017" y="3858768"/>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Mattress-calibrated factor (2,784)</a:t>
            </a:r>
          </a:p>
        </p:txBody>
      </p:sp>
      <p:sp>
        <p:nvSpPr>
          <p:cNvPr id="30" name="TextBox 29"/>
          <p:cNvSpPr txBox="1"/>
          <p:nvPr/>
        </p:nvSpPr>
        <p:spPr>
          <a:xfrm>
            <a:off x="548640" y="4590288"/>
            <a:ext cx="1737360" cy="274320"/>
          </a:xfrm>
          <a:prstGeom prst="rect">
            <a:avLst/>
          </a:prstGeom>
          <a:noFill/>
        </p:spPr>
        <p:txBody>
          <a:bodyPr wrap="square" lIns="0" rIns="0" tIns="0" bIns="0" anchor="t">
            <a:noAutofit/>
          </a:bodyPr>
          <a:lstStyle/>
          <a:p>
            <a:pPr algn="l">
              <a:lnSpc>
                <a:spcPct val="110000"/>
              </a:lnSpc>
              <a:spcAft>
                <a:spcPts val="0"/>
              </a:spcAft>
            </a:pPr>
            <a:r>
              <a:rPr sz="1500" i="0" b="1">
                <a:solidFill>
                  <a:srgbClr val="1E2833"/>
                </a:solidFill>
                <a:latin typeface="Arial"/>
              </a:rPr>
              <a:t>Saatva</a:t>
            </a:r>
          </a:p>
        </p:txBody>
      </p:sp>
      <p:sp>
        <p:nvSpPr>
          <p:cNvPr id="31" name="Round Same Side Corner Rectangle 30"/>
          <p:cNvSpPr/>
          <p:nvPr/>
        </p:nvSpPr>
        <p:spPr>
          <a:xfrm rot="5400000">
            <a:off x="3191256" y="3712464"/>
            <a:ext cx="201168" cy="1828800"/>
          </a:xfrm>
          <a:prstGeom prst="round2SameRect">
            <a:avLst>
              <a:gd name="adj1" fmla="val 14000"/>
              <a:gd name="adj2" fmla="val 0"/>
            </a:avLst>
          </a:prstGeom>
          <a:solidFill>
            <a:srgbClr val="B7C1CC"/>
          </a:solidFill>
          <a:ln>
            <a:noFill/>
          </a:ln>
        </p:spPr>
        <p:txBody>
          <a:bodyPr rtlCol="0" anchor="ctr"/>
          <a:lstStyle/>
          <a:p>
            <a:pPr algn="ctr"/>
          </a:p>
        </p:txBody>
      </p:sp>
      <p:sp>
        <p:nvSpPr>
          <p:cNvPr id="32" name="TextBox 31"/>
          <p:cNvSpPr txBox="1"/>
          <p:nvPr/>
        </p:nvSpPr>
        <p:spPr>
          <a:xfrm>
            <a:off x="4297679" y="450799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0.40×</a:t>
            </a:r>
          </a:p>
        </p:txBody>
      </p:sp>
      <p:sp>
        <p:nvSpPr>
          <p:cNvPr id="33" name="Round Same Side Corner Rectangle 32"/>
          <p:cNvSpPr/>
          <p:nvPr/>
        </p:nvSpPr>
        <p:spPr>
          <a:xfrm rot="5400000">
            <a:off x="4585716" y="2555748"/>
            <a:ext cx="201168" cy="4617720"/>
          </a:xfrm>
          <a:prstGeom prst="round2SameRect">
            <a:avLst>
              <a:gd name="adj1" fmla="val 14000"/>
              <a:gd name="adj2" fmla="val 0"/>
            </a:avLst>
          </a:prstGeom>
          <a:solidFill>
            <a:srgbClr val="368EF8"/>
          </a:solidFill>
          <a:ln>
            <a:noFill/>
          </a:ln>
        </p:spPr>
        <p:txBody>
          <a:bodyPr rtlCol="0" anchor="ctr"/>
          <a:lstStyle/>
          <a:p>
            <a:pPr algn="ctr"/>
          </a:p>
        </p:txBody>
      </p:sp>
      <p:sp>
        <p:nvSpPr>
          <p:cNvPr id="34" name="TextBox 33"/>
          <p:cNvSpPr txBox="1"/>
          <p:nvPr/>
        </p:nvSpPr>
        <p:spPr>
          <a:xfrm>
            <a:off x="2377440" y="4745736"/>
            <a:ext cx="452628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1.01×</a:t>
            </a:r>
          </a:p>
        </p:txBody>
      </p:sp>
      <p:sp>
        <p:nvSpPr>
          <p:cNvPr id="35" name="TextBox 34"/>
          <p:cNvSpPr txBox="1"/>
          <p:nvPr/>
        </p:nvSpPr>
        <p:spPr>
          <a:xfrm>
            <a:off x="548640" y="513892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Nectar</a:t>
            </a:r>
          </a:p>
        </p:txBody>
      </p:sp>
      <p:sp>
        <p:nvSpPr>
          <p:cNvPr id="36" name="Round Same Side Corner Rectangle 35"/>
          <p:cNvSpPr/>
          <p:nvPr/>
        </p:nvSpPr>
        <p:spPr>
          <a:xfrm rot="5400000">
            <a:off x="3076956" y="4375404"/>
            <a:ext cx="201168" cy="1600200"/>
          </a:xfrm>
          <a:prstGeom prst="round2SameRect">
            <a:avLst>
              <a:gd name="adj1" fmla="val 14000"/>
              <a:gd name="adj2" fmla="val 0"/>
            </a:avLst>
          </a:prstGeom>
          <a:solidFill>
            <a:srgbClr val="B7C1CC"/>
          </a:solidFill>
          <a:ln>
            <a:noFill/>
          </a:ln>
        </p:spPr>
        <p:txBody>
          <a:bodyPr rtlCol="0" anchor="ctr"/>
          <a:lstStyle/>
          <a:p>
            <a:pPr algn="ctr"/>
          </a:p>
        </p:txBody>
      </p:sp>
      <p:sp>
        <p:nvSpPr>
          <p:cNvPr id="37" name="TextBox 36"/>
          <p:cNvSpPr txBox="1"/>
          <p:nvPr/>
        </p:nvSpPr>
        <p:spPr>
          <a:xfrm>
            <a:off x="4069079" y="505663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0.35×</a:t>
            </a:r>
          </a:p>
        </p:txBody>
      </p:sp>
      <p:sp>
        <p:nvSpPr>
          <p:cNvPr id="38" name="Round Same Side Corner Rectangle 37"/>
          <p:cNvSpPr/>
          <p:nvPr/>
        </p:nvSpPr>
        <p:spPr>
          <a:xfrm rot="5400000">
            <a:off x="4311396" y="3378708"/>
            <a:ext cx="201168" cy="4069080"/>
          </a:xfrm>
          <a:prstGeom prst="round2SameRect">
            <a:avLst>
              <a:gd name="adj1" fmla="val 14000"/>
              <a:gd name="adj2" fmla="val 0"/>
            </a:avLst>
          </a:prstGeom>
          <a:solidFill>
            <a:srgbClr val="368EF8"/>
          </a:solidFill>
          <a:ln>
            <a:noFill/>
          </a:ln>
        </p:spPr>
        <p:txBody>
          <a:bodyPr rtlCol="0" anchor="ctr"/>
          <a:lstStyle/>
          <a:p>
            <a:pPr algn="ctr"/>
          </a:p>
        </p:txBody>
      </p:sp>
      <p:sp>
        <p:nvSpPr>
          <p:cNvPr id="39" name="TextBox 38"/>
          <p:cNvSpPr txBox="1"/>
          <p:nvPr/>
        </p:nvSpPr>
        <p:spPr>
          <a:xfrm>
            <a:off x="2377440" y="5294376"/>
            <a:ext cx="397764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0.89×</a:t>
            </a:r>
          </a:p>
        </p:txBody>
      </p:sp>
      <p:sp>
        <p:nvSpPr>
          <p:cNvPr id="40" name="TextBox 39"/>
          <p:cNvSpPr txBox="1"/>
          <p:nvPr/>
        </p:nvSpPr>
        <p:spPr>
          <a:xfrm>
            <a:off x="548640" y="5687568"/>
            <a:ext cx="1737360" cy="274320"/>
          </a:xfrm>
          <a:prstGeom prst="rect">
            <a:avLst/>
          </a:prstGeom>
          <a:noFill/>
        </p:spPr>
        <p:txBody>
          <a:bodyPr wrap="square" lIns="0" rIns="0" tIns="0" bIns="0" anchor="t">
            <a:noAutofit/>
          </a:bodyPr>
          <a:lstStyle/>
          <a:p>
            <a:pPr algn="l">
              <a:lnSpc>
                <a:spcPct val="110000"/>
              </a:lnSpc>
              <a:spcAft>
                <a:spcPts val="0"/>
              </a:spcAft>
            </a:pPr>
            <a:r>
              <a:rPr sz="1500" i="0" b="0">
                <a:solidFill>
                  <a:srgbClr val="1E2833"/>
                </a:solidFill>
                <a:latin typeface="Arial"/>
              </a:rPr>
              <a:t>DreamCloud</a:t>
            </a:r>
          </a:p>
        </p:txBody>
      </p:sp>
      <p:sp>
        <p:nvSpPr>
          <p:cNvPr id="41" name="Round Same Side Corner Rectangle 40"/>
          <p:cNvSpPr/>
          <p:nvPr/>
        </p:nvSpPr>
        <p:spPr>
          <a:xfrm rot="5400000">
            <a:off x="3419856" y="4581144"/>
            <a:ext cx="201168" cy="2286000"/>
          </a:xfrm>
          <a:prstGeom prst="round2SameRect">
            <a:avLst>
              <a:gd name="adj1" fmla="val 14000"/>
              <a:gd name="adj2" fmla="val 0"/>
            </a:avLst>
          </a:prstGeom>
          <a:solidFill>
            <a:srgbClr val="B7C1CC"/>
          </a:solidFill>
          <a:ln>
            <a:noFill/>
          </a:ln>
        </p:spPr>
        <p:txBody>
          <a:bodyPr rtlCol="0" anchor="ctr"/>
          <a:lstStyle/>
          <a:p>
            <a:pPr algn="ctr"/>
          </a:p>
        </p:txBody>
      </p:sp>
      <p:sp>
        <p:nvSpPr>
          <p:cNvPr id="42" name="TextBox 41"/>
          <p:cNvSpPr txBox="1"/>
          <p:nvPr/>
        </p:nvSpPr>
        <p:spPr>
          <a:xfrm>
            <a:off x="4754879" y="5605272"/>
            <a:ext cx="731520" cy="228600"/>
          </a:xfrm>
          <a:prstGeom prst="rect">
            <a:avLst/>
          </a:prstGeom>
          <a:noFill/>
        </p:spPr>
        <p:txBody>
          <a:bodyPr wrap="square" lIns="0" rIns="0" tIns="0" bIns="0" anchor="t">
            <a:noAutofit/>
          </a:bodyPr>
          <a:lstStyle/>
          <a:p>
            <a:pPr algn="l">
              <a:lnSpc>
                <a:spcPct val="110000"/>
              </a:lnSpc>
              <a:spcAft>
                <a:spcPts val="0"/>
              </a:spcAft>
            </a:pPr>
            <a:r>
              <a:rPr sz="1200" i="0" b="0">
                <a:solidFill>
                  <a:srgbClr val="1E2833"/>
                </a:solidFill>
                <a:latin typeface="Arial"/>
              </a:rPr>
              <a:t>0.50×</a:t>
            </a:r>
          </a:p>
        </p:txBody>
      </p:sp>
      <p:sp>
        <p:nvSpPr>
          <p:cNvPr id="43" name="Round Same Side Corner Rectangle 42"/>
          <p:cNvSpPr/>
          <p:nvPr/>
        </p:nvSpPr>
        <p:spPr>
          <a:xfrm rot="5400000">
            <a:off x="5180076" y="3058668"/>
            <a:ext cx="201168" cy="5806440"/>
          </a:xfrm>
          <a:prstGeom prst="round2SameRect">
            <a:avLst>
              <a:gd name="adj1" fmla="val 14000"/>
              <a:gd name="adj2" fmla="val 0"/>
            </a:avLst>
          </a:prstGeom>
          <a:solidFill>
            <a:srgbClr val="368EF8"/>
          </a:solidFill>
          <a:ln>
            <a:noFill/>
          </a:ln>
        </p:spPr>
        <p:txBody>
          <a:bodyPr rtlCol="0" anchor="ctr"/>
          <a:lstStyle/>
          <a:p>
            <a:pPr algn="ctr"/>
          </a:p>
        </p:txBody>
      </p:sp>
      <p:sp>
        <p:nvSpPr>
          <p:cNvPr id="44" name="TextBox 43"/>
          <p:cNvSpPr txBox="1"/>
          <p:nvPr/>
        </p:nvSpPr>
        <p:spPr>
          <a:xfrm>
            <a:off x="2377440" y="5843016"/>
            <a:ext cx="5715000" cy="228600"/>
          </a:xfrm>
          <a:prstGeom prst="rect">
            <a:avLst/>
          </a:prstGeom>
          <a:noFill/>
        </p:spPr>
        <p:txBody>
          <a:bodyPr wrap="square" lIns="0" rIns="0" tIns="0" bIns="0" anchor="t">
            <a:noAutofit/>
          </a:bodyPr>
          <a:lstStyle/>
          <a:p>
            <a:pPr algn="r">
              <a:lnSpc>
                <a:spcPct val="110000"/>
              </a:lnSpc>
              <a:spcAft>
                <a:spcPts val="0"/>
              </a:spcAft>
            </a:pPr>
            <a:r>
              <a:rPr sz="1200" i="0" b="1">
                <a:solidFill>
                  <a:srgbClr val="FFFFFF"/>
                </a:solidFill>
                <a:latin typeface="Arial"/>
              </a:rPr>
              <a:t>1.27×</a:t>
            </a:r>
          </a:p>
        </p:txBody>
      </p:sp>
      <p:cxnSp>
        <p:nvCxnSpPr>
          <p:cNvPr id="45" name="Connector 44"/>
          <p:cNvCxnSpPr/>
          <p:nvPr/>
        </p:nvCxnSpPr>
        <p:spPr>
          <a:xfrm>
            <a:off x="2377440" y="4416552"/>
            <a:ext cx="0" cy="1664208"/>
          </a:xfrm>
          <a:prstGeom prst="line">
            <a:avLst/>
          </a:prstGeom>
          <a:ln w="9525">
            <a:solidFill>
              <a:srgbClr val="1E2833"/>
            </a:solidFill>
          </a:ln>
        </p:spPr>
      </p:cxnSp>
      <p:cxnSp>
        <p:nvCxnSpPr>
          <p:cNvPr id="46" name="Connector 45"/>
          <p:cNvCxnSpPr/>
          <p:nvPr/>
        </p:nvCxnSpPr>
        <p:spPr>
          <a:xfrm>
            <a:off x="6949440" y="4416552"/>
            <a:ext cx="0" cy="1664208"/>
          </a:xfrm>
          <a:prstGeom prst="line">
            <a:avLst/>
          </a:prstGeom>
          <a:ln w="19050">
            <a:solidFill>
              <a:srgbClr val="0B2A4A"/>
            </a:solidFill>
          </a:ln>
        </p:spPr>
      </p:cxnSp>
      <p:sp>
        <p:nvSpPr>
          <p:cNvPr id="47" name="TextBox 46"/>
          <p:cNvSpPr txBox="1"/>
          <p:nvPr/>
        </p:nvSpPr>
        <p:spPr>
          <a:xfrm>
            <a:off x="7022592" y="4160520"/>
            <a:ext cx="1828800" cy="228600"/>
          </a:xfrm>
          <a:prstGeom prst="rect">
            <a:avLst/>
          </a:prstGeom>
          <a:noFill/>
        </p:spPr>
        <p:txBody>
          <a:bodyPr wrap="square" lIns="0" rIns="0" tIns="0" bIns="0" anchor="t">
            <a:noAutofit/>
          </a:bodyPr>
          <a:lstStyle/>
          <a:p>
            <a:pPr algn="l">
              <a:lnSpc>
                <a:spcPct val="110000"/>
              </a:lnSpc>
              <a:spcAft>
                <a:spcPts val="0"/>
              </a:spcAft>
            </a:pPr>
            <a:r>
              <a:rPr sz="1100" i="0" b="1">
                <a:solidFill>
                  <a:srgbClr val="0B2A4A"/>
                </a:solidFill>
                <a:latin typeface="Arial"/>
              </a:rPr>
              <a:t>1.0 = Similarweb</a:t>
            </a:r>
          </a:p>
        </p:txBody>
      </p:sp>
      <p:sp>
        <p:nvSpPr>
          <p:cNvPr id="48" name="TextBox 47"/>
          <p:cNvSpPr txBox="1"/>
          <p:nvPr/>
        </p:nvSpPr>
        <p:spPr>
          <a:xfrm>
            <a:off x="9052560" y="4526280"/>
            <a:ext cx="2590495" cy="1554480"/>
          </a:xfrm>
          <a:prstGeom prst="rect">
            <a:avLst/>
          </a:prstGeom>
          <a:noFill/>
        </p:spPr>
        <p:txBody>
          <a:bodyPr wrap="square" lIns="0" rIns="0" tIns="0" bIns="0" anchor="t">
            <a:noAutofit/>
          </a:bodyPr>
          <a:lstStyle/>
          <a:p>
            <a:pPr algn="l">
              <a:lnSpc>
                <a:spcPct val="110000"/>
              </a:lnSpc>
              <a:spcAft>
                <a:spcPts val="800"/>
              </a:spcAft>
            </a:pPr>
            <a:r>
              <a:rPr sz="1300" i="0" b="0">
                <a:solidFill>
                  <a:srgbClr val="1E2833"/>
                </a:solidFill>
                <a:latin typeface="Arial"/>
              </a:rPr>
              <a:t>Walmart's factor under-counts the mattress sites </a:t>
            </a:r>
            <a:r>
              <a:rPr sz="1300" i="0" b="1">
                <a:solidFill>
                  <a:srgbClr val="1E2833"/>
                </a:solidFill>
                <a:latin typeface="Arial"/>
              </a:rPr>
              <a:t>2–3×</a:t>
            </a:r>
            <a:r>
              <a:rPr sz="1300" i="0" b="0">
                <a:solidFill>
                  <a:srgbClr val="1E2833"/>
                </a:solidFill>
                <a:latin typeface="Arial"/>
              </a:rPr>
              <a:t>.</a:t>
            </a:r>
          </a:p>
          <a:p>
            <a:pPr algn="l">
              <a:lnSpc>
                <a:spcPct val="110000"/>
              </a:lnSpc>
              <a:spcAft>
                <a:spcPts val="0"/>
              </a:spcAft>
            </a:pPr>
            <a:r>
              <a:rPr sz="1300" i="0" b="0">
                <a:solidFill>
                  <a:srgbClr val="1E2833"/>
                </a:solidFill>
                <a:latin typeface="Arial"/>
              </a:rPr>
              <a:t>The mattress factor matches each site within </a:t>
            </a:r>
            <a:r>
              <a:rPr sz="1300" i="0" b="1">
                <a:solidFill>
                  <a:srgbClr val="1E2833"/>
                </a:solidFill>
                <a:latin typeface="Arial"/>
              </a:rPr>
              <a:t>0.89–1.27×</a:t>
            </a:r>
            <a:r>
              <a:rPr sz="1300" i="0" b="0">
                <a:solidFill>
                  <a:srgbClr val="1E2833"/>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WALMART, 6,449 CLICKS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13–24% of clicks take 52–79% of affiliate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6</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Share of Walmart affiliate clicks flagged, and the orders they take</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Clicks flagged</a:t>
            </a:r>
          </a:p>
        </p:txBody>
      </p:sp>
      <p:sp>
        <p:nvSpPr>
          <p:cNvPr id="11" name="Rectangle 10"/>
          <p:cNvSpPr/>
          <p:nvPr/>
        </p:nvSpPr>
        <p:spPr>
          <a:xfrm>
            <a:off x="2269540"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4981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orders they take</a:t>
            </a:r>
          </a:p>
        </p:txBody>
      </p:sp>
      <p:sp>
        <p:nvSpPr>
          <p:cNvPr id="13" name="TextBox 12"/>
          <p:cNvSpPr txBox="1"/>
          <p:nvPr/>
        </p:nvSpPr>
        <p:spPr>
          <a:xfrm>
            <a:off x="548640" y="2578608"/>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30-min look-back</a:t>
            </a:r>
          </a:p>
        </p:txBody>
      </p:sp>
      <p:sp>
        <p:nvSpPr>
          <p:cNvPr id="14" name="Round Same Side Corner Rectangle 13"/>
          <p:cNvSpPr/>
          <p:nvPr/>
        </p:nvSpPr>
        <p:spPr>
          <a:xfrm rot="5400000">
            <a:off x="2758196" y="2042403"/>
            <a:ext cx="274320" cy="1035832"/>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504712" y="2432303"/>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24%</a:t>
            </a:r>
          </a:p>
        </p:txBody>
      </p:sp>
      <p:sp>
        <p:nvSpPr>
          <p:cNvPr id="16" name="Round Same Side Corner Rectangle 15"/>
          <p:cNvSpPr/>
          <p:nvPr/>
        </p:nvSpPr>
        <p:spPr>
          <a:xfrm rot="5400000">
            <a:off x="3980566" y="1149217"/>
            <a:ext cx="274320" cy="3480572"/>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5949452" y="2761487"/>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79%</a:t>
            </a:r>
          </a:p>
        </p:txBody>
      </p:sp>
      <p:sp>
        <p:nvSpPr>
          <p:cNvPr id="18" name="TextBox 17"/>
          <p:cNvSpPr txBox="1"/>
          <p:nvPr/>
        </p:nvSpPr>
        <p:spPr>
          <a:xfrm>
            <a:off x="548640" y="3602736"/>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10-min look-back</a:t>
            </a:r>
          </a:p>
        </p:txBody>
      </p:sp>
      <p:sp>
        <p:nvSpPr>
          <p:cNvPr id="19" name="Round Same Side Corner Rectangle 18"/>
          <p:cNvSpPr/>
          <p:nvPr/>
        </p:nvSpPr>
        <p:spPr>
          <a:xfrm rot="5400000">
            <a:off x="2652857" y="3171870"/>
            <a:ext cx="274320" cy="825154"/>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3294034" y="3456432"/>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19%</a:t>
            </a:r>
          </a:p>
        </p:txBody>
      </p:sp>
      <p:sp>
        <p:nvSpPr>
          <p:cNvPr id="21" name="Round Same Side Corner Rectangle 20"/>
          <p:cNvSpPr/>
          <p:nvPr/>
        </p:nvSpPr>
        <p:spPr>
          <a:xfrm rot="5400000">
            <a:off x="3822557" y="2331354"/>
            <a:ext cx="274320" cy="3164555"/>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633435" y="3785615"/>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72%</a:t>
            </a:r>
          </a:p>
        </p:txBody>
      </p:sp>
      <p:sp>
        <p:nvSpPr>
          <p:cNvPr id="23" name="TextBox 22"/>
          <p:cNvSpPr txBox="1"/>
          <p:nvPr/>
        </p:nvSpPr>
        <p:spPr>
          <a:xfrm>
            <a:off x="548640" y="4626864"/>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2-min look-back</a:t>
            </a:r>
          </a:p>
        </p:txBody>
      </p:sp>
      <p:sp>
        <p:nvSpPr>
          <p:cNvPr id="24" name="Round Same Side Corner Rectangle 23"/>
          <p:cNvSpPr/>
          <p:nvPr/>
        </p:nvSpPr>
        <p:spPr>
          <a:xfrm rot="5400000">
            <a:off x="2532156" y="4316699"/>
            <a:ext cx="274320" cy="583752"/>
          </a:xfrm>
          <a:prstGeom prst="round2SameRect">
            <a:avLst>
              <a:gd name="adj1" fmla="val 14000"/>
              <a:gd name="adj2" fmla="val 0"/>
            </a:avLst>
          </a:prstGeom>
          <a:solidFill>
            <a:srgbClr val="B7C1CC"/>
          </a:solidFill>
          <a:ln>
            <a:noFill/>
          </a:ln>
        </p:spPr>
        <p:txBody>
          <a:bodyPr rtlCol="0" anchor="ctr"/>
          <a:lstStyle/>
          <a:p>
            <a:pPr algn="ctr"/>
          </a:p>
        </p:txBody>
      </p:sp>
      <p:sp>
        <p:nvSpPr>
          <p:cNvPr id="25" name="TextBox 24"/>
          <p:cNvSpPr txBox="1"/>
          <p:nvPr/>
        </p:nvSpPr>
        <p:spPr>
          <a:xfrm>
            <a:off x="3052632" y="4480560"/>
            <a:ext cx="822960" cy="256032"/>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13%</a:t>
            </a:r>
          </a:p>
        </p:txBody>
      </p:sp>
      <p:sp>
        <p:nvSpPr>
          <p:cNvPr id="26" name="Round Same Side Corner Rectangle 25"/>
          <p:cNvSpPr/>
          <p:nvPr/>
        </p:nvSpPr>
        <p:spPr>
          <a:xfrm rot="5400000">
            <a:off x="3388034" y="3790005"/>
            <a:ext cx="274320" cy="2295509"/>
          </a:xfrm>
          <a:prstGeom prst="round2SameRect">
            <a:avLst>
              <a:gd name="adj1" fmla="val 14000"/>
              <a:gd name="adj2" fmla="val 0"/>
            </a:avLst>
          </a:prstGeom>
          <a:solidFill>
            <a:srgbClr val="FF9438"/>
          </a:solidFill>
          <a:ln>
            <a:noFill/>
          </a:ln>
        </p:spPr>
        <p:txBody>
          <a:bodyPr rtlCol="0" anchor="ctr"/>
          <a:lstStyle/>
          <a:p>
            <a:pPr algn="ctr"/>
          </a:p>
        </p:txBody>
      </p:sp>
      <p:sp>
        <p:nvSpPr>
          <p:cNvPr id="27" name="TextBox 26"/>
          <p:cNvSpPr txBox="1"/>
          <p:nvPr/>
        </p:nvSpPr>
        <p:spPr>
          <a:xfrm>
            <a:off x="4764389" y="4809744"/>
            <a:ext cx="822960" cy="256032"/>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52%</a:t>
            </a:r>
          </a:p>
        </p:txBody>
      </p:sp>
      <p:cxnSp>
        <p:nvCxnSpPr>
          <p:cNvPr id="28" name="Connector 27"/>
          <p:cNvCxnSpPr/>
          <p:nvPr/>
        </p:nvCxnSpPr>
        <p:spPr>
          <a:xfrm>
            <a:off x="2377440" y="2286000"/>
            <a:ext cx="0" cy="2916936"/>
          </a:xfrm>
          <a:prstGeom prst="line">
            <a:avLst/>
          </a:prstGeom>
          <a:ln w="9525">
            <a:solidFill>
              <a:srgbClr val="1E2833"/>
            </a:solidFill>
          </a:ln>
        </p:spPr>
      </p:cxnSp>
      <p:sp>
        <p:nvSpPr>
          <p:cNvPr id="29" name="Rectangle 28"/>
          <p:cNvSpPr/>
          <p:nvPr/>
        </p:nvSpPr>
        <p:spPr>
          <a:xfrm>
            <a:off x="7452360" y="1508760"/>
            <a:ext cx="4190695" cy="2240280"/>
          </a:xfrm>
          <a:prstGeom prst="rect">
            <a:avLst/>
          </a:prstGeom>
          <a:solidFill>
            <a:srgbClr val="F3F6F9"/>
          </a:solidFill>
          <a:ln>
            <a:noFill/>
          </a:ln>
        </p:spPr>
        <p:txBody>
          <a:bodyPr rtlCol="0" anchor="ctr"/>
          <a:lstStyle/>
          <a:p>
            <a:pPr algn="ctr"/>
          </a:p>
        </p:txBody>
      </p:sp>
      <p:sp>
        <p:nvSpPr>
          <p:cNvPr id="30" name="Oval 29"/>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31" name="TextBox 30"/>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Clicks fired after the cart</a:t>
            </a:r>
          </a:p>
        </p:txBody>
      </p:sp>
      <p:sp>
        <p:nvSpPr>
          <p:cNvPr id="32" name="TextBox 31"/>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13% vs 0.4%</a:t>
            </a:r>
          </a:p>
        </p:txBody>
      </p:sp>
      <p:sp>
        <p:nvSpPr>
          <p:cNvPr id="33" name="TextBox 32"/>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conversion, vs clicks with no signal</a:t>
            </a:r>
          </a:p>
        </p:txBody>
      </p:sp>
      <p:sp>
        <p:nvSpPr>
          <p:cNvPr id="34" name="TextBox 33"/>
          <p:cNvSpPr txBox="1"/>
          <p:nvPr/>
        </p:nvSpPr>
        <p:spPr>
          <a:xfrm>
            <a:off x="7726680" y="3182112"/>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The order follows a median 2.3 min later</a:t>
            </a:r>
          </a:p>
        </p:txBody>
      </p:sp>
      <p:sp>
        <p:nvSpPr>
          <p:cNvPr id="35" name="TextBox 34"/>
          <p:cNvSpPr txBox="1"/>
          <p:nvPr/>
        </p:nvSpPr>
        <p:spPr>
          <a:xfrm>
            <a:off x="7452360" y="4023360"/>
            <a:ext cx="4190695" cy="274320"/>
          </a:xfrm>
          <a:prstGeom prst="rect">
            <a:avLst/>
          </a:prstGeom>
          <a:noFill/>
        </p:spPr>
        <p:txBody>
          <a:bodyPr wrap="square" lIns="0" rIns="0" tIns="0" bIns="0" anchor="t">
            <a:noAutofit/>
          </a:bodyPr>
          <a:lstStyle/>
          <a:p>
            <a:pPr algn="l">
              <a:lnSpc>
                <a:spcPct val="110000"/>
              </a:lnSpc>
              <a:spcAft>
                <a:spcPts val="0"/>
              </a:spcAft>
            </a:pPr>
            <a:r>
              <a:rPr sz="1400" i="0" b="1">
                <a:solidFill>
                  <a:srgbClr val="0B2A4A"/>
                </a:solidFill>
                <a:latin typeface="Arial"/>
              </a:rPr>
              <a:t>How the credit is taken</a:t>
            </a:r>
          </a:p>
        </p:txBody>
      </p:sp>
      <p:sp>
        <p:nvSpPr>
          <p:cNvPr id="36" name="Oval 35"/>
          <p:cNvSpPr/>
          <p:nvPr/>
        </p:nvSpPr>
        <p:spPr>
          <a:xfrm>
            <a:off x="7470648" y="4498848"/>
            <a:ext cx="128016" cy="128016"/>
          </a:xfrm>
          <a:prstGeom prst="ellipse">
            <a:avLst/>
          </a:prstGeom>
          <a:solidFill>
            <a:srgbClr val="FF9438"/>
          </a:solidFill>
          <a:ln>
            <a:noFill/>
          </a:ln>
        </p:spPr>
        <p:txBody>
          <a:bodyPr rtlCol="0" anchor="ctr"/>
          <a:lstStyle/>
          <a:p>
            <a:pPr algn="ctr"/>
          </a:p>
        </p:txBody>
      </p:sp>
      <p:sp>
        <p:nvSpPr>
          <p:cNvPr id="37" name="TextBox 36"/>
          <p:cNvSpPr txBox="1"/>
          <p:nvPr/>
        </p:nvSpPr>
        <p:spPr>
          <a:xfrm>
            <a:off x="7726680" y="4434840"/>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Silent redirects from walmart.com itself</a:t>
            </a:r>
          </a:p>
        </p:txBody>
      </p:sp>
      <p:sp>
        <p:nvSpPr>
          <p:cNvPr id="38" name="Oval 37"/>
          <p:cNvSpPr/>
          <p:nvPr/>
        </p:nvSpPr>
        <p:spPr>
          <a:xfrm>
            <a:off x="7470648" y="4919472"/>
            <a:ext cx="128016" cy="128016"/>
          </a:xfrm>
          <a:prstGeom prst="ellipse">
            <a:avLst/>
          </a:prstGeom>
          <a:solidFill>
            <a:srgbClr val="FF9438"/>
          </a:solidFill>
          <a:ln>
            <a:noFill/>
          </a:ln>
        </p:spPr>
        <p:txBody>
          <a:bodyPr rtlCol="0" anchor="ctr"/>
          <a:lstStyle/>
          <a:p>
            <a:pPr algn="ctr"/>
          </a:p>
        </p:txBody>
      </p:sp>
      <p:sp>
        <p:nvSpPr>
          <p:cNvPr id="39" name="TextBox 38"/>
          <p:cNvSpPr txBox="1"/>
          <p:nvPr/>
        </p:nvSpPr>
        <p:spPr>
          <a:xfrm>
            <a:off x="7726680" y="4855464"/>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Price-comparison redirects (Bizrate)</a:t>
            </a:r>
          </a:p>
        </p:txBody>
      </p:sp>
      <p:sp>
        <p:nvSpPr>
          <p:cNvPr id="40" name="Oval 39"/>
          <p:cNvSpPr/>
          <p:nvPr/>
        </p:nvSpPr>
        <p:spPr>
          <a:xfrm>
            <a:off x="7470648" y="5340096"/>
            <a:ext cx="128016" cy="128016"/>
          </a:xfrm>
          <a:prstGeom prst="ellipse">
            <a:avLst/>
          </a:prstGeom>
          <a:solidFill>
            <a:srgbClr val="FF9438"/>
          </a:solidFill>
          <a:ln>
            <a:noFill/>
          </a:ln>
        </p:spPr>
        <p:txBody>
          <a:bodyPr rtlCol="0" anchor="ctr"/>
          <a:lstStyle/>
          <a:p>
            <a:pPr algn="ctr"/>
          </a:p>
        </p:txBody>
      </p:sp>
      <p:sp>
        <p:nvSpPr>
          <p:cNvPr id="41" name="TextBox 40"/>
          <p:cNvSpPr txBox="1"/>
          <p:nvPr/>
        </p:nvSpPr>
        <p:spPr>
          <a:xfrm>
            <a:off x="7726680" y="5276088"/>
            <a:ext cx="3916375"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Coupon and cash-back extensions</a:t>
            </a:r>
          </a:p>
        </p:txBody>
      </p:sp>
      <p:sp>
        <p:nvSpPr>
          <p:cNvPr id="42" name="TextBox 41"/>
          <p:cNvSpPr txBox="1"/>
          <p:nvPr/>
        </p:nvSpPr>
        <p:spPr>
          <a:xfrm>
            <a:off x="548640" y="5852160"/>
            <a:ext cx="11094415" cy="274320"/>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Flagged: a click without a landing, fired at the cart or while already on the site, or from a publisher-bought search 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IS THE CLICK INCREMENTAL?</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A click fired at the cart adds no orders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7</a:t>
            </a:r>
          </a:p>
        </p:txBody>
      </p:sp>
      <p:sp>
        <p:nvSpPr>
          <p:cNvPr id="8" name="TextBox 7"/>
          <p:cNvSpPr txBox="1"/>
          <p:nvPr/>
        </p:nvSpPr>
        <p:spPr>
          <a:xfrm>
            <a:off x="548640" y="1508760"/>
            <a:ext cx="6400800" cy="237744"/>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Walmart shoppers who order within 2 hours, by the stage already reached</a:t>
            </a:r>
          </a:p>
        </p:txBody>
      </p:sp>
      <p:sp>
        <p:nvSpPr>
          <p:cNvPr id="9" name="Rectangle 8"/>
          <p:cNvSpPr/>
          <p:nvPr/>
        </p:nvSpPr>
        <p:spPr>
          <a:xfrm>
            <a:off x="548640" y="1847088"/>
            <a:ext cx="146304" cy="146304"/>
          </a:xfrm>
          <a:prstGeom prst="rect">
            <a:avLst/>
          </a:prstGeom>
          <a:solidFill>
            <a:srgbClr val="B7C1CC"/>
          </a:solidFill>
          <a:ln>
            <a:noFill/>
          </a:ln>
        </p:spPr>
        <p:txBody>
          <a:bodyPr rtlCol="0" anchor="ctr"/>
          <a:lstStyle/>
          <a:p>
            <a:pPr algn="ctr"/>
          </a:p>
        </p:txBody>
      </p:sp>
      <p:sp>
        <p:nvSpPr>
          <p:cNvPr id="10" name="TextBox 9"/>
          <p:cNvSpPr txBox="1"/>
          <p:nvPr/>
        </p:nvSpPr>
        <p:spPr>
          <a:xfrm>
            <a:off x="777240"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No affiliate click</a:t>
            </a:r>
          </a:p>
        </p:txBody>
      </p:sp>
      <p:sp>
        <p:nvSpPr>
          <p:cNvPr id="11" name="Rectangle 10"/>
          <p:cNvSpPr/>
          <p:nvPr/>
        </p:nvSpPr>
        <p:spPr>
          <a:xfrm>
            <a:off x="2591409" y="1847088"/>
            <a:ext cx="146304" cy="146304"/>
          </a:xfrm>
          <a:prstGeom prst="rect">
            <a:avLst/>
          </a:prstGeom>
          <a:solidFill>
            <a:srgbClr val="FF9438"/>
          </a:solidFill>
          <a:ln>
            <a:noFill/>
          </a:ln>
        </p:spPr>
        <p:txBody>
          <a:bodyPr rtlCol="0" anchor="ctr"/>
          <a:lstStyle/>
          <a:p>
            <a:pPr algn="ctr"/>
          </a:p>
        </p:txBody>
      </p:sp>
      <p:sp>
        <p:nvSpPr>
          <p:cNvPr id="12" name="TextBox 11"/>
          <p:cNvSpPr txBox="1"/>
          <p:nvPr/>
        </p:nvSpPr>
        <p:spPr>
          <a:xfrm>
            <a:off x="2820009" y="1810512"/>
            <a:ext cx="4572000" cy="237744"/>
          </a:xfrm>
          <a:prstGeom prst="rect">
            <a:avLst/>
          </a:prstGeom>
          <a:noFill/>
        </p:spPr>
        <p:txBody>
          <a:bodyPr wrap="square" lIns="0" rIns="0" tIns="0" bIns="0" anchor="t">
            <a:noAutofit/>
          </a:bodyPr>
          <a:lstStyle/>
          <a:p>
            <a:pPr algn="l">
              <a:lnSpc>
                <a:spcPct val="110000"/>
              </a:lnSpc>
              <a:spcAft>
                <a:spcPts val="0"/>
              </a:spcAft>
            </a:pPr>
            <a:r>
              <a:rPr sz="1200" i="0" b="0">
                <a:solidFill>
                  <a:srgbClr val="647282"/>
                </a:solidFill>
                <a:latin typeface="Arial"/>
              </a:rPr>
              <a:t>Affiliate click fired afterwards</a:t>
            </a:r>
          </a:p>
        </p:txBody>
      </p:sp>
      <p:sp>
        <p:nvSpPr>
          <p:cNvPr id="13" name="TextBox 12"/>
          <p:cNvSpPr txBox="1"/>
          <p:nvPr/>
        </p:nvSpPr>
        <p:spPr>
          <a:xfrm>
            <a:off x="548640" y="2697479"/>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Viewed the cart</a:t>
            </a:r>
          </a:p>
        </p:txBody>
      </p:sp>
      <p:sp>
        <p:nvSpPr>
          <p:cNvPr id="14" name="Round Same Side Corner Rectangle 13"/>
          <p:cNvSpPr/>
          <p:nvPr/>
        </p:nvSpPr>
        <p:spPr>
          <a:xfrm rot="5400000">
            <a:off x="2881091" y="1919508"/>
            <a:ext cx="384048" cy="1391351"/>
          </a:xfrm>
          <a:prstGeom prst="round2SameRect">
            <a:avLst>
              <a:gd name="adj1" fmla="val 14000"/>
              <a:gd name="adj2" fmla="val 0"/>
            </a:avLst>
          </a:prstGeom>
          <a:solidFill>
            <a:srgbClr val="B7C1CC"/>
          </a:solidFill>
          <a:ln>
            <a:noFill/>
          </a:ln>
        </p:spPr>
        <p:txBody>
          <a:bodyPr rtlCol="0" anchor="ctr"/>
          <a:lstStyle/>
          <a:p>
            <a:pPr algn="ctr"/>
          </a:p>
        </p:txBody>
      </p:sp>
      <p:sp>
        <p:nvSpPr>
          <p:cNvPr id="15" name="TextBox 14"/>
          <p:cNvSpPr txBox="1"/>
          <p:nvPr/>
        </p:nvSpPr>
        <p:spPr>
          <a:xfrm>
            <a:off x="3860231" y="247802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32%   (n = 1,280)</a:t>
            </a:r>
          </a:p>
        </p:txBody>
      </p:sp>
      <p:sp>
        <p:nvSpPr>
          <p:cNvPr id="16" name="Round Same Side Corner Rectangle 15"/>
          <p:cNvSpPr/>
          <p:nvPr/>
        </p:nvSpPr>
        <p:spPr>
          <a:xfrm rot="5400000">
            <a:off x="2935955" y="2303556"/>
            <a:ext cx="384048" cy="1501079"/>
          </a:xfrm>
          <a:prstGeom prst="round2SameRect">
            <a:avLst>
              <a:gd name="adj1" fmla="val 14000"/>
              <a:gd name="adj2" fmla="val 0"/>
            </a:avLst>
          </a:prstGeom>
          <a:solidFill>
            <a:srgbClr val="FF9438"/>
          </a:solidFill>
          <a:ln>
            <a:noFill/>
          </a:ln>
        </p:spPr>
        <p:txBody>
          <a:bodyPr rtlCol="0" anchor="ctr"/>
          <a:lstStyle/>
          <a:p>
            <a:pPr algn="ctr"/>
          </a:p>
        </p:txBody>
      </p:sp>
      <p:sp>
        <p:nvSpPr>
          <p:cNvPr id="17" name="TextBox 16"/>
          <p:cNvSpPr txBox="1"/>
          <p:nvPr/>
        </p:nvSpPr>
        <p:spPr>
          <a:xfrm>
            <a:off x="3969959" y="2916936"/>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34%   (n = 38)</a:t>
            </a:r>
          </a:p>
        </p:txBody>
      </p:sp>
      <p:sp>
        <p:nvSpPr>
          <p:cNvPr id="18" name="TextBox 17"/>
          <p:cNvSpPr txBox="1"/>
          <p:nvPr/>
        </p:nvSpPr>
        <p:spPr>
          <a:xfrm>
            <a:off x="548640" y="4114800"/>
            <a:ext cx="1783080" cy="274320"/>
          </a:xfrm>
          <a:prstGeom prst="rect">
            <a:avLst/>
          </a:prstGeom>
          <a:noFill/>
        </p:spPr>
        <p:txBody>
          <a:bodyPr wrap="square" lIns="0" rIns="0" tIns="0" bIns="0" anchor="t">
            <a:noAutofit/>
          </a:bodyPr>
          <a:lstStyle/>
          <a:p>
            <a:pPr algn="l">
              <a:lnSpc>
                <a:spcPct val="110000"/>
              </a:lnSpc>
              <a:spcAft>
                <a:spcPts val="0"/>
              </a:spcAft>
            </a:pPr>
            <a:r>
              <a:rPr sz="1400" i="0" b="0">
                <a:solidFill>
                  <a:srgbClr val="1E2833"/>
                </a:solidFill>
                <a:latin typeface="Arial"/>
              </a:rPr>
              <a:t>Reached checkout</a:t>
            </a:r>
          </a:p>
        </p:txBody>
      </p:sp>
      <p:sp>
        <p:nvSpPr>
          <p:cNvPr id="19" name="Round Same Side Corner Rectangle 18"/>
          <p:cNvSpPr/>
          <p:nvPr/>
        </p:nvSpPr>
        <p:spPr>
          <a:xfrm rot="5400000">
            <a:off x="3848892" y="2369027"/>
            <a:ext cx="384048" cy="3326952"/>
          </a:xfrm>
          <a:prstGeom prst="round2SameRect">
            <a:avLst>
              <a:gd name="adj1" fmla="val 14000"/>
              <a:gd name="adj2" fmla="val 0"/>
            </a:avLst>
          </a:prstGeom>
          <a:solidFill>
            <a:srgbClr val="B7C1CC"/>
          </a:solidFill>
          <a:ln>
            <a:noFill/>
          </a:ln>
        </p:spPr>
        <p:txBody>
          <a:bodyPr rtlCol="0" anchor="ctr"/>
          <a:lstStyle/>
          <a:p>
            <a:pPr algn="ctr"/>
          </a:p>
        </p:txBody>
      </p:sp>
      <p:sp>
        <p:nvSpPr>
          <p:cNvPr id="20" name="TextBox 19"/>
          <p:cNvSpPr txBox="1"/>
          <p:nvPr/>
        </p:nvSpPr>
        <p:spPr>
          <a:xfrm>
            <a:off x="5795832" y="3895344"/>
            <a:ext cx="1600200" cy="27432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76%   (n = 759)</a:t>
            </a:r>
          </a:p>
        </p:txBody>
      </p:sp>
      <p:sp>
        <p:nvSpPr>
          <p:cNvPr id="21" name="Round Same Side Corner Rectangle 20"/>
          <p:cNvSpPr/>
          <p:nvPr/>
        </p:nvSpPr>
        <p:spPr>
          <a:xfrm rot="5400000">
            <a:off x="3649187" y="3007644"/>
            <a:ext cx="384048" cy="2927543"/>
          </a:xfrm>
          <a:prstGeom prst="round2SameRect">
            <a:avLst>
              <a:gd name="adj1" fmla="val 14000"/>
              <a:gd name="adj2" fmla="val 0"/>
            </a:avLst>
          </a:prstGeom>
          <a:solidFill>
            <a:srgbClr val="FF9438"/>
          </a:solidFill>
          <a:ln>
            <a:noFill/>
          </a:ln>
        </p:spPr>
        <p:txBody>
          <a:bodyPr rtlCol="0" anchor="ctr"/>
          <a:lstStyle/>
          <a:p>
            <a:pPr algn="ctr"/>
          </a:p>
        </p:txBody>
      </p:sp>
      <p:sp>
        <p:nvSpPr>
          <p:cNvPr id="22" name="TextBox 21"/>
          <p:cNvSpPr txBox="1"/>
          <p:nvPr/>
        </p:nvSpPr>
        <p:spPr>
          <a:xfrm>
            <a:off x="5396423" y="4334255"/>
            <a:ext cx="1600200" cy="274320"/>
          </a:xfrm>
          <a:prstGeom prst="rect">
            <a:avLst/>
          </a:prstGeom>
          <a:noFill/>
        </p:spPr>
        <p:txBody>
          <a:bodyPr wrap="square" lIns="0" rIns="0" tIns="0" bIns="0" anchor="t">
            <a:noAutofit/>
          </a:bodyPr>
          <a:lstStyle/>
          <a:p>
            <a:pPr algn="l">
              <a:lnSpc>
                <a:spcPct val="110000"/>
              </a:lnSpc>
              <a:spcAft>
                <a:spcPts val="0"/>
              </a:spcAft>
            </a:pPr>
            <a:r>
              <a:rPr sz="1300" i="0" b="1">
                <a:solidFill>
                  <a:srgbClr val="1E2833"/>
                </a:solidFill>
                <a:latin typeface="Arial"/>
              </a:rPr>
              <a:t>67%   (n = 18)</a:t>
            </a:r>
          </a:p>
        </p:txBody>
      </p:sp>
      <p:cxnSp>
        <p:nvCxnSpPr>
          <p:cNvPr id="23" name="Connector 22"/>
          <p:cNvCxnSpPr/>
          <p:nvPr/>
        </p:nvCxnSpPr>
        <p:spPr>
          <a:xfrm>
            <a:off x="2377440" y="2286000"/>
            <a:ext cx="0" cy="2551176"/>
          </a:xfrm>
          <a:prstGeom prst="line">
            <a:avLst/>
          </a:prstGeom>
          <a:ln w="9525">
            <a:solidFill>
              <a:srgbClr val="1E2833"/>
            </a:solidFill>
          </a:ln>
        </p:spPr>
      </p:cxnSp>
      <p:sp>
        <p:nvSpPr>
          <p:cNvPr id="24" name="TextBox 23"/>
          <p:cNvSpPr txBox="1"/>
          <p:nvPr/>
        </p:nvSpPr>
        <p:spPr>
          <a:xfrm>
            <a:off x="548640" y="5440680"/>
            <a:ext cx="6583680" cy="548640"/>
          </a:xfrm>
          <a:prstGeom prst="rect">
            <a:avLst/>
          </a:prstGeom>
          <a:noFill/>
        </p:spPr>
        <p:txBody>
          <a:bodyPr wrap="square" lIns="0" rIns="0" tIns="0" bIns="0" anchor="t">
            <a:noAutofit/>
          </a:bodyPr>
          <a:lstStyle/>
          <a:p>
            <a:pPr algn="l">
              <a:lnSpc>
                <a:spcPct val="105000"/>
              </a:lnSpc>
              <a:spcAft>
                <a:spcPts val="0"/>
              </a:spcAft>
            </a:pPr>
            <a:r>
              <a:rPr sz="1200" i="0" b="0">
                <a:solidFill>
                  <a:srgbClr val="647282"/>
                </a:solidFill>
                <a:latin typeface="Arial"/>
              </a:rPr>
              <a:t>Stage fixed at the first cart or checkout view, before any click. Shoppers an affiliate brought to the cart are excluded.</a:t>
            </a:r>
          </a:p>
        </p:txBody>
      </p:sp>
      <p:sp>
        <p:nvSpPr>
          <p:cNvPr id="25" name="Rectangle 24"/>
          <p:cNvSpPr/>
          <p:nvPr/>
        </p:nvSpPr>
        <p:spPr>
          <a:xfrm>
            <a:off x="7452360" y="1508760"/>
            <a:ext cx="4190695" cy="2148840"/>
          </a:xfrm>
          <a:prstGeom prst="rect">
            <a:avLst/>
          </a:prstGeom>
          <a:solidFill>
            <a:srgbClr val="F3F6F9"/>
          </a:solidFill>
          <a:ln>
            <a:noFill/>
          </a:ln>
        </p:spPr>
        <p:txBody>
          <a:bodyPr rtlCol="0" anchor="ctr"/>
          <a:lstStyle/>
          <a:p>
            <a:pPr algn="ctr"/>
          </a:p>
        </p:txBody>
      </p:sp>
      <p:sp>
        <p:nvSpPr>
          <p:cNvPr id="26" name="Oval 25"/>
          <p:cNvSpPr/>
          <p:nvPr/>
        </p:nvSpPr>
        <p:spPr>
          <a:xfrm>
            <a:off x="7726680" y="1810512"/>
            <a:ext cx="146304" cy="146304"/>
          </a:xfrm>
          <a:prstGeom prst="ellipse">
            <a:avLst/>
          </a:prstGeom>
          <a:solidFill>
            <a:srgbClr val="FF9438"/>
          </a:solidFill>
          <a:ln>
            <a:noFill/>
          </a:ln>
        </p:spPr>
        <p:txBody>
          <a:bodyPr rtlCol="0" anchor="ctr"/>
          <a:lstStyle/>
          <a:p>
            <a:pPr algn="ctr"/>
          </a:p>
        </p:txBody>
      </p:sp>
      <p:sp>
        <p:nvSpPr>
          <p:cNvPr id="27" name="TextBox 26"/>
          <p:cNvSpPr txBox="1"/>
          <p:nvPr/>
        </p:nvSpPr>
        <p:spPr>
          <a:xfrm>
            <a:off x="7955280" y="1755648"/>
            <a:ext cx="345917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56 shoppers who got a click</a:t>
            </a:r>
          </a:p>
        </p:txBody>
      </p:sp>
      <p:sp>
        <p:nvSpPr>
          <p:cNvPr id="28" name="TextBox 27"/>
          <p:cNvSpPr txBox="1"/>
          <p:nvPr/>
        </p:nvSpPr>
        <p:spPr>
          <a:xfrm>
            <a:off x="7726680" y="2075688"/>
            <a:ext cx="3642055" cy="685800"/>
          </a:xfrm>
          <a:prstGeom prst="rect">
            <a:avLst/>
          </a:prstGeom>
          <a:noFill/>
        </p:spPr>
        <p:txBody>
          <a:bodyPr wrap="square" lIns="0" rIns="0" tIns="0" bIns="0" anchor="t">
            <a:noAutofit/>
          </a:bodyPr>
          <a:lstStyle/>
          <a:p>
            <a:pPr algn="l">
              <a:lnSpc>
                <a:spcPct val="110000"/>
              </a:lnSpc>
              <a:spcAft>
                <a:spcPts val="0"/>
              </a:spcAft>
            </a:pPr>
            <a:r>
              <a:rPr sz="4000" i="0" b="1">
                <a:solidFill>
                  <a:srgbClr val="0B2A4A"/>
                </a:solidFill>
                <a:latin typeface="Arial"/>
              </a:rPr>
              <a:t>25 vs 25.7</a:t>
            </a:r>
          </a:p>
        </p:txBody>
      </p:sp>
      <p:sp>
        <p:nvSpPr>
          <p:cNvPr id="29" name="TextBox 28"/>
          <p:cNvSpPr txBox="1"/>
          <p:nvPr/>
        </p:nvSpPr>
        <p:spPr>
          <a:xfrm>
            <a:off x="7726680" y="278892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orders, vs expected without the click</a:t>
            </a:r>
          </a:p>
        </p:txBody>
      </p:sp>
      <p:sp>
        <p:nvSpPr>
          <p:cNvPr id="30" name="TextBox 29"/>
          <p:cNvSpPr txBox="1"/>
          <p:nvPr/>
        </p:nvSpPr>
        <p:spPr>
          <a:xfrm>
            <a:off x="7726680" y="3154680"/>
            <a:ext cx="3642055" cy="274320"/>
          </a:xfrm>
          <a:prstGeom prst="rect">
            <a:avLst/>
          </a:prstGeom>
          <a:noFill/>
        </p:spPr>
        <p:txBody>
          <a:bodyPr wrap="square" lIns="0" rIns="0" tIns="0" bIns="0" anchor="t">
            <a:noAutofit/>
          </a:bodyPr>
          <a:lstStyle/>
          <a:p>
            <a:pPr algn="l">
              <a:lnSpc>
                <a:spcPct val="110000"/>
              </a:lnSpc>
              <a:spcAft>
                <a:spcPts val="0"/>
              </a:spcAft>
            </a:pPr>
            <a:r>
              <a:rPr sz="1250" i="0" b="0">
                <a:solidFill>
                  <a:srgbClr val="647282"/>
                </a:solidFill>
                <a:latin typeface="Arial"/>
              </a:rPr>
              <a:t>At most ~31% incremental (95% upper bound)</a:t>
            </a:r>
          </a:p>
        </p:txBody>
      </p:sp>
      <p:sp>
        <p:nvSpPr>
          <p:cNvPr id="31" name="Rectangle 30"/>
          <p:cNvSpPr/>
          <p:nvPr/>
        </p:nvSpPr>
        <p:spPr>
          <a:xfrm>
            <a:off x="7452360" y="3840480"/>
            <a:ext cx="4190695" cy="2331720"/>
          </a:xfrm>
          <a:prstGeom prst="rect">
            <a:avLst/>
          </a:prstGeom>
          <a:solidFill>
            <a:srgbClr val="FFF1E5"/>
          </a:solidFill>
          <a:ln>
            <a:noFill/>
          </a:ln>
        </p:spPr>
        <p:txBody>
          <a:bodyPr rtlCol="0" anchor="ctr"/>
          <a:lstStyle/>
          <a:p>
            <a:pPr algn="ctr"/>
          </a:p>
        </p:txBody>
      </p:sp>
      <p:sp>
        <p:nvSpPr>
          <p:cNvPr id="32" name="TextBox 31"/>
          <p:cNvSpPr txBox="1"/>
          <p:nvPr/>
        </p:nvSpPr>
        <p:spPr>
          <a:xfrm>
            <a:off x="7726680" y="4041648"/>
            <a:ext cx="3642055" cy="256032"/>
          </a:xfrm>
          <a:prstGeom prst="rect">
            <a:avLst/>
          </a:prstGeom>
          <a:noFill/>
        </p:spPr>
        <p:txBody>
          <a:bodyPr wrap="square" lIns="0" rIns="0" tIns="0" bIns="0" anchor="t">
            <a:noAutofit/>
          </a:bodyPr>
          <a:lstStyle/>
          <a:p>
            <a:pPr algn="l">
              <a:lnSpc>
                <a:spcPct val="110000"/>
              </a:lnSpc>
              <a:spcAft>
                <a:spcPts val="0"/>
              </a:spcAft>
            </a:pPr>
            <a:r>
              <a:rPr sz="1200" i="0" b="1">
                <a:solidFill>
                  <a:srgbClr val="647282"/>
                </a:solidFill>
                <a:latin typeface="Arial"/>
              </a:rPr>
              <a:t>Commission on clicks fired at the cart</a:t>
            </a:r>
          </a:p>
        </p:txBody>
      </p:sp>
      <p:sp>
        <p:nvSpPr>
          <p:cNvPr id="33" name="TextBox 32"/>
          <p:cNvSpPr txBox="1"/>
          <p:nvPr/>
        </p:nvSpPr>
        <p:spPr>
          <a:xfrm>
            <a:off x="7726680" y="4343400"/>
            <a:ext cx="3642055" cy="640080"/>
          </a:xfrm>
          <a:prstGeom prst="rect">
            <a:avLst/>
          </a:prstGeom>
          <a:noFill/>
        </p:spPr>
        <p:txBody>
          <a:bodyPr wrap="square" lIns="0" rIns="0" tIns="0" bIns="0" anchor="t">
            <a:noAutofit/>
          </a:bodyPr>
          <a:lstStyle/>
          <a:p>
            <a:pPr algn="l">
              <a:lnSpc>
                <a:spcPct val="110000"/>
              </a:lnSpc>
              <a:spcAft>
                <a:spcPts val="0"/>
              </a:spcAft>
            </a:pPr>
            <a:r>
              <a:rPr sz="3600" i="0" b="1">
                <a:solidFill>
                  <a:srgbClr val="0B2A4A"/>
                </a:solidFill>
                <a:latin typeface="Arial"/>
              </a:rPr>
              <a:t>$22–111M</a:t>
            </a:r>
          </a:p>
        </p:txBody>
      </p:sp>
      <p:sp>
        <p:nvSpPr>
          <p:cNvPr id="34" name="TextBox 33"/>
          <p:cNvSpPr txBox="1"/>
          <p:nvPr/>
        </p:nvSpPr>
        <p:spPr>
          <a:xfrm>
            <a:off x="7726680" y="4983480"/>
            <a:ext cx="3642055" cy="274320"/>
          </a:xfrm>
          <a:prstGeom prst="rect">
            <a:avLst/>
          </a:prstGeom>
          <a:noFill/>
        </p:spPr>
        <p:txBody>
          <a:bodyPr wrap="square" lIns="0" rIns="0" tIns="0" bIns="0" anchor="t">
            <a:noAutofit/>
          </a:bodyPr>
          <a:lstStyle/>
          <a:p>
            <a:pPr algn="l">
              <a:lnSpc>
                <a:spcPct val="110000"/>
              </a:lnSpc>
              <a:spcAft>
                <a:spcPts val="0"/>
              </a:spcAft>
            </a:pPr>
            <a:r>
              <a:rPr sz="1400" i="0" b="1">
                <a:solidFill>
                  <a:srgbClr val="1E2833"/>
                </a:solidFill>
                <a:latin typeface="Arial"/>
              </a:rPr>
              <a:t>a year at Walmart (half its affiliate orders)</a:t>
            </a:r>
          </a:p>
        </p:txBody>
      </p:sp>
      <p:sp>
        <p:nvSpPr>
          <p:cNvPr id="35" name="TextBox 34"/>
          <p:cNvSpPr txBox="1"/>
          <p:nvPr/>
        </p:nvSpPr>
        <p:spPr>
          <a:xfrm>
            <a:off x="7726680" y="5349240"/>
            <a:ext cx="3642055" cy="731520"/>
          </a:xfrm>
          <a:prstGeom prst="rect">
            <a:avLst/>
          </a:prstGeom>
          <a:noFill/>
        </p:spPr>
        <p:txBody>
          <a:bodyPr wrap="square" lIns="0" rIns="0" tIns="0" bIns="0" anchor="t">
            <a:noAutofit/>
          </a:bodyPr>
          <a:lstStyle/>
          <a:p>
            <a:pPr algn="l">
              <a:lnSpc>
                <a:spcPct val="105000"/>
              </a:lnSpc>
              <a:spcAft>
                <a:spcPts val="0"/>
              </a:spcAft>
            </a:pPr>
            <a:r>
              <a:rPr sz="1250" i="0" b="0">
                <a:solidFill>
                  <a:srgbClr val="647282"/>
                </a:solidFill>
                <a:latin typeface="Arial"/>
              </a:rPr>
              <a:t>Saatva: $80K–1.05M a year for every 10% of affiliate orders hijacked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ATTRIBUTION HIJACKING · SAATVA</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The same patterns already appear at Saatva</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8</a:t>
            </a:r>
          </a:p>
        </p:txBody>
      </p:sp>
      <p:sp>
        <p:nvSpPr>
          <p:cNvPr id="8" name="Rectangle 7"/>
          <p:cNvSpPr/>
          <p:nvPr/>
        </p:nvSpPr>
        <p:spPr>
          <a:xfrm>
            <a:off x="548640" y="1508760"/>
            <a:ext cx="3515258" cy="4663440"/>
          </a:xfrm>
          <a:prstGeom prst="rect">
            <a:avLst/>
          </a:prstGeom>
          <a:solidFill>
            <a:srgbClr val="F3F6F9"/>
          </a:solidFill>
          <a:ln>
            <a:noFill/>
          </a:ln>
        </p:spPr>
        <p:txBody>
          <a:bodyPr rtlCol="0" anchor="ctr"/>
          <a:lstStyle/>
          <a:p>
            <a:pPr algn="ctr"/>
          </a:p>
        </p:txBody>
      </p:sp>
      <p:sp>
        <p:nvSpPr>
          <p:cNvPr id="9" name="Rounded Rectangle 8"/>
          <p:cNvSpPr/>
          <p:nvPr/>
        </p:nvSpPr>
        <p:spPr>
          <a:xfrm>
            <a:off x="822959" y="1755648"/>
            <a:ext cx="1645919" cy="310896"/>
          </a:xfrm>
          <a:prstGeom prst="roundRect">
            <a:avLst>
              <a:gd name="adj" fmla="val 50000"/>
            </a:avLst>
          </a:prstGeom>
          <a:solidFill>
            <a:srgbClr val="FF9438"/>
          </a:solidFill>
          <a:ln>
            <a:noFill/>
          </a:ln>
        </p:spPr>
        <p:txBody>
          <a:bodyPr rtlCol="0" anchor="ctr" wrap="square" lIns="73152" rIns="73152" tIns="18288" bIns="18288">
            <a:noAutofit/>
          </a:bodyPr>
          <a:lstStyle/>
          <a:p>
            <a:pPr algn="ctr">
              <a:lnSpc>
                <a:spcPct val="110000"/>
              </a:lnSpc>
              <a:spcAft>
                <a:spcPts val="0"/>
              </a:spcAft>
            </a:pPr>
            <a:r>
              <a:rPr sz="1200" i="0" b="1">
                <a:solidFill>
                  <a:srgbClr val="FFFFFF"/>
                </a:solidFill>
                <a:latin typeface="Arial"/>
              </a:rPr>
              <a:t>Cookie stuffing</a:t>
            </a:r>
          </a:p>
        </p:txBody>
      </p:sp>
      <p:sp>
        <p:nvSpPr>
          <p:cNvPr id="10" name="Rounded Rectangle 9"/>
          <p:cNvSpPr/>
          <p:nvPr/>
        </p:nvSpPr>
        <p:spPr>
          <a:xfrm>
            <a:off x="822959"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"New tab" browser extension</a:t>
            </a:r>
          </a:p>
        </p:txBody>
      </p:sp>
      <p:cxnSp>
        <p:nvCxnSpPr>
          <p:cNvPr id="11" name="Connector 10"/>
          <p:cNvCxnSpPr/>
          <p:nvPr/>
        </p:nvCxnSpPr>
        <p:spPr>
          <a:xfrm>
            <a:off x="2306269" y="2926080"/>
            <a:ext cx="0" cy="201168"/>
          </a:xfrm>
          <a:prstGeom prst="line">
            <a:avLst/>
          </a:prstGeom>
          <a:ln w="15875">
            <a:solidFill>
              <a:srgbClr val="647282"/>
            </a:solidFill>
            <a:tailEnd type="triangle" w="med" len="med"/>
          </a:ln>
        </p:spPr>
      </p:cxnSp>
      <p:sp>
        <p:nvSpPr>
          <p:cNvPr id="12" name="Rounded Rectangle 11"/>
          <p:cNvSpPr/>
          <p:nvPr/>
        </p:nvSpPr>
        <p:spPr>
          <a:xfrm>
            <a:off x="822959"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Partnerize click registered</a:t>
            </a:r>
          </a:p>
        </p:txBody>
      </p:sp>
      <p:cxnSp>
        <p:nvCxnSpPr>
          <p:cNvPr id="13" name="Connector 12"/>
          <p:cNvCxnSpPr/>
          <p:nvPr/>
        </p:nvCxnSpPr>
        <p:spPr>
          <a:xfrm>
            <a:off x="2306269" y="3712463"/>
            <a:ext cx="0" cy="201169"/>
          </a:xfrm>
          <a:prstGeom prst="line">
            <a:avLst/>
          </a:prstGeom>
          <a:ln w="15875">
            <a:solidFill>
              <a:srgbClr val="647282"/>
            </a:solidFill>
            <a:tailEnd type="triangle" w="med" len="med"/>
          </a:ln>
        </p:spPr>
      </p:cxnSp>
      <p:sp>
        <p:nvSpPr>
          <p:cNvPr id="14" name="Rounded Rectangle 13"/>
          <p:cNvSpPr/>
          <p:nvPr/>
        </p:nvSpPr>
        <p:spPr>
          <a:xfrm>
            <a:off x="822959" y="3950208"/>
            <a:ext cx="2966618" cy="512064"/>
          </a:xfrm>
          <a:prstGeom prst="roundRect">
            <a:avLst>
              <a:gd name="adj" fmla="val 15000"/>
            </a:avLst>
          </a:prstGeom>
          <a:solidFill>
            <a:srgbClr val="FFF1E5"/>
          </a:solidFill>
          <a:ln w="15875">
            <a:solidFill>
              <a:srgbClr val="FF9438"/>
            </a:solidFill>
          </a:ln>
        </p:spPr>
        <p:txBody>
          <a:bodyPr rtlCol="0" anchor="ctr" wrap="square" lIns="109728" rIns="109728" tIns="18288" bIns="18288">
            <a:noAutofit/>
          </a:bodyPr>
          <a:lstStyle/>
          <a:p>
            <a:pPr algn="ctr">
              <a:lnSpc>
                <a:spcPct val="110000"/>
              </a:lnSpc>
              <a:spcAft>
                <a:spcPts val="0"/>
              </a:spcAft>
            </a:pPr>
            <a:r>
              <a:rPr sz="1300" i="0" b="1">
                <a:solidFill>
                  <a:srgbClr val="C9620E"/>
                </a:solidFill>
                <a:latin typeface="Arial"/>
              </a:rPr>
              <a:t>saatva.com never loads</a:t>
            </a:r>
          </a:p>
        </p:txBody>
      </p:sp>
      <p:sp>
        <p:nvSpPr>
          <p:cNvPr id="15" name="TextBox 14"/>
          <p:cNvSpPr txBox="1"/>
          <p:nvPr/>
        </p:nvSpPr>
        <p:spPr>
          <a:xfrm>
            <a:off x="822959"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A commission without a visit</a:t>
            </a:r>
          </a:p>
        </p:txBody>
      </p:sp>
      <p:sp>
        <p:nvSpPr>
          <p:cNvPr id="16" name="TextBox 15"/>
          <p:cNvSpPr txBox="1"/>
          <p:nvPr/>
        </p:nvSpPr>
        <p:spPr>
          <a:xfrm>
            <a:off x="822959"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Reconcile clicks with landings</a:t>
            </a:r>
          </a:p>
        </p:txBody>
      </p:sp>
      <p:sp>
        <p:nvSpPr>
          <p:cNvPr id="17" name="Rectangle 16"/>
          <p:cNvSpPr/>
          <p:nvPr/>
        </p:nvSpPr>
        <p:spPr>
          <a:xfrm>
            <a:off x="4338218" y="1508760"/>
            <a:ext cx="3515258" cy="4663440"/>
          </a:xfrm>
          <a:prstGeom prst="rect">
            <a:avLst/>
          </a:prstGeom>
          <a:solidFill>
            <a:srgbClr val="F3F6F9"/>
          </a:solidFill>
          <a:ln>
            <a:noFill/>
          </a:ln>
        </p:spPr>
        <p:txBody>
          <a:bodyPr rtlCol="0" anchor="ctr"/>
          <a:lstStyle/>
          <a:p>
            <a:pPr algn="ctr"/>
          </a:p>
        </p:txBody>
      </p:sp>
      <p:sp>
        <p:nvSpPr>
          <p:cNvPr id="18" name="Rounded Rectangle 17"/>
          <p:cNvSpPr/>
          <p:nvPr/>
        </p:nvSpPr>
        <p:spPr>
          <a:xfrm>
            <a:off x="4612538" y="1755648"/>
            <a:ext cx="2350008" cy="310896"/>
          </a:xfrm>
          <a:prstGeom prst="roundRect">
            <a:avLst>
              <a:gd name="adj" fmla="val 50000"/>
            </a:avLst>
          </a:prstGeom>
          <a:solidFill>
            <a:srgbClr val="FFF1E5"/>
          </a:solidFill>
          <a:ln>
            <a:noFill/>
          </a:ln>
        </p:spPr>
        <p:txBody>
          <a:bodyPr rtlCol="0" anchor="ctr" wrap="square" lIns="73152" rIns="73152" tIns="18288" bIns="18288">
            <a:noAutofit/>
          </a:bodyPr>
          <a:lstStyle/>
          <a:p>
            <a:pPr algn="ctr">
              <a:lnSpc>
                <a:spcPct val="110000"/>
              </a:lnSpc>
              <a:spcAft>
                <a:spcPts val="0"/>
              </a:spcAft>
            </a:pPr>
            <a:r>
              <a:rPr sz="1200" i="0" b="1">
                <a:solidFill>
                  <a:srgbClr val="C9620E"/>
                </a:solidFill>
                <a:latin typeface="Arial"/>
              </a:rPr>
              <a:t>Undeclared paid search</a:t>
            </a:r>
          </a:p>
        </p:txBody>
      </p:sp>
      <p:sp>
        <p:nvSpPr>
          <p:cNvPr id="19" name="Rounded Rectangle 18"/>
          <p:cNvSpPr/>
          <p:nvPr/>
        </p:nvSpPr>
        <p:spPr>
          <a:xfrm>
            <a:off x="4612538"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Google ad (gad_source=1)</a:t>
            </a:r>
          </a:p>
        </p:txBody>
      </p:sp>
      <p:cxnSp>
        <p:nvCxnSpPr>
          <p:cNvPr id="20" name="Connector 19"/>
          <p:cNvCxnSpPr/>
          <p:nvPr/>
        </p:nvCxnSpPr>
        <p:spPr>
          <a:xfrm>
            <a:off x="6095847" y="2926080"/>
            <a:ext cx="0" cy="201168"/>
          </a:xfrm>
          <a:prstGeom prst="line">
            <a:avLst/>
          </a:prstGeom>
          <a:ln w="15875">
            <a:solidFill>
              <a:srgbClr val="647282"/>
            </a:solidFill>
            <a:tailEnd type="triangle" w="med" len="med"/>
          </a:ln>
        </p:spPr>
      </p:cxnSp>
      <p:sp>
        <p:nvSpPr>
          <p:cNvPr id="21" name="Rounded Rectangle 20"/>
          <p:cNvSpPr/>
          <p:nvPr/>
        </p:nvSpPr>
        <p:spPr>
          <a:xfrm>
            <a:off x="4612538"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brandxemail, listed as "email"</a:t>
            </a:r>
          </a:p>
        </p:txBody>
      </p:sp>
      <p:cxnSp>
        <p:nvCxnSpPr>
          <p:cNvPr id="22" name="Connector 21"/>
          <p:cNvCxnSpPr/>
          <p:nvPr/>
        </p:nvCxnSpPr>
        <p:spPr>
          <a:xfrm>
            <a:off x="6095847" y="3712463"/>
            <a:ext cx="0" cy="201169"/>
          </a:xfrm>
          <a:prstGeom prst="line">
            <a:avLst/>
          </a:prstGeom>
          <a:ln w="15875">
            <a:solidFill>
              <a:srgbClr val="647282"/>
            </a:solidFill>
            <a:tailEnd type="triangle" w="med" len="med"/>
          </a:ln>
        </p:spPr>
      </p:cxnSp>
      <p:sp>
        <p:nvSpPr>
          <p:cNvPr id="23" name="Rounded Rectangle 22"/>
          <p:cNvSpPr/>
          <p:nvPr/>
        </p:nvSpPr>
        <p:spPr>
          <a:xfrm>
            <a:off x="4612538"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saatva.com/sale + auto-coupon</a:t>
            </a:r>
          </a:p>
        </p:txBody>
      </p:sp>
      <p:sp>
        <p:nvSpPr>
          <p:cNvPr id="24" name="TextBox 23"/>
          <p:cNvSpPr txBox="1"/>
          <p:nvPr/>
        </p:nvSpPr>
        <p:spPr>
          <a:xfrm>
            <a:off x="4612538"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Paid search under an email listing</a:t>
            </a:r>
          </a:p>
        </p:txBody>
      </p:sp>
      <p:sp>
        <p:nvSpPr>
          <p:cNvPr id="25" name="TextBox 24"/>
          <p:cNvSpPr txBox="1"/>
          <p:nvPr/>
        </p:nvSpPr>
        <p:spPr>
          <a:xfrm>
            <a:off x="4612538"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Check it against the PPC terms</a:t>
            </a:r>
          </a:p>
        </p:txBody>
      </p:sp>
      <p:sp>
        <p:nvSpPr>
          <p:cNvPr id="26" name="Rectangle 25"/>
          <p:cNvSpPr/>
          <p:nvPr/>
        </p:nvSpPr>
        <p:spPr>
          <a:xfrm>
            <a:off x="8127796" y="1508760"/>
            <a:ext cx="3515258" cy="4663440"/>
          </a:xfrm>
          <a:prstGeom prst="rect">
            <a:avLst/>
          </a:prstGeom>
          <a:solidFill>
            <a:srgbClr val="F3F6F9"/>
          </a:solidFill>
          <a:ln>
            <a:noFill/>
          </a:ln>
        </p:spPr>
        <p:txBody>
          <a:bodyPr rtlCol="0" anchor="ctr"/>
          <a:lstStyle/>
          <a:p>
            <a:pPr algn="ctr"/>
          </a:p>
        </p:txBody>
      </p:sp>
      <p:sp>
        <p:nvSpPr>
          <p:cNvPr id="27" name="Rounded Rectangle 26"/>
          <p:cNvSpPr/>
          <p:nvPr/>
        </p:nvSpPr>
        <p:spPr>
          <a:xfrm>
            <a:off x="8402116" y="1755648"/>
            <a:ext cx="2148840" cy="310896"/>
          </a:xfrm>
          <a:prstGeom prst="roundRect">
            <a:avLst>
              <a:gd name="adj" fmla="val 50000"/>
            </a:avLst>
          </a:prstGeom>
          <a:solidFill>
            <a:srgbClr val="EAF2FE"/>
          </a:solidFill>
          <a:ln>
            <a:noFill/>
          </a:ln>
        </p:spPr>
        <p:txBody>
          <a:bodyPr rtlCol="0" anchor="ctr" wrap="square" lIns="73152" rIns="73152" tIns="18288" bIns="18288">
            <a:noAutofit/>
          </a:bodyPr>
          <a:lstStyle/>
          <a:p>
            <a:pPr algn="ctr">
              <a:lnSpc>
                <a:spcPct val="110000"/>
              </a:lnSpc>
              <a:spcAft>
                <a:spcPts val="0"/>
              </a:spcAft>
            </a:pPr>
            <a:r>
              <a:rPr sz="1200" i="0" b="1">
                <a:solidFill>
                  <a:srgbClr val="006BA1"/>
                </a:solidFill>
                <a:latin typeface="Arial"/>
              </a:rPr>
              <a:t>Review before acting</a:t>
            </a:r>
          </a:p>
        </p:txBody>
      </p:sp>
      <p:sp>
        <p:nvSpPr>
          <p:cNvPr id="28" name="Rounded Rectangle 27"/>
          <p:cNvSpPr/>
          <p:nvPr/>
        </p:nvSpPr>
        <p:spPr>
          <a:xfrm>
            <a:off x="8402116" y="2377440"/>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Search ad → TrafficPoint listicle</a:t>
            </a:r>
          </a:p>
        </p:txBody>
      </p:sp>
      <p:cxnSp>
        <p:nvCxnSpPr>
          <p:cNvPr id="29" name="Connector 28"/>
          <p:cNvCxnSpPr/>
          <p:nvPr/>
        </p:nvCxnSpPr>
        <p:spPr>
          <a:xfrm>
            <a:off x="9885426" y="2926080"/>
            <a:ext cx="0" cy="201168"/>
          </a:xfrm>
          <a:prstGeom prst="line">
            <a:avLst/>
          </a:prstGeom>
          <a:ln w="15875">
            <a:solidFill>
              <a:srgbClr val="647282"/>
            </a:solidFill>
            <a:tailEnd type="triangle" w="med" len="med"/>
          </a:ln>
        </p:spPr>
      </p:cxnSp>
      <p:sp>
        <p:nvSpPr>
          <p:cNvPr id="30" name="Rounded Rectangle 29"/>
          <p:cNvSpPr/>
          <p:nvPr/>
        </p:nvSpPr>
        <p:spPr>
          <a:xfrm>
            <a:off x="8402116" y="3163824"/>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0">
                <a:solidFill>
                  <a:srgbClr val="1E2833"/>
                </a:solidFill>
                <a:latin typeface="Arial"/>
              </a:rPr>
              <a:t>6 brands opened in ~1 minute</a:t>
            </a:r>
          </a:p>
        </p:txBody>
      </p:sp>
      <p:cxnSp>
        <p:nvCxnSpPr>
          <p:cNvPr id="31" name="Connector 30"/>
          <p:cNvCxnSpPr/>
          <p:nvPr/>
        </p:nvCxnSpPr>
        <p:spPr>
          <a:xfrm>
            <a:off x="9885426" y="3712463"/>
            <a:ext cx="0" cy="201169"/>
          </a:xfrm>
          <a:prstGeom prst="line">
            <a:avLst/>
          </a:prstGeom>
          <a:ln w="15875">
            <a:solidFill>
              <a:srgbClr val="647282"/>
            </a:solidFill>
            <a:tailEnd type="triangle" w="med" len="med"/>
          </a:ln>
        </p:spPr>
      </p:cxnSp>
      <p:sp>
        <p:nvSpPr>
          <p:cNvPr id="32" name="Rounded Rectangle 31"/>
          <p:cNvSpPr/>
          <p:nvPr/>
        </p:nvSpPr>
        <p:spPr>
          <a:xfrm>
            <a:off x="8402116" y="3950208"/>
            <a:ext cx="2966618" cy="512064"/>
          </a:xfrm>
          <a:prstGeom prst="roundRect">
            <a:avLst>
              <a:gd name="adj" fmla="val 15000"/>
            </a:avLst>
          </a:prstGeom>
          <a:solidFill>
            <a:srgbClr val="FFFFFF"/>
          </a:solidFill>
          <a:ln w="9525">
            <a:solidFill>
              <a:srgbClr val="E3E8EE"/>
            </a:solidFill>
          </a:ln>
        </p:spPr>
        <p:txBody>
          <a:bodyPr rtlCol="0" anchor="ctr" wrap="square" lIns="109728" rIns="109728" tIns="18288" bIns="18288">
            <a:noAutofit/>
          </a:bodyPr>
          <a:lstStyle/>
          <a:p>
            <a:pPr algn="ctr">
              <a:lnSpc>
                <a:spcPct val="110000"/>
              </a:lnSpc>
              <a:spcAft>
                <a:spcPts val="0"/>
              </a:spcAft>
            </a:pPr>
            <a:r>
              <a:rPr sz="1300" i="0" b="1">
                <a:solidFill>
                  <a:srgbClr val="1E2833"/>
                </a:solidFill>
                <a:latin typeface="Arial"/>
              </a:rPr>
              <a:t>Back 9 min later via a Shopping ad</a:t>
            </a:r>
          </a:p>
        </p:txBody>
      </p:sp>
      <p:sp>
        <p:nvSpPr>
          <p:cNvPr id="33" name="TextBox 32"/>
          <p:cNvSpPr txBox="1"/>
          <p:nvPr/>
        </p:nvSpPr>
        <p:spPr>
          <a:xfrm>
            <a:off x="8402116" y="4892040"/>
            <a:ext cx="2966618" cy="566928"/>
          </a:xfrm>
          <a:prstGeom prst="rect">
            <a:avLst/>
          </a:prstGeom>
          <a:noFill/>
        </p:spPr>
        <p:txBody>
          <a:bodyPr wrap="square" lIns="0" rIns="0" tIns="0" bIns="0" anchor="t">
            <a:noAutofit/>
          </a:bodyPr>
          <a:lstStyle/>
          <a:p>
            <a:pPr algn="l">
              <a:lnSpc>
                <a:spcPct val="105000"/>
              </a:lnSpc>
              <a:spcAft>
                <a:spcPts val="0"/>
              </a:spcAft>
            </a:pPr>
            <a:r>
              <a:rPr sz="1500" i="0" b="1">
                <a:solidFill>
                  <a:srgbClr val="0B2A4A"/>
                </a:solidFill>
                <a:latin typeface="Arial"/>
              </a:rPr>
              <a:t>Real browsing, but Saatva may pay twice</a:t>
            </a:r>
          </a:p>
        </p:txBody>
      </p:sp>
      <p:sp>
        <p:nvSpPr>
          <p:cNvPr id="34" name="TextBox 33"/>
          <p:cNvSpPr txBox="1"/>
          <p:nvPr/>
        </p:nvSpPr>
        <p:spPr>
          <a:xfrm>
            <a:off x="8402116" y="5532120"/>
            <a:ext cx="2966618" cy="457200"/>
          </a:xfrm>
          <a:prstGeom prst="rect">
            <a:avLst/>
          </a:prstGeom>
          <a:noFill/>
        </p:spPr>
        <p:txBody>
          <a:bodyPr wrap="square" lIns="0" rIns="0" tIns="0" bIns="0" anchor="t">
            <a:noAutofit/>
          </a:bodyPr>
          <a:lstStyle/>
          <a:p>
            <a:pPr algn="l">
              <a:lnSpc>
                <a:spcPct val="110000"/>
              </a:lnSpc>
              <a:spcAft>
                <a:spcPts val="0"/>
              </a:spcAft>
            </a:pPr>
            <a:r>
              <a:rPr sz="1300" i="0" b="0">
                <a:solidFill>
                  <a:srgbClr val="1E2833"/>
                </a:solidFill>
                <a:latin typeface="Arial"/>
              </a:rPr>
              <a:t>→  De-duplicate with paid search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RECOMMENDATIONS</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Pay for the assist, not the last touch</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9</a:t>
            </a:r>
          </a:p>
        </p:txBody>
      </p:sp>
      <p:sp>
        <p:nvSpPr>
          <p:cNvPr id="8" name="Oval 7"/>
          <p:cNvSpPr/>
          <p:nvPr/>
        </p:nvSpPr>
        <p:spPr>
          <a:xfrm>
            <a:off x="548640" y="1645920"/>
            <a:ext cx="182880" cy="182880"/>
          </a:xfrm>
          <a:prstGeom prst="ellipse">
            <a:avLst/>
          </a:prstGeom>
          <a:solidFill>
            <a:srgbClr val="B5793F"/>
          </a:solidFill>
          <a:ln>
            <a:noFill/>
          </a:ln>
        </p:spPr>
        <p:txBody>
          <a:bodyPr rtlCol="0" anchor="ctr"/>
          <a:lstStyle/>
          <a:p>
            <a:pPr algn="ctr"/>
          </a:p>
        </p:txBody>
      </p:sp>
      <p:sp>
        <p:nvSpPr>
          <p:cNvPr id="9" name="TextBox 8"/>
          <p:cNvSpPr txBox="1"/>
          <p:nvPr/>
        </p:nvSpPr>
        <p:spPr>
          <a:xfrm>
            <a:off x="868680"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Grow the program</a:t>
            </a:r>
          </a:p>
        </p:txBody>
      </p:sp>
      <p:sp>
        <p:nvSpPr>
          <p:cNvPr id="10" name="Oval 9"/>
          <p:cNvSpPr/>
          <p:nvPr/>
        </p:nvSpPr>
        <p:spPr>
          <a:xfrm>
            <a:off x="548640" y="2240280"/>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11" name="TextBox 10"/>
          <p:cNvSpPr txBox="1"/>
          <p:nvPr/>
        </p:nvSpPr>
        <p:spPr>
          <a:xfrm>
            <a:off x="1143000"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Recruit review and HSA/FSA partners</a:t>
            </a:r>
          </a:p>
        </p:txBody>
      </p:sp>
      <p:sp>
        <p:nvSpPr>
          <p:cNvPr id="12" name="TextBox 11"/>
          <p:cNvSpPr txBox="1"/>
          <p:nvPr/>
        </p:nvSpPr>
        <p:spPr>
          <a:xfrm>
            <a:off x="1143000"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Mattress Clarity, buyersguide.org and Truemed send rivals traffic; none seen at Saatva</a:t>
            </a:r>
          </a:p>
        </p:txBody>
      </p:sp>
      <p:sp>
        <p:nvSpPr>
          <p:cNvPr id="13" name="Oval 12"/>
          <p:cNvSpPr/>
          <p:nvPr/>
        </p:nvSpPr>
        <p:spPr>
          <a:xfrm>
            <a:off x="548640" y="3273552"/>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14" name="TextBox 13"/>
          <p:cNvSpPr txBox="1"/>
          <p:nvPr/>
        </p:nvSpPr>
        <p:spPr>
          <a:xfrm>
            <a:off x="1143000"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Give each publisher its own coupon code</a:t>
            </a:r>
          </a:p>
        </p:txBody>
      </p:sp>
      <p:sp>
        <p:nvSpPr>
          <p:cNvPr id="15" name="TextBox 14"/>
          <p:cNvSpPr txBox="1"/>
          <p:nvPr/>
        </p:nvSpPr>
        <p:spPr>
          <a:xfrm>
            <a:off x="1143000"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One code is shared today, so a sale can't be traced to its partner</a:t>
            </a:r>
          </a:p>
        </p:txBody>
      </p:sp>
      <p:sp>
        <p:nvSpPr>
          <p:cNvPr id="16" name="Oval 15"/>
          <p:cNvSpPr/>
          <p:nvPr/>
        </p:nvSpPr>
        <p:spPr>
          <a:xfrm>
            <a:off x="548640" y="4306824"/>
            <a:ext cx="384048" cy="384048"/>
          </a:xfrm>
          <a:prstGeom prst="ellipse">
            <a:avLst/>
          </a:prstGeom>
          <a:solidFill>
            <a:srgbClr val="B5793F"/>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17" name="TextBox 16"/>
          <p:cNvSpPr txBox="1"/>
          <p:nvPr/>
        </p:nvSpPr>
        <p:spPr>
          <a:xfrm>
            <a:off x="1143000"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Tier commissions by the value of the click</a:t>
            </a:r>
          </a:p>
        </p:txBody>
      </p:sp>
      <p:sp>
        <p:nvSpPr>
          <p:cNvPr id="18" name="TextBox 17"/>
          <p:cNvSpPr txBox="1"/>
          <p:nvPr/>
        </p:nvSpPr>
        <p:spPr>
          <a:xfrm>
            <a:off x="1143000"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Pay less for coupon clicks and for clicks after a cart exists</a:t>
            </a:r>
          </a:p>
        </p:txBody>
      </p:sp>
      <p:sp>
        <p:nvSpPr>
          <p:cNvPr id="19" name="Oval 18"/>
          <p:cNvSpPr/>
          <p:nvPr/>
        </p:nvSpPr>
        <p:spPr>
          <a:xfrm>
            <a:off x="6324447" y="1645920"/>
            <a:ext cx="182880" cy="182880"/>
          </a:xfrm>
          <a:prstGeom prst="ellipse">
            <a:avLst/>
          </a:prstGeom>
          <a:solidFill>
            <a:srgbClr val="FF9438"/>
          </a:solidFill>
          <a:ln>
            <a:noFill/>
          </a:ln>
        </p:spPr>
        <p:txBody>
          <a:bodyPr rtlCol="0" anchor="ctr"/>
          <a:lstStyle/>
          <a:p>
            <a:pPr algn="ctr"/>
          </a:p>
        </p:txBody>
      </p:sp>
      <p:sp>
        <p:nvSpPr>
          <p:cNvPr id="20" name="TextBox 19"/>
          <p:cNvSpPr txBox="1"/>
          <p:nvPr/>
        </p:nvSpPr>
        <p:spPr>
          <a:xfrm>
            <a:off x="6644487" y="1554480"/>
            <a:ext cx="4952847" cy="347472"/>
          </a:xfrm>
          <a:prstGeom prst="rect">
            <a:avLst/>
          </a:prstGeom>
          <a:noFill/>
        </p:spPr>
        <p:txBody>
          <a:bodyPr wrap="square" lIns="0" rIns="0" tIns="0" bIns="0" anchor="t">
            <a:noAutofit/>
          </a:bodyPr>
          <a:lstStyle/>
          <a:p>
            <a:pPr algn="l">
              <a:lnSpc>
                <a:spcPct val="110000"/>
              </a:lnSpc>
              <a:spcAft>
                <a:spcPts val="0"/>
              </a:spcAft>
            </a:pPr>
            <a:r>
              <a:rPr sz="1900" i="0" b="1">
                <a:solidFill>
                  <a:srgbClr val="0B2A4A"/>
                </a:solidFill>
                <a:latin typeface="Arial"/>
              </a:rPr>
              <a:t>Stop paying for taken credit</a:t>
            </a:r>
          </a:p>
        </p:txBody>
      </p:sp>
      <p:sp>
        <p:nvSpPr>
          <p:cNvPr id="21" name="Oval 20"/>
          <p:cNvSpPr/>
          <p:nvPr/>
        </p:nvSpPr>
        <p:spPr>
          <a:xfrm>
            <a:off x="6324447" y="2240280"/>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1</a:t>
            </a:r>
          </a:p>
        </p:txBody>
      </p:sp>
      <p:sp>
        <p:nvSpPr>
          <p:cNvPr id="22" name="TextBox 21"/>
          <p:cNvSpPr txBox="1"/>
          <p:nvPr/>
        </p:nvSpPr>
        <p:spPr>
          <a:xfrm>
            <a:off x="6918807" y="2231136"/>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Reconcile clicks with saatva.com landings</a:t>
            </a:r>
          </a:p>
        </p:txBody>
      </p:sp>
      <p:sp>
        <p:nvSpPr>
          <p:cNvPr id="23" name="TextBox 22"/>
          <p:cNvSpPr txBox="1"/>
          <p:nvPr/>
        </p:nvSpPr>
        <p:spPr>
          <a:xfrm>
            <a:off x="6918807" y="2578608"/>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A click that never lands is proof, with no threshold to tune</a:t>
            </a:r>
          </a:p>
        </p:txBody>
      </p:sp>
      <p:sp>
        <p:nvSpPr>
          <p:cNvPr id="24" name="Oval 23"/>
          <p:cNvSpPr/>
          <p:nvPr/>
        </p:nvSpPr>
        <p:spPr>
          <a:xfrm>
            <a:off x="6324447" y="3273552"/>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2</a:t>
            </a:r>
          </a:p>
        </p:txBody>
      </p:sp>
      <p:sp>
        <p:nvSpPr>
          <p:cNvPr id="25" name="TextBox 24"/>
          <p:cNvSpPr txBox="1"/>
          <p:nvPr/>
        </p:nvSpPr>
        <p:spPr>
          <a:xfrm>
            <a:off x="6918807" y="3264408"/>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No overwrite once a cart exists</a:t>
            </a:r>
          </a:p>
        </p:txBody>
      </p:sp>
      <p:sp>
        <p:nvSpPr>
          <p:cNvPr id="26" name="TextBox 25"/>
          <p:cNvSpPr txBox="1"/>
          <p:nvPr/>
        </p:nvSpPr>
        <p:spPr>
          <a:xfrm>
            <a:off x="6918807" y="3611880"/>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Plus extension stand-down and a PPC and trademark policy</a:t>
            </a:r>
          </a:p>
        </p:txBody>
      </p:sp>
      <p:sp>
        <p:nvSpPr>
          <p:cNvPr id="27" name="Oval 26"/>
          <p:cNvSpPr/>
          <p:nvPr/>
        </p:nvSpPr>
        <p:spPr>
          <a:xfrm>
            <a:off x="6324447" y="4306824"/>
            <a:ext cx="384048" cy="384048"/>
          </a:xfrm>
          <a:prstGeom prst="ellipse">
            <a:avLst/>
          </a:prstGeom>
          <a:solidFill>
            <a:srgbClr val="FF9438"/>
          </a:solidFill>
          <a:ln>
            <a:noFill/>
          </a:ln>
        </p:spPr>
        <p:txBody>
          <a:bodyPr rtlCol="0" anchor="ctr" wrap="square" lIns="0" rIns="0" tIns="18288" bIns="18288">
            <a:noAutofit/>
          </a:bodyPr>
          <a:lstStyle/>
          <a:p>
            <a:pPr algn="ctr">
              <a:lnSpc>
                <a:spcPct val="110000"/>
              </a:lnSpc>
              <a:spcAft>
                <a:spcPts val="0"/>
              </a:spcAft>
            </a:pPr>
            <a:r>
              <a:rPr sz="1400" i="0" b="1">
                <a:solidFill>
                  <a:srgbClr val="FFFFFF"/>
                </a:solidFill>
                <a:latin typeface="Arial"/>
              </a:rPr>
              <a:t>3</a:t>
            </a:r>
          </a:p>
        </p:txBody>
      </p:sp>
      <p:sp>
        <p:nvSpPr>
          <p:cNvPr id="28" name="TextBox 27"/>
          <p:cNvSpPr txBox="1"/>
          <p:nvPr/>
        </p:nvSpPr>
        <p:spPr>
          <a:xfrm>
            <a:off x="6918807" y="4297680"/>
            <a:ext cx="4678527" cy="292608"/>
          </a:xfrm>
          <a:prstGeom prst="rect">
            <a:avLst/>
          </a:prstGeom>
          <a:noFill/>
        </p:spPr>
        <p:txBody>
          <a:bodyPr wrap="square" lIns="0" rIns="0" tIns="0" bIns="0" anchor="t">
            <a:noAutofit/>
          </a:bodyPr>
          <a:lstStyle/>
          <a:p>
            <a:pPr algn="l">
              <a:lnSpc>
                <a:spcPct val="110000"/>
              </a:lnSpc>
              <a:spcAft>
                <a:spcPts val="0"/>
              </a:spcAft>
            </a:pPr>
            <a:r>
              <a:rPr sz="1600" i="0" b="1">
                <a:solidFill>
                  <a:srgbClr val="1E2833"/>
                </a:solidFill>
                <a:latin typeface="Arial"/>
              </a:rPr>
              <a:t>Monitor six indicators per publisher</a:t>
            </a:r>
          </a:p>
        </p:txBody>
      </p:sp>
      <p:sp>
        <p:nvSpPr>
          <p:cNvPr id="29" name="TextBox 28"/>
          <p:cNvSpPr txBox="1"/>
          <p:nvPr/>
        </p:nvSpPr>
        <p:spPr>
          <a:xfrm>
            <a:off x="6918807" y="4645152"/>
            <a:ext cx="4678527" cy="502920"/>
          </a:xfrm>
          <a:prstGeom prst="rect">
            <a:avLst/>
          </a:prstGeom>
          <a:noFill/>
        </p:spPr>
        <p:txBody>
          <a:bodyPr wrap="square" lIns="0" rIns="0" tIns="0" bIns="0" anchor="t">
            <a:noAutofit/>
          </a:bodyPr>
          <a:lstStyle/>
          <a:p>
            <a:pPr algn="l">
              <a:lnSpc>
                <a:spcPct val="105000"/>
              </a:lnSpc>
              <a:spcAft>
                <a:spcPts val="0"/>
              </a:spcAft>
            </a:pPr>
            <a:r>
              <a:rPr sz="1300" i="0" b="0">
                <a:solidFill>
                  <a:srgbClr val="647282"/>
                </a:solidFill>
                <a:latin typeface="Arial"/>
              </a:rPr>
              <a:t>Hold payouts on flagged orders; validate on reversals</a:t>
            </a:r>
          </a:p>
        </p:txBody>
      </p:sp>
      <p:sp>
        <p:nvSpPr>
          <p:cNvPr id="30" name="Rectangle 29"/>
          <p:cNvSpPr/>
          <p:nvPr/>
        </p:nvSpPr>
        <p:spPr>
          <a:xfrm>
            <a:off x="548640" y="5468112"/>
            <a:ext cx="11094415" cy="621792"/>
          </a:xfrm>
          <a:prstGeom prst="rect">
            <a:avLst/>
          </a:prstGeom>
          <a:solidFill>
            <a:srgbClr val="0B2A4A"/>
          </a:solidFill>
          <a:ln>
            <a:noFill/>
          </a:ln>
        </p:spPr>
        <p:txBody>
          <a:bodyPr rtlCol="0" anchor="ctr" wrap="square" lIns="274320" rIns="274320" tIns="18288" bIns="18288">
            <a:noAutofit/>
          </a:bodyPr>
          <a:lstStyle/>
          <a:p>
            <a:pPr algn="l">
              <a:lnSpc>
                <a:spcPct val="110000"/>
              </a:lnSpc>
              <a:spcAft>
                <a:spcPts val="0"/>
              </a:spcAft>
            </a:pPr>
            <a:r>
              <a:rPr sz="1500" i="0" b="1">
                <a:solidFill>
                  <a:srgbClr val="FF9438"/>
                </a:solidFill>
                <a:latin typeface="Arial"/>
              </a:rPr>
              <a:t>Next:</a:t>
            </a:r>
            <a:r>
              <a:rPr sz="1500" i="0" b="0">
                <a:solidFill>
                  <a:srgbClr val="FFFFFF"/>
                </a:solidFill>
                <a:latin typeface="Arial"/>
              </a:rPr>
              <a:t> run the same pipeline on 90 days of data and on Saatva's Partnerize logs, to size the impact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Results by brand</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10</a:t>
            </a:r>
          </a:p>
        </p:txBody>
      </p:sp>
      <p:graphicFrame>
        <p:nvGraphicFramePr>
          <p:cNvPr id="8" name="Table 7"/>
          <p:cNvGraphicFramePr>
            <a:graphicFrameLocks noGrp="1"/>
          </p:cNvGraphicFramePr>
          <p:nvPr/>
        </p:nvGraphicFramePr>
        <p:xfrm>
          <a:off x="548640" y="1554480"/>
          <a:ext cx="11091671" cy="2606040"/>
        </p:xfrm>
        <a:graphic>
          <a:graphicData uri="http://schemas.openxmlformats.org/drawingml/2006/table">
            <a:tbl>
              <a:tblPr firstRow="0" bandRow="0">
                <a:tableStyleId>{2D5ABB26-0587-4C30-8999-92F81FD0307C}</a:tableStyleId>
              </a:tblPr>
              <a:tblGrid>
                <a:gridCol w="1234440"/>
                <a:gridCol w="1051560"/>
                <a:gridCol w="960120"/>
                <a:gridCol w="1097280"/>
                <a:gridCol w="1097280"/>
                <a:gridCol w="1234440"/>
                <a:gridCol w="1371600"/>
                <a:gridCol w="1188720"/>
                <a:gridCol w="1856231"/>
              </a:tblGrid>
              <a:tr h="548640">
                <a:tc>
                  <a:txBody>
                    <a:bodyPr/>
                    <a:lstStyle/>
                    <a:p>
                      <a:pPr algn="l">
                        <a:lnSpc>
                          <a:spcPct val="100000"/>
                        </a:lnSpc>
                        <a:spcAft>
                          <a:spcPts val="0"/>
                        </a:spcAft>
                      </a:pPr>
                      <a:r>
                        <a:rPr sz="1100" i="0" b="1">
                          <a:solidFill>
                            <a:srgbClr val="FFFFFF"/>
                          </a:solidFill>
                          <a:latin typeface="Arial"/>
                        </a:rPr>
                        <a:t>Brand</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Network</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visits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Visits from affiliate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Panel affiliate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clicks / day</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95% CI</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Conservative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Est. US converting clicks / day</a:t>
                      </a:r>
                    </a:p>
                  </a:txBody>
                  <a:tcPr marL="73152" marR="73152" marT="27432" marB="27432" anchor="ctr">
                    <a:lnL w="0">
                      <a:noFill/>
                    </a:lnL>
                    <a:lnR w="0">
                      <a:noFill/>
                    </a:lnR>
                    <a:lnT w="0">
                      <a:noFill/>
                    </a:lnT>
                    <a:lnB w="0">
                      <a:noFill/>
                    </a:lnB>
                    <a:solidFill>
                      <a:srgbClr val="0B2A4A"/>
                    </a:solidFill>
                  </a:tcPr>
                </a:tc>
              </a:tr>
              <a:tr h="411480">
                <a:tc>
                  <a:txBody>
                    <a:bodyPr/>
                    <a:lstStyle/>
                    <a:p>
                      <a:pPr algn="l">
                        <a:lnSpc>
                          <a:spcPct val="100000"/>
                        </a:lnSpc>
                        <a:spcAft>
                          <a:spcPts val="0"/>
                        </a:spcAft>
                      </a:pPr>
                      <a:r>
                        <a:rPr sz="1200" i="0" b="1">
                          <a:solidFill>
                            <a:srgbClr val="1E2833"/>
                          </a:solidFill>
                          <a:latin typeface="Arial"/>
                        </a:rPr>
                        <a:t>Saatva</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Partnerize</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25</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16.0%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 ¹</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1">
                          <a:solidFill>
                            <a:srgbClr val="1E2833"/>
                          </a:solidFill>
                          <a:latin typeface="Arial"/>
                        </a:rPr>
                        <a:t>16.7K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6.1K–36.4K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6.5K</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r">
                        <a:lnSpc>
                          <a:spcPct val="100000"/>
                        </a:lnSpc>
                        <a:spcAft>
                          <a:spcPts val="0"/>
                        </a:spcAft>
                      </a:pPr>
                      <a:r>
                        <a:rPr sz="1200" i="0" b="0">
                          <a:solidFill>
                            <a:srgbClr val="1E2833"/>
                          </a:solidFill>
                          <a:latin typeface="Arial"/>
                        </a:rPr>
                        <a:t>84–334 ²</a:t>
                      </a:r>
                    </a:p>
                  </a:txBody>
                  <a:tcPr marL="73152" marR="73152" marT="27432" marB="27432" anchor="ctr">
                    <a:lnL w="0">
                      <a:noFill/>
                    </a:lnL>
                    <a:lnR w="0">
                      <a:noFill/>
                    </a:lnR>
                    <a:lnT w="0">
                      <a:noFill/>
                    </a:lnT>
                    <a:lnB w="9525">
                      <a:solidFill>
                        <a:srgbClr val="E3E8EE"/>
                      </a:solidFill>
                    </a:lnB>
                    <a:solidFill>
                      <a:srgbClr val="F6EFE8"/>
                    </a:solidFill>
                  </a:tcPr>
                </a:tc>
              </a:tr>
              <a:tr h="411480">
                <a:tc>
                  <a:txBody>
                    <a:bodyPr/>
                    <a:lstStyle/>
                    <a:p>
                      <a:pPr algn="l">
                        <a:lnSpc>
                          <a:spcPct val="100000"/>
                        </a:lnSpc>
                        <a:spcAft>
                          <a:spcPts val="0"/>
                        </a:spcAft>
                      </a:pPr>
                      <a:r>
                        <a:rPr sz="1200" i="0" b="1">
                          <a:solidFill>
                            <a:srgbClr val="1E2833"/>
                          </a:solidFill>
                          <a:latin typeface="Arial"/>
                        </a:rPr>
                        <a:t>Nectar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11.1K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3.0K–28.5K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4.4K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56–223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Helix</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10.5%</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DreamCloud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5.6K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0.6K–20.1K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28–111 ²</a:t>
                      </a:r>
                    </a:p>
                  </a:txBody>
                  <a:tcPr marL="73152" marR="73152" marT="27432" marB="27432" anchor="ctr">
                    <a:lnL w="0">
                      <a:noFill/>
                    </a:lnL>
                    <a:lnR w="0">
                      <a:noFill/>
                    </a:lnR>
                    <a:lnT w="0">
                      <a:noFill/>
                    </a:lnT>
                    <a:lnB w="9525">
                      <a:solidFill>
                        <a:srgbClr val="E3E8EE"/>
                      </a:solidFill>
                    </a:lnB>
                    <a:solidFill>
                      <a:srgbClr val="FFFFFF"/>
                    </a:solidFill>
                  </a:tcPr>
                </a:tc>
              </a:tr>
              <a:tr h="411480">
                <a:tc>
                  <a:txBody>
                    <a:bodyPr/>
                    <a:lstStyle/>
                    <a:p>
                      <a:pPr algn="l">
                        <a:lnSpc>
                          <a:spcPct val="100000"/>
                        </a:lnSpc>
                        <a:spcAft>
                          <a:spcPts val="0"/>
                        </a:spcAft>
                      </a:pPr>
                      <a:r>
                        <a:rPr sz="1200" i="0" b="1">
                          <a:solidFill>
                            <a:srgbClr val="1E2833"/>
                          </a:solidFill>
                          <a:latin typeface="Arial"/>
                        </a:rPr>
                        <a:t>Walmart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Impact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16,401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6,449</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1">
                          <a:solidFill>
                            <a:srgbClr val="1E2833"/>
                          </a:solidFill>
                          <a:latin typeface="Arial"/>
                        </a:rPr>
                        <a:t>7.0M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6.9M–7.2M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3.0M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121K (1.72%)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4343400"/>
            <a:ext cx="11094415" cy="1463040"/>
          </a:xfrm>
          <a:prstGeom prst="rect">
            <a:avLst/>
          </a:prstGeom>
          <a:noFill/>
        </p:spPr>
        <p:txBody>
          <a:bodyPr wrap="square" lIns="0" rIns="0" tIns="0" bIns="0" anchor="t">
            <a:noAutofit/>
          </a:bodyPr>
          <a:lstStyle/>
          <a:p>
            <a:pPr algn="l">
              <a:lnSpc>
                <a:spcPct val="110000"/>
              </a:lnSpc>
              <a:spcAft>
                <a:spcPts val="300"/>
              </a:spcAft>
            </a:pPr>
            <a:r>
              <a:rPr sz="1150" i="0" b="0">
                <a:solidFill>
                  <a:srgbClr val="647282"/>
                </a:solidFill>
                <a:latin typeface="Arial"/>
              </a:rPr>
              <a:t>¹ Five landings plus one Partnerize click that never loaded the site.</a:t>
            </a:r>
          </a:p>
          <a:p>
            <a:pPr algn="l">
              <a:lnSpc>
                <a:spcPct val="110000"/>
              </a:lnSpc>
              <a:spcAft>
                <a:spcPts val="300"/>
              </a:spcAft>
            </a:pPr>
            <a:r>
              <a:rPr sz="1150" i="0" b="0">
                <a:solidFill>
                  <a:srgbClr val="647282"/>
                </a:solidFill>
                <a:latin typeface="Arial"/>
              </a:rPr>
              <a:t>² No mattress order, registration or financing application followed an affiliate click that day; the range applies a 0.5–2% category conversion rate.</a:t>
            </a:r>
          </a:p>
          <a:p>
            <a:pPr algn="l">
              <a:lnSpc>
                <a:spcPct val="110000"/>
              </a:lnSpc>
              <a:spcAft>
                <a:spcPts val="1000"/>
              </a:spcAft>
            </a:pPr>
            <a:r>
              <a:rPr sz="1150" i="0" b="0">
                <a:solidFill>
                  <a:srgbClr val="647282"/>
                </a:solidFill>
                <a:latin typeface="Arial"/>
              </a:rPr>
              <a:t>Conservative: the Walmart-calibrated factor for the mattress brands, the population ratio for Walmart. 95% CI: Poisson sampling error of the panel count only.</a:t>
            </a:r>
          </a:p>
          <a:p>
            <a:pPr algn="l">
              <a:lnSpc>
                <a:spcPct val="110000"/>
              </a:lnSpc>
              <a:spcAft>
                <a:spcPts val="0"/>
              </a:spcAft>
            </a:pPr>
            <a:r>
              <a:rPr sz="1150" i="0" b="0">
                <a:solidFill>
                  <a:srgbClr val="647282"/>
                </a:solidFill>
                <a:latin typeface="Arial"/>
              </a:rPr>
              <a:t>Sources: Similarweb website pages (Aug 2026); DataReportal, Digital 2026 (324M US internet users); Grips Intelligence retailer pages (mattress conversion rates).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Data validation</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11</a:t>
            </a:r>
          </a:p>
        </p:txBody>
      </p:sp>
      <p:graphicFrame>
        <p:nvGraphicFramePr>
          <p:cNvPr id="8" name="Table 7"/>
          <p:cNvGraphicFramePr>
            <a:graphicFrameLocks noGrp="1"/>
          </p:cNvGraphicFramePr>
          <p:nvPr/>
        </p:nvGraphicFramePr>
        <p:xfrm>
          <a:off x="548640" y="1554480"/>
          <a:ext cx="11091672" cy="4251960"/>
        </p:xfrm>
        <a:graphic>
          <a:graphicData uri="http://schemas.openxmlformats.org/drawingml/2006/table">
            <a:tbl>
              <a:tblPr firstRow="0" bandRow="0">
                <a:tableStyleId>{2D5ABB26-0587-4C30-8999-92F81FD0307C}</a:tableStyleId>
              </a:tblPr>
              <a:tblGrid>
                <a:gridCol w="2194560"/>
                <a:gridCol w="4937760"/>
                <a:gridCol w="3959352"/>
              </a:tblGrid>
              <a:tr h="411480">
                <a:tc>
                  <a:txBody>
                    <a:bodyPr/>
                    <a:lstStyle/>
                    <a:p>
                      <a:pPr algn="l">
                        <a:lnSpc>
                          <a:spcPct val="100000"/>
                        </a:lnSpc>
                        <a:spcAft>
                          <a:spcPts val="0"/>
                        </a:spcAft>
                      </a:pPr>
                      <a:r>
                        <a:rPr sz="1100" i="0" b="1">
                          <a:solidFill>
                            <a:srgbClr val="FFFFFF"/>
                          </a:solidFill>
                          <a:latin typeface="Arial"/>
                        </a:rPr>
                        <a:t>Check</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Finding</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Handling</a:t>
                      </a:r>
                    </a:p>
                  </a:txBody>
                  <a:tcPr marL="73152" marR="73152" marT="27432" marB="27432" anchor="ctr">
                    <a:lnL w="0">
                      <a:noFill/>
                    </a:lnL>
                    <a:lnR w="0">
                      <a:noFill/>
                    </a:lnR>
                    <a:lnT w="0">
                      <a:noFill/>
                    </a:lnT>
                    <a:lnB w="0">
                      <a:noFill/>
                    </a:lnB>
                    <a:solidFill>
                      <a:srgbClr val="0B2A4A"/>
                    </a:solidFill>
                  </a:tcPr>
                </a:tc>
              </a:tr>
              <a:tr h="548640">
                <a:tc>
                  <a:txBody>
                    <a:bodyPr/>
                    <a:lstStyle/>
                    <a:p>
                      <a:pPr algn="l">
                        <a:lnSpc>
                          <a:spcPct val="100000"/>
                        </a:lnSpc>
                        <a:spcAft>
                          <a:spcPts val="0"/>
                        </a:spcAft>
                      </a:pPr>
                      <a:r>
                        <a:rPr sz="1200" i="0" b="1">
                          <a:solidFill>
                            <a:srgbClr val="1E2833"/>
                          </a:solidFill>
                          <a:latin typeface="Arial"/>
                        </a:rPr>
                        <a:t>Period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One day only: 1 May 2026, 00:00–23:59 UTC</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estimates; same-day attribution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Double-recorded events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14.7% of rows repeat the same user, second and URL</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Deduplicated</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Mirror user IDs</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Some people recorded under two USER_IDs, one a partial copy; inflated brand visits 14–28% and orders 20%</a:t>
                      </a:r>
                    </a:p>
                  </a:txBody>
                  <a:tcPr marL="73152" marR="73152" marT="27432" marB="27432" anchor="ctr">
                    <a:lnL w="0">
                      <a:noFill/>
                    </a:lnL>
                    <a:lnR w="0">
                      <a:noFill/>
                    </a:lnR>
                    <a:lnT w="0">
                      <a:noFill/>
                    </a:lnT>
                    <a:lnB w="9525">
                      <a:solidFill>
                        <a:srgbClr val="E3E8EE"/>
                      </a:solidFill>
                    </a:lnB>
                    <a:solidFill>
                      <a:srgbClr val="F6EFE8"/>
                    </a:solidFill>
                  </a:tcPr>
                </a:tc>
                <a:tc>
                  <a:txBody>
                    <a:bodyPr/>
                    <a:lstStyle/>
                    <a:p>
                      <a:pPr algn="l">
                        <a:lnSpc>
                          <a:spcPct val="100000"/>
                        </a:lnSpc>
                        <a:spcAft>
                          <a:spcPts val="0"/>
                        </a:spcAft>
                      </a:pPr>
                      <a:r>
                        <a:rPr sz="1200" i="0" b="0">
                          <a:solidFill>
                            <a:srgbClr val="1E2833"/>
                          </a:solidFill>
                          <a:latin typeface="Arial"/>
                        </a:rPr>
                        <a:t>IDs sharing ≥3 identical events merged (2,426 IDs)</a:t>
                      </a:r>
                    </a:p>
                  </a:txBody>
                  <a:tcPr marL="73152" marR="73152" marT="27432" marB="27432" anchor="ctr">
                    <a:lnL w="0">
                      <a:noFill/>
                    </a:lnL>
                    <a:lnR w="0">
                      <a:noFill/>
                    </a:lnR>
                    <a:lnT w="0">
                      <a:noFill/>
                    </a:lnT>
                    <a:lnB w="9525">
                      <a:solidFill>
                        <a:srgbClr val="E3E8EE"/>
                      </a:solidFill>
                    </a:lnB>
                    <a:solidFill>
                      <a:srgbClr val="F6EFE8"/>
                    </a:solidFill>
                  </a:tcPr>
                </a:tc>
              </a:tr>
              <a:tr h="548640">
                <a:tc>
                  <a:txBody>
                    <a:bodyPr/>
                    <a:lstStyle/>
                    <a:p>
                      <a:pPr algn="l">
                        <a:lnSpc>
                          <a:spcPct val="100000"/>
                        </a:lnSpc>
                        <a:spcAft>
                          <a:spcPts val="0"/>
                        </a:spcAft>
                      </a:pPr>
                      <a:r>
                        <a:rPr sz="1200" i="0" b="1">
                          <a:solidFill>
                            <a:srgbClr val="1E2833"/>
                          </a:solidFill>
                          <a:latin typeface="Arial"/>
                        </a:rPr>
                        <a:t>Non-page rows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iframes and tags appear as rows (sgtm.saatva.com, Shopify pixels)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Visits use main-site pages only</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Sessions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~2.5 parallel SESSION_IDs per user per day, one per tab</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Analysis per person</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Country</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country field</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Non-US if ≥20% of events on non-US country domains: 88.5% US</a:t>
                      </a:r>
                    </a:p>
                  </a:txBody>
                  <a:tcPr marL="73152" marR="73152" marT="27432" marB="27432" anchor="ctr">
                    <a:lnL w="0">
                      <a:noFill/>
                    </a:lnL>
                    <a:lnR w="0">
                      <a:noFill/>
                    </a:lnR>
                    <a:lnT w="0">
                      <a:noFill/>
                    </a:lnT>
                    <a:lnB w="9525">
                      <a:solidFill>
                        <a:srgbClr val="E3E8EE"/>
                      </a:solidFill>
                    </a:lnB>
                    <a:solidFill>
                      <a:srgbClr val="FFFFFF"/>
                    </a:solidFill>
                  </a:tcPr>
                </a:tc>
              </a:tr>
              <a:tr h="548640">
                <a:tc>
                  <a:txBody>
                    <a:bodyPr/>
                    <a:lstStyle/>
                    <a:p>
                      <a:pPr algn="l">
                        <a:lnSpc>
                          <a:spcPct val="100000"/>
                        </a:lnSpc>
                        <a:spcAft>
                          <a:spcPts val="0"/>
                        </a:spcAft>
                      </a:pPr>
                      <a:r>
                        <a:rPr sz="1200" i="0" b="1">
                          <a:solidFill>
                            <a:srgbClr val="1E2833"/>
                          </a:solidFill>
                          <a:latin typeface="Arial"/>
                        </a:rPr>
                        <a:t>Hourly profile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Step changes at 12:00 and 18:00 UTC, likely a collection artefact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Daily totals only</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9144000" cy="274320"/>
          </a:xfrm>
          <a:prstGeom prst="rect">
            <a:avLst/>
          </a:prstGeom>
          <a:noFill/>
        </p:spPr>
        <p:txBody>
          <a:bodyPr wrap="square" lIns="0" rIns="0" tIns="0" bIns="0" anchor="t">
            <a:noAutofit/>
          </a:bodyPr>
          <a:lstStyle/>
          <a:p>
            <a:pPr algn="l">
              <a:lnSpc>
                <a:spcPct val="110000"/>
              </a:lnSpc>
              <a:spcAft>
                <a:spcPts val="0"/>
              </a:spcAft>
            </a:pPr>
            <a:r>
              <a:rPr sz="1100" i="0" b="1" spc="150">
                <a:solidFill>
                  <a:srgbClr val="C9620E"/>
                </a:solidFill>
                <a:latin typeface="Arial"/>
              </a:rPr>
              <a:t>BACKUP</a:t>
            </a:r>
          </a:p>
        </p:txBody>
      </p:sp>
      <p:sp>
        <p:nvSpPr>
          <p:cNvPr id="3" name="TextBox 2"/>
          <p:cNvSpPr txBox="1"/>
          <p:nvPr/>
        </p:nvSpPr>
        <p:spPr>
          <a:xfrm>
            <a:off x="548640" y="658368"/>
            <a:ext cx="11094415" cy="685800"/>
          </a:xfrm>
          <a:prstGeom prst="rect">
            <a:avLst/>
          </a:prstGeom>
          <a:noFill/>
        </p:spPr>
        <p:txBody>
          <a:bodyPr wrap="square" lIns="0" rIns="0" tIns="0" bIns="0" anchor="t">
            <a:noAutofit/>
          </a:bodyPr>
          <a:lstStyle/>
          <a:p>
            <a:pPr algn="l">
              <a:lnSpc>
                <a:spcPct val="100000"/>
              </a:lnSpc>
              <a:spcAft>
                <a:spcPts val="0"/>
              </a:spcAft>
            </a:pPr>
            <a:r>
              <a:rPr sz="3200" i="0" b="0">
                <a:solidFill>
                  <a:srgbClr val="0B2A4A"/>
                </a:solidFill>
                <a:latin typeface="Georgia"/>
              </a:rPr>
              <a:t>Hijacking indicators and Walmart outcomes</a:t>
            </a:r>
          </a:p>
        </p:txBody>
      </p:sp>
      <p:sp>
        <p:nvSpPr>
          <p:cNvPr id="4" name="TextBox 3"/>
          <p:cNvSpPr txBox="1"/>
          <p:nvPr/>
        </p:nvSpPr>
        <p:spPr>
          <a:xfrm>
            <a:off x="548640" y="6419088"/>
            <a:ext cx="8229600" cy="228600"/>
          </a:xfrm>
          <a:prstGeom prst="rect">
            <a:avLst/>
          </a:prstGeom>
          <a:noFill/>
        </p:spPr>
        <p:txBody>
          <a:bodyPr wrap="square" lIns="0" rIns="0" tIns="0" bIns="0" anchor="t">
            <a:noAutofit/>
          </a:bodyPr>
          <a:lstStyle/>
          <a:p>
            <a:pPr algn="l">
              <a:lnSpc>
                <a:spcPct val="110000"/>
              </a:lnSpc>
              <a:spcAft>
                <a:spcPts val="0"/>
              </a:spcAft>
            </a:pPr>
            <a:r>
              <a:rPr sz="900" i="0" b="0">
                <a:solidFill>
                  <a:srgbClr val="647282"/>
                </a:solidFill>
                <a:latin typeface="Arial"/>
              </a:rPr>
              <a:t>Saatva affiliate analysis  ·  Hagay Gross</a:t>
            </a:r>
          </a:p>
        </p:txBody>
      </p:sp>
      <p:sp>
        <p:nvSpPr>
          <p:cNvPr id="5" name="Oval 4"/>
          <p:cNvSpPr/>
          <p:nvPr/>
        </p:nvSpPr>
        <p:spPr>
          <a:xfrm>
            <a:off x="11185855" y="6460236"/>
            <a:ext cx="128016" cy="128016"/>
          </a:xfrm>
          <a:prstGeom prst="ellipse">
            <a:avLst/>
          </a:prstGeom>
          <a:solidFill>
            <a:srgbClr val="FF9438"/>
          </a:solidFill>
          <a:ln>
            <a:noFill/>
          </a:ln>
        </p:spPr>
        <p:txBody>
          <a:bodyPr rtlCol="0" anchor="ctr"/>
          <a:lstStyle/>
          <a:p>
            <a:pPr algn="ctr"/>
          </a:p>
        </p:txBody>
      </p:sp>
      <p:sp>
        <p:nvSpPr>
          <p:cNvPr id="6" name="Oval 5"/>
          <p:cNvSpPr/>
          <p:nvPr/>
        </p:nvSpPr>
        <p:spPr>
          <a:xfrm>
            <a:off x="11268151" y="6460236"/>
            <a:ext cx="128016" cy="128016"/>
          </a:xfrm>
          <a:prstGeom prst="ellipse">
            <a:avLst/>
          </a:prstGeom>
          <a:solidFill>
            <a:srgbClr val="368EF8"/>
          </a:solidFill>
          <a:ln>
            <a:noFill/>
          </a:ln>
        </p:spPr>
        <p:txBody>
          <a:bodyPr rtlCol="0" anchor="ctr"/>
          <a:lstStyle/>
          <a:p>
            <a:pPr algn="ctr"/>
          </a:p>
        </p:txBody>
      </p:sp>
      <p:sp>
        <p:nvSpPr>
          <p:cNvPr id="7" name="TextBox 6"/>
          <p:cNvSpPr txBox="1"/>
          <p:nvPr/>
        </p:nvSpPr>
        <p:spPr>
          <a:xfrm>
            <a:off x="11441887" y="6419088"/>
            <a:ext cx="201168" cy="228600"/>
          </a:xfrm>
          <a:prstGeom prst="rect">
            <a:avLst/>
          </a:prstGeom>
          <a:noFill/>
        </p:spPr>
        <p:txBody>
          <a:bodyPr wrap="square" lIns="0" rIns="0" tIns="0" bIns="0" anchor="t">
            <a:noAutofit/>
          </a:bodyPr>
          <a:lstStyle/>
          <a:p>
            <a:pPr algn="r">
              <a:lnSpc>
                <a:spcPct val="110000"/>
              </a:lnSpc>
              <a:spcAft>
                <a:spcPts val="0"/>
              </a:spcAft>
            </a:pPr>
            <a:r>
              <a:rPr sz="900" i="0" b="0">
                <a:solidFill>
                  <a:srgbClr val="647282"/>
                </a:solidFill>
                <a:latin typeface="Arial"/>
              </a:rPr>
              <a:t>12</a:t>
            </a:r>
          </a:p>
        </p:txBody>
      </p:sp>
      <p:graphicFrame>
        <p:nvGraphicFramePr>
          <p:cNvPr id="8" name="Table 7"/>
          <p:cNvGraphicFramePr>
            <a:graphicFrameLocks noGrp="1"/>
          </p:cNvGraphicFramePr>
          <p:nvPr/>
        </p:nvGraphicFramePr>
        <p:xfrm>
          <a:off x="548640" y="1508760"/>
          <a:ext cx="11091672" cy="4251960"/>
        </p:xfrm>
        <a:graphic>
          <a:graphicData uri="http://schemas.openxmlformats.org/drawingml/2006/table">
            <a:tbl>
              <a:tblPr firstRow="0" bandRow="0">
                <a:tableStyleId>{2D5ABB26-0587-4C30-8999-92F81FD0307C}</a:tableStyleId>
              </a:tblPr>
              <a:tblGrid>
                <a:gridCol w="2514600"/>
                <a:gridCol w="4206240"/>
                <a:gridCol w="914400"/>
                <a:gridCol w="1188720"/>
                <a:gridCol w="1051560"/>
                <a:gridCol w="1216152"/>
              </a:tblGrid>
              <a:tr h="384048">
                <a:tc>
                  <a:txBody>
                    <a:bodyPr/>
                    <a:lstStyle/>
                    <a:p>
                      <a:pPr algn="l">
                        <a:lnSpc>
                          <a:spcPct val="100000"/>
                        </a:lnSpc>
                        <a:spcAft>
                          <a:spcPts val="0"/>
                        </a:spcAft>
                      </a:pPr>
                      <a:r>
                        <a:rPr sz="1100" i="0" b="1">
                          <a:solidFill>
                            <a:srgbClr val="FFFFFF"/>
                          </a:solidFill>
                          <a:latin typeface="Arial"/>
                        </a:rPr>
                        <a:t>Indicator</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Definition</a:t>
                      </a:r>
                    </a:p>
                  </a:txBody>
                  <a:tcPr marL="73152" marR="73152" marT="27432" marB="27432" anchor="ctr">
                    <a:lnL w="0">
                      <a:noFill/>
                    </a:lnL>
                    <a:lnR w="0">
                      <a:noFill/>
                    </a:lnR>
                    <a:lnT w="0">
                      <a:noFill/>
                    </a:lnT>
                    <a:lnB w="0">
                      <a:noFill/>
                    </a:lnB>
                    <a:solidFill>
                      <a:srgbClr val="0B2A4A"/>
                    </a:solidFill>
                  </a:tcPr>
                </a:tc>
                <a:tc>
                  <a:txBody>
                    <a:bodyPr/>
                    <a:lstStyle/>
                    <a:p>
                      <a:pPr algn="l">
                        <a:lnSpc>
                          <a:spcPct val="100000"/>
                        </a:lnSpc>
                        <a:spcAft>
                          <a:spcPts val="0"/>
                        </a:spcAft>
                      </a:pPr>
                      <a:r>
                        <a:rPr sz="1100" i="0" b="1">
                          <a:solidFill>
                            <a:srgbClr val="FFFFFF"/>
                          </a:solidFill>
                          <a:latin typeface="Arial"/>
                        </a:rPr>
                        <a:t>Tier</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clicks</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Conv. rate</a:t>
                      </a:r>
                    </a:p>
                  </a:txBody>
                  <a:tcPr marL="73152" marR="73152" marT="27432" marB="27432" anchor="ctr">
                    <a:lnL w="0">
                      <a:noFill/>
                    </a:lnL>
                    <a:lnR w="0">
                      <a:noFill/>
                    </a:lnR>
                    <a:lnT w="0">
                      <a:noFill/>
                    </a:lnT>
                    <a:lnB w="0">
                      <a:noFill/>
                    </a:lnB>
                    <a:solidFill>
                      <a:srgbClr val="0B2A4A"/>
                    </a:solidFill>
                  </a:tcPr>
                </a:tc>
                <a:tc>
                  <a:txBody>
                    <a:bodyPr/>
                    <a:lstStyle/>
                    <a:p>
                      <a:pPr algn="r">
                        <a:lnSpc>
                          <a:spcPct val="100000"/>
                        </a:lnSpc>
                        <a:spcAft>
                          <a:spcPts val="0"/>
                        </a:spcAft>
                      </a:pPr>
                      <a:r>
                        <a:rPr sz="1100" i="0" b="1">
                          <a:solidFill>
                            <a:srgbClr val="FFFFFF"/>
                          </a:solidFill>
                          <a:latin typeface="Arial"/>
                        </a:rPr>
                        <a:t>Share of orders</a:t>
                      </a:r>
                    </a:p>
                  </a:txBody>
                  <a:tcPr marL="73152" marR="73152" marT="27432" marB="27432" anchor="ctr">
                    <a:lnL w="0">
                      <a:noFill/>
                    </a:lnL>
                    <a:lnR w="0">
                      <a:noFill/>
                    </a:lnR>
                    <a:lnT w="0">
                      <a:noFill/>
                    </a:lnT>
                    <a:lnB w="0">
                      <a:noFill/>
                    </a:lnB>
                    <a:solidFill>
                      <a:srgbClr val="0B2A4A"/>
                    </a:solidFill>
                  </a:tcPr>
                </a:tc>
              </a:tr>
              <a:tr h="429768">
                <a:tc>
                  <a:txBody>
                    <a:bodyPr/>
                    <a:lstStyle/>
                    <a:p>
                      <a:pPr algn="l">
                        <a:lnSpc>
                          <a:spcPct val="100000"/>
                        </a:lnSpc>
                        <a:spcAft>
                          <a:spcPts val="0"/>
                        </a:spcAft>
                      </a:pPr>
                      <a:r>
                        <a:rPr sz="1200" i="0" b="1">
                          <a:solidFill>
                            <a:srgbClr val="1E2833"/>
                          </a:solidFill>
                          <a:latin typeface="Arial"/>
                        </a:rPr>
                        <a:t>Click without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Network click, but the brand's site never loads</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Injected at cart / checkout</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In the brand's cart or checkout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6.9%</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12.6%</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50.5%</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Already on site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On the brand's site, untagged, in the 30 min before</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16.3%</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3.0%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28.8%</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Publisher-bought search ad</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Google/Bing ad click id on the affiliate landing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l">
                        <a:lnSpc>
                          <a:spcPct val="100000"/>
                        </a:lnSpc>
                        <a:spcAft>
                          <a:spcPts val="0"/>
                        </a:spcAft>
                      </a:pPr>
                      <a:r>
                        <a:rPr sz="1200" i="0" b="0">
                          <a:solidFill>
                            <a:srgbClr val="1E2833"/>
                          </a:solidFill>
                          <a:latin typeface="Arial"/>
                        </a:rPr>
                        <a:t>Strong</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1E5"/>
                    </a:solidFill>
                  </a:tcPr>
                </a:tc>
              </a:tr>
              <a:tr h="429768">
                <a:tc>
                  <a:txBody>
                    <a:bodyPr/>
                    <a:lstStyle/>
                    <a:p>
                      <a:pPr algn="l">
                        <a:lnSpc>
                          <a:spcPct val="100000"/>
                        </a:lnSpc>
                        <a:spcAft>
                          <a:spcPts val="0"/>
                        </a:spcAft>
                      </a:pPr>
                      <a:r>
                        <a:rPr sz="1200" i="0" b="1">
                          <a:solidFill>
                            <a:srgbClr val="1E2833"/>
                          </a:solidFill>
                          <a:latin typeface="Arial"/>
                        </a:rPr>
                        <a:t>Brand search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search for the brand within 60 s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Coupon / cash-back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A coupon or cash-back site or extension within 60 s</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Medium</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4.0%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2.7%</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Multi-brand burst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2+ other advertisers within ±2 min, no engagement</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Review</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0.1%</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0.0%</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visible referrer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No activity in the 30 min before</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r>
                        <a:rPr sz="1200" i="0" b="0">
                          <a:solidFill>
                            <a:srgbClr val="1E2833"/>
                          </a:solidFill>
                          <a:latin typeface="Arial"/>
                        </a:rPr>
                        <a:t>Weak</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2.2%</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1.8%</a:t>
                      </a:r>
                    </a:p>
                  </a:txBody>
                  <a:tcPr marL="73152" marR="73152" marT="27432" marB="27432" anchor="ctr">
                    <a:lnL w="0">
                      <a:noFill/>
                    </a:lnL>
                    <a:lnR w="0">
                      <a:noFill/>
                    </a:lnR>
                    <a:lnT w="0">
                      <a:noFill/>
                    </a:lnT>
                    <a:lnB w="9525">
                      <a:solidFill>
                        <a:srgbClr val="E3E8EE"/>
                      </a:solidFill>
                    </a:lnB>
                    <a:solidFill>
                      <a:srgbClr val="FFFFFF"/>
                    </a:solidFill>
                  </a:tcPr>
                </a:tc>
              </a:tr>
              <a:tr h="429768">
                <a:tc>
                  <a:txBody>
                    <a:bodyPr/>
                    <a:lstStyle/>
                    <a:p>
                      <a:pPr algn="l">
                        <a:lnSpc>
                          <a:spcPct val="100000"/>
                        </a:lnSpc>
                        <a:spcAft>
                          <a:spcPts val="0"/>
                        </a:spcAft>
                      </a:pPr>
                      <a:r>
                        <a:rPr sz="1200" i="0" b="1">
                          <a:solidFill>
                            <a:srgbClr val="1E2833"/>
                          </a:solidFill>
                          <a:latin typeface="Arial"/>
                        </a:rPr>
                        <a:t>No indicator</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l">
                        <a:lnSpc>
                          <a:spcPct val="100000"/>
                        </a:lnSpc>
                        <a:spcAft>
                          <a:spcPts val="0"/>
                        </a:spcAft>
                      </a:pP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73.0%</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0.4%</a:t>
                      </a:r>
                    </a:p>
                  </a:txBody>
                  <a:tcPr marL="73152" marR="73152" marT="27432" marB="27432" anchor="ctr">
                    <a:lnL w="0">
                      <a:noFill/>
                    </a:lnL>
                    <a:lnR w="0">
                      <a:noFill/>
                    </a:lnR>
                    <a:lnT w="0">
                      <a:noFill/>
                    </a:lnT>
                    <a:lnB w="9525">
                      <a:solidFill>
                        <a:srgbClr val="E3E8EE"/>
                      </a:solidFill>
                    </a:lnB>
                    <a:solidFill>
                      <a:srgbClr val="FFFFFF"/>
                    </a:solidFill>
                  </a:tcPr>
                </a:tc>
                <a:tc>
                  <a:txBody>
                    <a:bodyPr/>
                    <a:lstStyle/>
                    <a:p>
                      <a:pPr algn="r">
                        <a:lnSpc>
                          <a:spcPct val="100000"/>
                        </a:lnSpc>
                        <a:spcAft>
                          <a:spcPts val="0"/>
                        </a:spcAft>
                      </a:pPr>
                      <a:r>
                        <a:rPr sz="1200" i="0" b="0">
                          <a:solidFill>
                            <a:srgbClr val="1E2833"/>
                          </a:solidFill>
                          <a:latin typeface="Arial"/>
                        </a:rPr>
                        <a:t>16.2%</a:t>
                      </a:r>
                    </a:p>
                  </a:txBody>
                  <a:tcPr marL="73152" marR="73152" marT="27432" marB="27432" anchor="ctr">
                    <a:lnL w="0">
                      <a:noFill/>
                    </a:lnL>
                    <a:lnR w="0">
                      <a:noFill/>
                    </a:lnR>
                    <a:lnT w="0">
                      <a:noFill/>
                    </a:lnT>
                    <a:lnB w="9525">
                      <a:solidFill>
                        <a:srgbClr val="E3E8EE"/>
                      </a:solidFill>
                    </a:lnB>
                    <a:solidFill>
                      <a:srgbClr val="FFFFFF"/>
                    </a:solidFill>
                  </a:tcPr>
                </a:tc>
              </a:tr>
            </a:tbl>
          </a:graphicData>
        </a:graphic>
      </p:graphicFrame>
      <p:sp>
        <p:nvSpPr>
          <p:cNvPr id="9" name="TextBox 8"/>
          <p:cNvSpPr txBox="1"/>
          <p:nvPr/>
        </p:nvSpPr>
        <p:spPr>
          <a:xfrm>
            <a:off x="548640" y="5989320"/>
            <a:ext cx="11094415" cy="274320"/>
          </a:xfrm>
          <a:prstGeom prst="rect">
            <a:avLst/>
          </a:prstGeom>
          <a:noFill/>
        </p:spPr>
        <p:txBody>
          <a:bodyPr wrap="square" lIns="0" rIns="0" tIns="0" bIns="0" anchor="t">
            <a:noAutofit/>
          </a:bodyPr>
          <a:lstStyle/>
          <a:p>
            <a:pPr algn="l">
              <a:lnSpc>
                <a:spcPct val="110000"/>
              </a:lnSpc>
              <a:spcAft>
                <a:spcPts val="0"/>
              </a:spcAft>
            </a:pPr>
            <a:r>
              <a:rPr sz="1150" i="0" b="0">
                <a:solidFill>
                  <a:srgbClr val="647282"/>
                </a:solidFill>
                <a:latin typeface="Arial"/>
              </a:rPr>
              <a:t>Code, SQL and result tables: </a:t>
            </a:r>
            <a:r>
              <a:rPr sz="1150" i="0" b="1">
                <a:solidFill>
                  <a:srgbClr val="006BA1"/>
                </a:solidFill>
                <a:latin typeface="Arial"/>
              </a:rPr>
              <a:t>github.com/Hagaygro/partnerize-assignment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B2A4A"/>
      </a:dk2>
      <a:lt2>
        <a:srgbClr val="F3F6F9"/>
      </a:lt2>
      <a:accent1>
        <a:srgbClr val="368EF8"/>
      </a:accent1>
      <a:accent2>
        <a:srgbClr val="FF9438"/>
      </a:accent2>
      <a:accent3>
        <a:srgbClr val="B5793F"/>
      </a:accent3>
      <a:accent4>
        <a:srgbClr val="006BA1"/>
      </a:accent4>
      <a:accent5>
        <a:srgbClr val="647282"/>
      </a:accent5>
      <a:accent6>
        <a:srgbClr val="B7C1CC"/>
      </a:accent6>
      <a:hlink>
        <a:srgbClr val="0000FF"/>
      </a:hlink>
      <a:folHlink>
        <a:srgbClr val="800080"/>
      </a:folHlink>
    </a:clrScheme>
    <a:fontScheme name="Office">
      <a:majorFont>
        <a:latin typeface="Georg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