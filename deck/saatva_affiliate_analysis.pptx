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13–24% of clicks that carry a hijack signal take 52–79% of the affiliate-credited orders, and Saatva's own clicks already show the same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(next slide).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clicks and 121K converting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the Labor Day sale season.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They are 13–24% of clicks but take 52–79% of the affiliate-credited orders, depending on how strict the look-back window is, from 2 to 30 minutes. Clicks fired after the shopper had already viewed the cart convert at 13%, against 0.4% for clicks with no signal, and the order follows a median 2.3 minutes later: these clicks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 6: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were already happening.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52–79%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Only 13–24% of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clicks a day,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13–24% of clicks take 52–79%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2758196" y="2042403"/>
            <a:ext cx="274320" cy="1035832"/>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504712"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24%</a:t>
            </a:r>
          </a:p>
        </p:txBody>
      </p:sp>
      <p:sp>
        <p:nvSpPr>
          <p:cNvPr id="16" name="Round Same Side Corner Rectangle 15"/>
          <p:cNvSpPr/>
          <p:nvPr/>
        </p:nvSpPr>
        <p:spPr>
          <a:xfrm rot="5400000">
            <a:off x="3980566" y="1149217"/>
            <a:ext cx="274320" cy="3480572"/>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49452"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2652857" y="3171870"/>
            <a:ext cx="274320" cy="825154"/>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3294034"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19%</a:t>
            </a:r>
          </a:p>
        </p:txBody>
      </p:sp>
      <p:sp>
        <p:nvSpPr>
          <p:cNvPr id="21" name="Round Same Side Corner Rectangle 20"/>
          <p:cNvSpPr/>
          <p:nvPr/>
        </p:nvSpPr>
        <p:spPr>
          <a:xfrm rot="5400000">
            <a:off x="3822557" y="2331354"/>
            <a:ext cx="274320" cy="316455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63343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72%</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532156" y="4316699"/>
            <a:ext cx="274320" cy="58375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052632"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a:t>
            </a:r>
          </a:p>
        </p:txBody>
      </p:sp>
      <p:sp>
        <p:nvSpPr>
          <p:cNvPr id="26" name="Round Same Side Corner Rectangle 25"/>
          <p:cNvSpPr/>
          <p:nvPr/>
        </p:nvSpPr>
        <p:spPr>
          <a:xfrm rot="5400000">
            <a:off x="3388034" y="3790005"/>
            <a:ext cx="274320" cy="2295509"/>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764389"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52%</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 click fired at the cart adds no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(half its affiliate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Mattress Clarity, buyersguide.org and Truemed send rivals traffic; none seen at Saatva</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add no orders (slide 7);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next slide)</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pic>
        <p:nvPicPr>
          <p:cNvPr id="8" name="Picture 7" descr="dashboard_overview.png"/>
          <p:cNvPicPr>
            <a:picLocks noChangeAspect="1"/>
          </p:cNvPicPr>
          <p:nvPr/>
        </p:nvPicPr>
        <p:blipFill>
          <a:blip r:embed="rId3"/>
          <a:stretch>
            <a:fillRect/>
          </a:stretch>
        </p:blipFill>
        <p:spPr>
          <a:xfrm>
            <a:off x="548640" y="1463040"/>
            <a:ext cx="5394960" cy="3624739"/>
          </a:xfrm>
          <a:prstGeom prst="rect">
            <a:avLst/>
          </a:prstGeom>
        </p:spPr>
      </p:pic>
      <p:sp>
        <p:nvSpPr>
          <p:cNvPr id="9" name="Rectangle 8"/>
          <p:cNvSpPr/>
          <p:nvPr/>
        </p:nvSpPr>
        <p:spPr>
          <a:xfrm>
            <a:off x="548640" y="1463040"/>
            <a:ext cx="5394960" cy="3624738"/>
          </a:xfrm>
          <a:prstGeom prst="rect">
            <a:avLst/>
          </a:prstGeom>
          <a:noFill/>
          <a:ln w="9525">
            <a:solidFill>
              <a:srgbClr val="E3E8EE"/>
            </a:solidFill>
          </a:ln>
        </p:spPr>
        <p:txBody>
          <a:bodyPr rtlCol="0" anchor="ctr"/>
          <a:lstStyle/>
          <a:p>
            <a:pPr algn="ctr"/>
          </a:p>
        </p:txBody>
      </p:sp>
      <p:sp>
        <p:nvSpPr>
          <p:cNvPr id="10" name="Oval 9"/>
          <p:cNvSpPr/>
          <p:nvPr/>
        </p:nvSpPr>
        <p:spPr>
          <a:xfrm>
            <a:off x="640080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6876288" y="1536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6876288" y="1856231"/>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40080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6876288" y="2679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6876288" y="2999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40080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6876288" y="3822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6876288" y="4142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230368"/>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522976"/>
            <a:ext cx="9430252" cy="69764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10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0"/>
              </a:spcAft>
            </a:pPr>
            <a:r>
              <a:rPr sz="1150" i="0" b="0">
                <a:solidFill>
                  <a:srgbClr val="647282"/>
                </a:solidFill>
                <a:latin typeface="Arial"/>
              </a:rPr>
              <a:t>Sources: Similarweb website pages (Aug 2026); DataReportal, Digital 2026 (324M US internet users); Grips Intelligence retailer pages (mattress conversion rates).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