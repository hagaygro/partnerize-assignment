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for Saatva: how its US affiliate program compares with Nectar, Helix, DreamCloud and Walmart; how to grow it; and how to control attribution hijacking. The data is a one-day US clickstream panel: 48.4M events from 784K users on 1 May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First, 16% of Saatva's visits start with an affiliate click, against 4–11% for the other mattress brands, and Similarweb independently ranks affiliate as Saatva's #1 channel. Second, scaled to the US, that is about 16.7K affiliate clicks a day. The range is wide, 6.1K–36.4K, because it rests on six panel clicks; at category conversion rates it means roughly 84–334 orders a day. Third, where the data has volume (Walmart), the clicks that carry a hijack signal take 51–79% of the affiliate-credited orders, though they are only 26–41% of ordinary shoppers' clicks; most of the remaining click volume is click flooding by a few dozen people. Saatva's own clicks already show the same hijacking patterns. So the recommendations split in two: grow the channel, and stop paying for credit that was taken, not earned.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share of visits that start with an affiliate click is the most robust comparison, because it doesn't depend on scaling: Saatva 16%, Helix 10.5%, DreamCloud 7.4%, Nectar 3.9%. Nectar and DreamCloud lean on paid search instead, 43% and 37% of their visits. Similarweb agrees independently: affiliate is the #1 channel for Saatva (23.7% of traffic) and Helix (21.0%), paid search for Nectar and DreamCloud. Caveat: one day gives 19–51 visits per mattress brand, so read the order, not the decimals.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 estimate = panel clicks × a scale factor calibrated on the mattress audience (slide 6). Saatva comes to about 16.7K clicks a day, with a 95% interval of 6.1K–36.4K; with the Walmart-calibrated factor the conservative estimate is 6.5K. The four intervals overlap, so one day can't rank the mattress brands by volume. No mattress order followed an affiliate click within the day, which is expected for a considered purchase, so orders use a 0.5–2% category conversion rate: 84–334 a day for Saatva. Walmart has the volume to measure directly: 6,449 panel clicks, 1.72% converting, so about 7.0M recorded clicks and 121K converting clicks a day. 71% of those clicks come from 58 panel people who click 13–15 times an hour and almost never order (click flooding, slide 9); without them Walmart has about 2.0M clicks a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a panel shows this, because a brand's own analytics stop at its own domain. Across ~20 mattress brands, 246 US panel users shopped for a mattress that day. 229 reached a brand site, 69 a product page, 18 a cart and 2 ordered: a long, considered journey, which is why a same-day window finds almost no orders. Visitors of each of the four brands looked at about two brands; 44% of Saatva's visitors also opened another brand, mostly Mattress Firm and Nectar. For Saatva's program, that makes comparison content (Saatva vs Nectar, best-mattress lists) the place to win the click, which is where the recruiting recommendation points. One day and a few hundred shoppers: read the shape, not the rates. Review sites look rare here partly because the panel does not record search engines (slide 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changed the answer. 14.7% of rows were exact duplicates, and some people were recorded under two user ids, one a partial copy of the other; left as is, that inflated brand visits by 14–28% and orders by 20%. I merged ids that share three or more identical events. One pass selects the users who touched any of the five brands, so everything runs on 3.4% of the data, in about 30 seconds. Scaling: a factor calibrated on walmart.com recovers only 35–50% of the mattress sites' Similarweb traffic, because the panel under-covers that audience. The mattress brands therefore use a factor calibrated on the mattress sites themselves, which reproduces each brand within 0.89–1.27×. Caveat: Similarweb's latest public month is August, while the panel day is 1 May. Google Trends puts mattress search interest around 1 May at 1.5–2.8× August, so moved to that day the mattress estimates roughly double (Saatva about 33K clicks a day). The headline keeps the August factor as the lower estimate.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number here is a panel number, so the panel was checked like any data source. It holds 784K user ids in one day, 88.5% US; the top 10% of users produce 56.7% of all events. It is not a uniform sample of browsing: PayPal, MSN, Walmart and the New York Times are large, while Google, YouTube, Facebook and Amazon are almost absent. So shares of 'all browsing' are meaningless, only within-site measures are valid, and each audience needs its own calibration, which is why the mattress brands are not scaled on Walmart. It also explains a signal: search engines are not recorded, so 'brand search before the click' can never fire, and a click with no visible referrer may simply come from a site the panel does not see; it is kept as weak. Recruitment bias: panels are often recruited through browser extensions, so coupon-extension users may be over-represented, and they do carry more flagged clicks. Dropping them entirely moves the share of Walmart's affiliate orders from flagged clicks from 79.3% to 75.7%, and every activity tier shows the same pattern. The hijacking result is not a panel artefact.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Walmart has the volume to test the indicators. Flagged clicks are clicks without a landing, clicks fired while the shopper was already in the cart or on the site, and clicks from a publisher-bought search ad. Click-flooding clicks (next slide) are left out: they are most of the volume and almost never convert, so they would make the flagged share look smaller than it is. Among ordinary shoppers' clicks, flagged clicks are 26–41% of clicks but take 51–79% of the affiliate-credited orders, depending on how strict the look-back window is, from 2 to 30 minutes. Counted over all clicks, the same flags are 13–24%. Clicks fired after the shopper had already viewed the cart convert at 13%, against 0.4% for clicks with no signal, and the order follows a median 2.3 minutes later: these clicks close sales that were already happening. Mechanisms: 258 clicks fired from walmart.com itself a median 2 seconds after a walmart.com page, with no publisher page in between; price-comparison redirects (rd.bizrate.com, 461 flagged clicks); and coupon and cash-back extensions (Capital One Shopping, Slickdeals, Rakuten).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fraud pattern, beside hijacking. 58 US panel people, 6% of Walmart's affiliate clickers, make 4,594 of its 6,449 affiliate clicks and 4 of its affiliate orders. The line sits at 20 clicks a day, where behaviour changes: below it people click under twice an hour across 13–15 sites; above it 13–15 times an hour across 6–9 sites. The top one loops go.sylikes.com, rd.bizrate.com and a walmart.com product page about once a minute for 24 hours. Three publishers take 98% of these clicks. In a CPA program this costs little directly, but it inflates click counts and EPC rankings, any per-click payout, and it plants cookies that can win the last click later. Without it Walmart has about 2.0M affiliate clicks a day, not 7.0M; the threshold moves that between 1.7M and 2.7M. No Saatva or other mattress-brand user crosses the line in this day.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in the funnel does the affiliate click arrive? A genuine referral starts the visit: the shopper reads a publisher's page and clicks through. A hijacked click arrives at the bottom, once the shopper is already in the cart or at checkout. At Walmart, 78% of affiliate clicks start the visit, but they carry only 31% of the credited orders and convert at 0.7%. Clicks that fire after the cart are 3% of clicks and 42% of the orders, converting at 18–31%. The commission follows the last click, so it flows to the bottom of the funnel, where the publisher did the least. Stage = the furthest point on walmart.com in the 30 minutes before the click, since any earlier affiliate click.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objection to slides 8 and 9: shoppers in the cart convert at a high rate anyway, so of course these clicks convert. That is the point, and it can be tested. Take every US Walmart shopper at the moment they first view the cart, and separately the checkout. The stage is fixed before any click, and shoppers an affiliate brought to the cart are left out. Then compare those who got an affiliate click afterwards with those who did not. At the cart, 34.2% vs 31.7% order within two hours; at the checkout, 66.7% vs 75.8%. Across the 56 shoppers who got a click, 25 ordered; 25.7 would have without it. The interval is wide (ratio 0.63–1.44), so at most about 31% of these orders could be incremental, and the best estimate is none. The design favours the click, since a shopper who got one stayed on the site at least until it fired. Clicks fired at the cart carry half of Walmart's affiliate-credited orders. At an average order of $100–125 and 1–4% commission, that is $22.3M–111.3M a year paid for sales that were already happening. Saatva's panel has no orders to measure its share, so the Saatva figure is per 10% of orders hijacked: about $860 per order and 3–10% commission.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cases from Saatva's own clicks. One: a 'new tab' browser extension (newtab.club, via tatrck.com) fired a Partnerize click for Saatva (publisher camref 1011laqH9), but saatva.com never loaded; the user was on Sleep Number at the time. If they buy from Saatva within the cookie window, the extension is paid: that is cookie stuffing. Two: brandxemail is listed as an email publisher, but its click came from a Google ad (gad_source=1) and landed on /sale with an auto-applied coupon: a question for the PPC terms. Three: TrafficPoint, a paid-search listicle, sent one user to six brands within a minute. The user really browsed, so this is not stuffing, but nine minutes later they came back through a Google Shopping ad, likely Saatva's own, so Saatva may pay twice. The indicators should trigger a review, not an automatic penalty.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recruit the partner types the rivals already get traffic from: review sites like Mattress Clarity, buyer's guides like buyersguide.org, and HSA/FSA payment partners like Truemed. Give each publisher its own coupon code: today Mattress Nerd and TrafficPoint landings auto-apply the same code. Tier commissions: more for content and new customers, less for coupon clicks and for clicks after a cart exists. Protect: start by reconciling Partnerize click logs with saatva.com landings, because a click id that never lands is direct evidence. Then no commission overwrite after a cart exists, extension stand-down, a PPC and trademark policy, and weekly per-publisher monitoring of six indicators, with payouts held on flagged orders. Next step: the same pipeline on 90 days of data and on Saatva's own Partnerize logs, to size the impact.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recommendations need a tool a partner manager can use every week, so the pipeline also builds one: dashboard/publisher_risk_monitor.html, a single file that opens in any browser. It re-scores every affiliate click under the chosen look-back window, so the 2-to-30-minute sensitivity is a click, not a footnote. It ranks publishers by the commission paid on their flagged orders, with a Hold, Review or OK status, and the average order and commission are inputs. Every number can be traced to the journey behind a click. The strip at the bottom is one of them: a shopper browsed Walmart, reached checkout, and two seconds after a Bizrate redirect an Impact click 'landed' on the order confirmation page, in the same second as the order. The publisher, impact:150372, has 32 credited orders in the panel, 78% of them from flagged clicks. The same view works for Saatva today; with Partnerize's own click and order logs instead of a one-day panel, the counts behind each status would be complete.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results table. Conservative estimates use the Walmart-calibrated factor for the mattress brands and the population ratio for Walmart.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check, what it found, and how the pipeline handles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counts once, under its first-ranked indicator, so the Walmart columns add up to all 6,449 clicks. Strong indicators are highlighted.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p:spPr>
        <p:txBody>
          <a:bodyPr rtlCol="0" anchor="ctr"/>
          <a:lstStyle/>
          <a:p>
            <a:pPr algn="ctr"/>
          </a:p>
        </p:txBody>
      </p:sp>
      <p:sp>
        <p:nvSpPr>
          <p:cNvPr id="3" name="Oval 2"/>
          <p:cNvSpPr/>
          <p:nvPr/>
        </p:nvSpPr>
        <p:spPr>
          <a:xfrm>
            <a:off x="8321040" y="777240"/>
            <a:ext cx="3383280" cy="3383280"/>
          </a:xfrm>
          <a:prstGeom prst="ellipse">
            <a:avLst/>
          </a:prstGeom>
          <a:solidFill>
            <a:srgbClr val="FF9438"/>
          </a:solidFill>
          <a:ln>
            <a:noFill/>
          </a:ln>
        </p:spPr>
        <p:txBody>
          <a:bodyPr rtlCol="0" anchor="ctr"/>
          <a:lstStyle/>
          <a:p>
            <a:pPr algn="ctr"/>
          </a:p>
        </p:txBody>
      </p:sp>
      <p:sp>
        <p:nvSpPr>
          <p:cNvPr id="4" name="Oval 3"/>
          <p:cNvSpPr/>
          <p:nvPr/>
        </p:nvSpPr>
        <p:spPr>
          <a:xfrm>
            <a:off x="9875520" y="2148840"/>
            <a:ext cx="3383280" cy="3383280"/>
          </a:xfrm>
          <a:prstGeom prst="ellipse">
            <a:avLst/>
          </a:prstGeom>
          <a:solidFill>
            <a:srgbClr val="368EF8"/>
          </a:solidFill>
          <a:ln>
            <a:noFill/>
          </a:ln>
        </p:spPr>
        <p:txBody>
          <a:bodyPr rtlCol="0" anchor="ctr"/>
          <a:lstStyle/>
          <a:p>
            <a:pPr algn="ctr"/>
          </a:p>
        </p:txBody>
      </p:sp>
      <p:sp>
        <p:nvSpPr>
          <p:cNvPr id="5" name="Freeform 4"/>
          <p:cNvSpPr/>
          <p:nvPr/>
        </p:nvSpPr>
        <p:spPr>
          <a:xfrm>
            <a:off x="9875522" y="2148971"/>
            <a:ext cx="1828795" cy="2011417"/>
          </a:xfrm>
          <a:custGeom>
            <a:avLst/>
            <a:gdLst/>
            <a:ahLst/>
            <a:cxnLst/>
            <a:rect l="l" t="t" r="r" b="b"/>
            <a:pathLst>
              <a:path w="1828795" h="2011417">
                <a:moveTo>
                  <a:pt x="1798900" y="3273"/>
                </a:moveTo>
                <a:lnTo>
                  <a:pt x="1809722" y="66581"/>
                </a:lnTo>
                <a:lnTo>
                  <a:pt x="1818133" y="130255"/>
                </a:lnTo>
                <a:lnTo>
                  <a:pt x="1824120" y="194202"/>
                </a:lnTo>
                <a:lnTo>
                  <a:pt x="1827676" y="258330"/>
                </a:lnTo>
                <a:lnTo>
                  <a:pt x="1828795" y="322547"/>
                </a:lnTo>
                <a:lnTo>
                  <a:pt x="1827476" y="386760"/>
                </a:lnTo>
                <a:lnTo>
                  <a:pt x="1823720" y="450877"/>
                </a:lnTo>
                <a:lnTo>
                  <a:pt x="1817533" y="514805"/>
                </a:lnTo>
                <a:lnTo>
                  <a:pt x="1808923" y="578452"/>
                </a:lnTo>
                <a:lnTo>
                  <a:pt x="1797904" y="641727"/>
                </a:lnTo>
                <a:lnTo>
                  <a:pt x="1784491" y="704537"/>
                </a:lnTo>
                <a:lnTo>
                  <a:pt x="1768703" y="766793"/>
                </a:lnTo>
                <a:lnTo>
                  <a:pt x="1750563" y="828405"/>
                </a:lnTo>
                <a:lnTo>
                  <a:pt x="1730097" y="889284"/>
                </a:lnTo>
                <a:lnTo>
                  <a:pt x="1707335" y="949342"/>
                </a:lnTo>
                <a:lnTo>
                  <a:pt x="1682310" y="1008493"/>
                </a:lnTo>
                <a:lnTo>
                  <a:pt x="1655058" y="1066651"/>
                </a:lnTo>
                <a:lnTo>
                  <a:pt x="1625617" y="1123733"/>
                </a:lnTo>
                <a:lnTo>
                  <a:pt x="1594031" y="1179656"/>
                </a:lnTo>
                <a:lnTo>
                  <a:pt x="1560344" y="1234340"/>
                </a:lnTo>
                <a:lnTo>
                  <a:pt x="1524607" y="1287705"/>
                </a:lnTo>
                <a:lnTo>
                  <a:pt x="1486869" y="1339676"/>
                </a:lnTo>
                <a:lnTo>
                  <a:pt x="1447185" y="1390176"/>
                </a:lnTo>
                <a:lnTo>
                  <a:pt x="1405613" y="1439134"/>
                </a:lnTo>
                <a:lnTo>
                  <a:pt x="1362213" y="1486478"/>
                </a:lnTo>
                <a:lnTo>
                  <a:pt x="1317046" y="1532141"/>
                </a:lnTo>
                <a:lnTo>
                  <a:pt x="1270179" y="1576056"/>
                </a:lnTo>
                <a:lnTo>
                  <a:pt x="1221679" y="1618161"/>
                </a:lnTo>
                <a:lnTo>
                  <a:pt x="1171615" y="1658394"/>
                </a:lnTo>
                <a:lnTo>
                  <a:pt x="1120060" y="1696698"/>
                </a:lnTo>
                <a:lnTo>
                  <a:pt x="1067088" y="1733017"/>
                </a:lnTo>
                <a:lnTo>
                  <a:pt x="1012776" y="1767299"/>
                </a:lnTo>
                <a:lnTo>
                  <a:pt x="957202" y="1799494"/>
                </a:lnTo>
                <a:lnTo>
                  <a:pt x="900445" y="1829557"/>
                </a:lnTo>
                <a:lnTo>
                  <a:pt x="842588" y="1857443"/>
                </a:lnTo>
                <a:lnTo>
                  <a:pt x="783714" y="1883114"/>
                </a:lnTo>
                <a:lnTo>
                  <a:pt x="723909" y="1906530"/>
                </a:lnTo>
                <a:lnTo>
                  <a:pt x="663257" y="1927660"/>
                </a:lnTo>
                <a:lnTo>
                  <a:pt x="601847" y="1946472"/>
                </a:lnTo>
                <a:lnTo>
                  <a:pt x="539767" y="1962940"/>
                </a:lnTo>
                <a:lnTo>
                  <a:pt x="477107" y="1977039"/>
                </a:lnTo>
                <a:lnTo>
                  <a:pt x="413957" y="1988749"/>
                </a:lnTo>
                <a:lnTo>
                  <a:pt x="350408" y="1998053"/>
                </a:lnTo>
                <a:lnTo>
                  <a:pt x="286551" y="2004939"/>
                </a:lnTo>
                <a:lnTo>
                  <a:pt x="222479" y="2009395"/>
                </a:lnTo>
                <a:lnTo>
                  <a:pt x="158284" y="2011417"/>
                </a:lnTo>
                <a:lnTo>
                  <a:pt x="94058" y="2010999"/>
                </a:lnTo>
                <a:lnTo>
                  <a:pt x="29895" y="2008144"/>
                </a:lnTo>
                <a:lnTo>
                  <a:pt x="29895" y="2008144"/>
                </a:lnTo>
                <a:lnTo>
                  <a:pt x="19073" y="1944836"/>
                </a:lnTo>
                <a:lnTo>
                  <a:pt x="10662" y="1881162"/>
                </a:lnTo>
                <a:lnTo>
                  <a:pt x="4675" y="1817215"/>
                </a:lnTo>
                <a:lnTo>
                  <a:pt x="1119" y="1753087"/>
                </a:lnTo>
                <a:lnTo>
                  <a:pt x="0" y="1688870"/>
                </a:lnTo>
                <a:lnTo>
                  <a:pt x="1319" y="1624657"/>
                </a:lnTo>
                <a:lnTo>
                  <a:pt x="5075" y="1560540"/>
                </a:lnTo>
                <a:lnTo>
                  <a:pt x="11262" y="1496612"/>
                </a:lnTo>
                <a:lnTo>
                  <a:pt x="19872" y="1432965"/>
                </a:lnTo>
                <a:lnTo>
                  <a:pt x="30891" y="1369690"/>
                </a:lnTo>
                <a:lnTo>
                  <a:pt x="44304" y="1306880"/>
                </a:lnTo>
                <a:lnTo>
                  <a:pt x="60092" y="1244624"/>
                </a:lnTo>
                <a:lnTo>
                  <a:pt x="78232" y="1183012"/>
                </a:lnTo>
                <a:lnTo>
                  <a:pt x="98698" y="1122133"/>
                </a:lnTo>
                <a:lnTo>
                  <a:pt x="121460" y="1062075"/>
                </a:lnTo>
                <a:lnTo>
                  <a:pt x="146485" y="1002924"/>
                </a:lnTo>
                <a:lnTo>
                  <a:pt x="173737" y="944766"/>
                </a:lnTo>
                <a:lnTo>
                  <a:pt x="203178" y="887684"/>
                </a:lnTo>
                <a:lnTo>
                  <a:pt x="234764" y="831761"/>
                </a:lnTo>
                <a:lnTo>
                  <a:pt x="268451" y="777077"/>
                </a:lnTo>
                <a:lnTo>
                  <a:pt x="304188" y="723712"/>
                </a:lnTo>
                <a:lnTo>
                  <a:pt x="341926" y="671741"/>
                </a:lnTo>
                <a:lnTo>
                  <a:pt x="381610" y="621241"/>
                </a:lnTo>
                <a:lnTo>
                  <a:pt x="423182" y="572283"/>
                </a:lnTo>
                <a:lnTo>
                  <a:pt x="466582" y="524939"/>
                </a:lnTo>
                <a:lnTo>
                  <a:pt x="511749" y="479276"/>
                </a:lnTo>
                <a:lnTo>
                  <a:pt x="558616" y="435361"/>
                </a:lnTo>
                <a:lnTo>
                  <a:pt x="607116" y="393256"/>
                </a:lnTo>
                <a:lnTo>
                  <a:pt x="657180" y="353023"/>
                </a:lnTo>
                <a:lnTo>
                  <a:pt x="708735" y="314719"/>
                </a:lnTo>
                <a:lnTo>
                  <a:pt x="761707" y="278400"/>
                </a:lnTo>
                <a:lnTo>
                  <a:pt x="816019" y="244118"/>
                </a:lnTo>
                <a:lnTo>
                  <a:pt x="871593" y="211923"/>
                </a:lnTo>
                <a:lnTo>
                  <a:pt x="928350" y="181860"/>
                </a:lnTo>
                <a:lnTo>
                  <a:pt x="986207" y="153974"/>
                </a:lnTo>
                <a:lnTo>
                  <a:pt x="1045081" y="128303"/>
                </a:lnTo>
                <a:lnTo>
                  <a:pt x="1104886" y="104887"/>
                </a:lnTo>
                <a:lnTo>
                  <a:pt x="1165538" y="83757"/>
                </a:lnTo>
                <a:lnTo>
                  <a:pt x="1226948" y="64945"/>
                </a:lnTo>
                <a:lnTo>
                  <a:pt x="1289028" y="48477"/>
                </a:lnTo>
                <a:lnTo>
                  <a:pt x="1351688" y="34378"/>
                </a:lnTo>
                <a:lnTo>
                  <a:pt x="1414838" y="22668"/>
                </a:lnTo>
                <a:lnTo>
                  <a:pt x="1478387" y="13364"/>
                </a:lnTo>
                <a:lnTo>
                  <a:pt x="1542244" y="6478"/>
                </a:lnTo>
                <a:lnTo>
                  <a:pt x="1606316" y="2022"/>
                </a:lnTo>
                <a:lnTo>
                  <a:pt x="1670511" y="0"/>
                </a:lnTo>
                <a:lnTo>
                  <a:pt x="1734737" y="418"/>
                </a:lnTo>
                <a:lnTo>
                  <a:pt x="1798900" y="3273"/>
                </a:lnTo>
                <a:close/>
              </a:path>
            </a:pathLst>
          </a:custGeom>
          <a:solidFill>
            <a:srgbClr val="C19678"/>
          </a:solidFill>
          <a:ln>
            <a:noFill/>
          </a:ln>
        </p:spPr>
        <p:txBody>
          <a:bodyPr rtlCol="0" anchor="ctr"/>
          <a:lstStyle/>
          <a:p>
            <a:pPr algn="ctr"/>
          </a:p>
        </p:txBody>
      </p:sp>
      <p:sp>
        <p:nvSpPr>
          <p:cNvPr id="6" name="TextBox 5"/>
          <p:cNvSpPr txBox="1"/>
          <p:nvPr/>
        </p:nvSpPr>
        <p:spPr>
          <a:xfrm>
            <a:off x="731520" y="1325880"/>
            <a:ext cx="7680960" cy="274320"/>
          </a:xfrm>
          <a:prstGeom prst="rect">
            <a:avLst/>
          </a:prstGeom>
          <a:noFill/>
        </p:spPr>
        <p:txBody>
          <a:bodyPr wrap="square" lIns="0" rIns="0" tIns="0" bIns="0" anchor="t">
            <a:noAutofit/>
          </a:bodyPr>
          <a:lstStyle/>
          <a:p>
            <a:pPr algn="l">
              <a:lnSpc>
                <a:spcPct val="110000"/>
              </a:lnSpc>
              <a:spcAft>
                <a:spcPts val="0"/>
              </a:spcAft>
            </a:pPr>
            <a:r>
              <a:rPr sz="1200" i="0" b="1" spc="200">
                <a:solidFill>
                  <a:srgbClr val="FF9438"/>
                </a:solidFill>
                <a:latin typeface="Arial"/>
              </a:rPr>
              <a:t>PARTNERIZE  ·  SENIOR DATA ANALYST HOME ASSIGNMENT</a:t>
            </a:r>
          </a:p>
        </p:txBody>
      </p:sp>
      <p:sp>
        <p:nvSpPr>
          <p:cNvPr id="7" name="TextBox 6"/>
          <p:cNvSpPr txBox="1"/>
          <p:nvPr/>
        </p:nvSpPr>
        <p:spPr>
          <a:xfrm>
            <a:off x="731520" y="1783080"/>
            <a:ext cx="7223760" cy="1600200"/>
          </a:xfrm>
          <a:prstGeom prst="rect">
            <a:avLst/>
          </a:prstGeom>
          <a:noFill/>
        </p:spPr>
        <p:txBody>
          <a:bodyPr wrap="square" lIns="0" rIns="0" tIns="0" bIns="0" anchor="t">
            <a:noAutofit/>
          </a:bodyPr>
          <a:lstStyle/>
          <a:p>
            <a:pPr algn="l">
              <a:lnSpc>
                <a:spcPct val="100000"/>
              </a:lnSpc>
              <a:spcAft>
                <a:spcPts val="0"/>
              </a:spcAft>
            </a:pPr>
            <a:r>
              <a:rPr sz="4200" i="0" b="0">
                <a:solidFill>
                  <a:srgbClr val="D9BC9F"/>
                </a:solidFill>
                <a:latin typeface="Georgia"/>
              </a:rPr>
              <a:t>Saatva's</a:t>
            </a:r>
            <a:r>
              <a:rPr sz="4200" i="0" b="0">
                <a:solidFill>
                  <a:srgbClr val="FFFFFF"/>
                </a:solidFill>
                <a:latin typeface="Georgia"/>
              </a:rPr>
              <a:t> affiliate program vs. US mattress competitors</a:t>
            </a:r>
          </a:p>
        </p:txBody>
      </p:sp>
      <p:sp>
        <p:nvSpPr>
          <p:cNvPr id="8" name="TextBox 7"/>
          <p:cNvSpPr txBox="1"/>
          <p:nvPr/>
        </p:nvSpPr>
        <p:spPr>
          <a:xfrm>
            <a:off x="731520" y="3520440"/>
            <a:ext cx="7315200" cy="365760"/>
          </a:xfrm>
          <a:prstGeom prst="rect">
            <a:avLst/>
          </a:prstGeom>
          <a:noFill/>
        </p:spPr>
        <p:txBody>
          <a:bodyPr wrap="square" lIns="0" rIns="0" tIns="0" bIns="0" anchor="t">
            <a:noAutofit/>
          </a:bodyPr>
          <a:lstStyle/>
          <a:p>
            <a:pPr algn="l">
              <a:lnSpc>
                <a:spcPct val="110000"/>
              </a:lnSpc>
              <a:spcAft>
                <a:spcPts val="0"/>
              </a:spcAft>
            </a:pPr>
            <a:r>
              <a:rPr sz="1700" i="0" b="0">
                <a:solidFill>
                  <a:srgbClr val="C9D6E3"/>
                </a:solidFill>
                <a:latin typeface="Arial"/>
              </a:rPr>
              <a:t>Clicks and conversions  ·  Growth levers  ·  Attribution hijacking</a:t>
            </a:r>
          </a:p>
        </p:txBody>
      </p:sp>
      <p:sp>
        <p:nvSpPr>
          <p:cNvPr id="9" name="TextBox 8"/>
          <p:cNvSpPr txBox="1"/>
          <p:nvPr/>
        </p:nvSpPr>
        <p:spPr>
          <a:xfrm>
            <a:off x="731520" y="5230368"/>
            <a:ext cx="7315200" cy="292608"/>
          </a:xfrm>
          <a:prstGeom prst="rect">
            <a:avLst/>
          </a:prstGeom>
          <a:noFill/>
        </p:spPr>
        <p:txBody>
          <a:bodyPr wrap="square" lIns="0" rIns="0" tIns="0" bIns="0" anchor="t">
            <a:noAutofit/>
          </a:bodyPr>
          <a:lstStyle/>
          <a:p>
            <a:pPr algn="l">
              <a:lnSpc>
                <a:spcPct val="110000"/>
              </a:lnSpc>
              <a:spcAft>
                <a:spcPts val="0"/>
              </a:spcAft>
            </a:pPr>
            <a:r>
              <a:rPr sz="1600" i="0" b="1">
                <a:solidFill>
                  <a:srgbClr val="FFFFFF"/>
                </a:solidFill>
                <a:latin typeface="Arial"/>
              </a:rPr>
              <a:t>Hagay Gross</a:t>
            </a:r>
          </a:p>
        </p:txBody>
      </p:sp>
      <p:sp>
        <p:nvSpPr>
          <p:cNvPr id="10" name="TextBox 9"/>
          <p:cNvSpPr txBox="1"/>
          <p:nvPr/>
        </p:nvSpPr>
        <p:spPr>
          <a:xfrm>
            <a:off x="731520" y="5559552"/>
            <a:ext cx="8229600" cy="274320"/>
          </a:xfrm>
          <a:prstGeom prst="rect">
            <a:avLst/>
          </a:prstGeom>
          <a:noFill/>
        </p:spPr>
        <p:txBody>
          <a:bodyPr wrap="square" lIns="0" rIns="0" tIns="0" bIns="0" anchor="t">
            <a:noAutofit/>
          </a:bodyPr>
          <a:lstStyle/>
          <a:p>
            <a:pPr algn="l">
              <a:lnSpc>
                <a:spcPct val="110000"/>
              </a:lnSpc>
              <a:spcAft>
                <a:spcPts val="0"/>
              </a:spcAft>
            </a:pPr>
            <a:r>
              <a:rPr sz="1150" i="0" b="0">
                <a:solidFill>
                  <a:srgbClr val="9FB3C8"/>
                </a:solidFill>
                <a:latin typeface="Arial"/>
              </a:rPr>
              <a:t>October 2026  ·  Data: US clickstream panel, 1 May 2026 (48.4M events, 784K users)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THE ANSWER</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is Saatva's edge; quality is the next lever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2</a:t>
            </a:r>
          </a:p>
        </p:txBody>
      </p:sp>
      <p:sp>
        <p:nvSpPr>
          <p:cNvPr id="8" name="Rectangle 7"/>
          <p:cNvSpPr/>
          <p:nvPr/>
        </p:nvSpPr>
        <p:spPr>
          <a:xfrm>
            <a:off x="548640" y="1508760"/>
            <a:ext cx="3515258" cy="2514600"/>
          </a:xfrm>
          <a:prstGeom prst="rect">
            <a:avLst/>
          </a:prstGeom>
          <a:solidFill>
            <a:srgbClr val="F3F6F9"/>
          </a:solidFill>
          <a:ln>
            <a:noFill/>
          </a:ln>
        </p:spPr>
        <p:txBody>
          <a:bodyPr rtlCol="0" anchor="ctr"/>
          <a:lstStyle/>
          <a:p>
            <a:pPr algn="ctr"/>
          </a:p>
        </p:txBody>
      </p:sp>
      <p:sp>
        <p:nvSpPr>
          <p:cNvPr id="9" name="Oval 8"/>
          <p:cNvSpPr/>
          <p:nvPr/>
        </p:nvSpPr>
        <p:spPr>
          <a:xfrm>
            <a:off x="822959" y="1810512"/>
            <a:ext cx="146304" cy="146304"/>
          </a:xfrm>
          <a:prstGeom prst="ellipse">
            <a:avLst/>
          </a:prstGeom>
          <a:solidFill>
            <a:srgbClr val="B5793F"/>
          </a:solidFill>
          <a:ln>
            <a:noFill/>
          </a:ln>
        </p:spPr>
        <p:txBody>
          <a:bodyPr rtlCol="0" anchor="ctr"/>
          <a:lstStyle/>
          <a:p>
            <a:pPr algn="ctr"/>
          </a:p>
        </p:txBody>
      </p:sp>
      <p:sp>
        <p:nvSpPr>
          <p:cNvPr id="10" name="TextBox 9"/>
          <p:cNvSpPr txBox="1"/>
          <p:nvPr/>
        </p:nvSpPr>
        <p:spPr>
          <a:xfrm>
            <a:off x="1051560"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traffic share</a:t>
            </a:r>
          </a:p>
        </p:txBody>
      </p:sp>
      <p:sp>
        <p:nvSpPr>
          <p:cNvPr id="11" name="TextBox 10"/>
          <p:cNvSpPr txBox="1"/>
          <p:nvPr/>
        </p:nvSpPr>
        <p:spPr>
          <a:xfrm>
            <a:off x="822959"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a:t>
            </a:r>
          </a:p>
        </p:txBody>
      </p:sp>
      <p:sp>
        <p:nvSpPr>
          <p:cNvPr id="12" name="TextBox 11"/>
          <p:cNvSpPr txBox="1"/>
          <p:nvPr/>
        </p:nvSpPr>
        <p:spPr>
          <a:xfrm>
            <a:off x="822959"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visits start with an affiliate click</a:t>
            </a:r>
          </a:p>
        </p:txBody>
      </p:sp>
      <p:sp>
        <p:nvSpPr>
          <p:cNvPr id="13" name="TextBox 12"/>
          <p:cNvSpPr txBox="1"/>
          <p:nvPr/>
        </p:nvSpPr>
        <p:spPr>
          <a:xfrm>
            <a:off x="822959"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Rivals: 4–11%</a:t>
            </a:r>
          </a:p>
        </p:txBody>
      </p:sp>
      <p:sp>
        <p:nvSpPr>
          <p:cNvPr id="14" name="Rectangle 13"/>
          <p:cNvSpPr/>
          <p:nvPr/>
        </p:nvSpPr>
        <p:spPr>
          <a:xfrm>
            <a:off x="4338218" y="1508760"/>
            <a:ext cx="3515258" cy="2514600"/>
          </a:xfrm>
          <a:prstGeom prst="rect">
            <a:avLst/>
          </a:prstGeom>
          <a:solidFill>
            <a:srgbClr val="F3F6F9"/>
          </a:solidFill>
          <a:ln>
            <a:noFill/>
          </a:ln>
        </p:spPr>
        <p:txBody>
          <a:bodyPr rtlCol="0" anchor="ctr"/>
          <a:lstStyle/>
          <a:p>
            <a:pPr algn="ctr"/>
          </a:p>
        </p:txBody>
      </p:sp>
      <p:sp>
        <p:nvSpPr>
          <p:cNvPr id="15" name="Oval 14"/>
          <p:cNvSpPr/>
          <p:nvPr/>
        </p:nvSpPr>
        <p:spPr>
          <a:xfrm>
            <a:off x="4612538" y="1810512"/>
            <a:ext cx="146304" cy="146304"/>
          </a:xfrm>
          <a:prstGeom prst="ellipse">
            <a:avLst/>
          </a:prstGeom>
          <a:solidFill>
            <a:srgbClr val="B5793F"/>
          </a:solidFill>
          <a:ln>
            <a:noFill/>
          </a:ln>
        </p:spPr>
        <p:txBody>
          <a:bodyPr rtlCol="0" anchor="ctr"/>
          <a:lstStyle/>
          <a:p>
            <a:pPr algn="ctr"/>
          </a:p>
        </p:txBody>
      </p:sp>
      <p:sp>
        <p:nvSpPr>
          <p:cNvPr id="16" name="TextBox 15"/>
          <p:cNvSpPr txBox="1"/>
          <p:nvPr/>
        </p:nvSpPr>
        <p:spPr>
          <a:xfrm>
            <a:off x="4841138"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US volume</a:t>
            </a:r>
          </a:p>
        </p:txBody>
      </p:sp>
      <p:sp>
        <p:nvSpPr>
          <p:cNvPr id="17" name="TextBox 16"/>
          <p:cNvSpPr txBox="1"/>
          <p:nvPr/>
        </p:nvSpPr>
        <p:spPr>
          <a:xfrm>
            <a:off x="4612538"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~16.7K</a:t>
            </a:r>
          </a:p>
        </p:txBody>
      </p:sp>
      <p:sp>
        <p:nvSpPr>
          <p:cNvPr id="18" name="TextBox 17"/>
          <p:cNvSpPr txBox="1"/>
          <p:nvPr/>
        </p:nvSpPr>
        <p:spPr>
          <a:xfrm>
            <a:off x="4612538"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affiliate clicks a day</a:t>
            </a:r>
          </a:p>
        </p:txBody>
      </p:sp>
      <p:sp>
        <p:nvSpPr>
          <p:cNvPr id="19" name="TextBox 18"/>
          <p:cNvSpPr txBox="1"/>
          <p:nvPr/>
        </p:nvSpPr>
        <p:spPr>
          <a:xfrm>
            <a:off x="4612538"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Range 6.1K–36.4K  ·  84–334 orders a day</a:t>
            </a:r>
          </a:p>
        </p:txBody>
      </p:sp>
      <p:sp>
        <p:nvSpPr>
          <p:cNvPr id="20" name="Rectangle 19"/>
          <p:cNvSpPr/>
          <p:nvPr/>
        </p:nvSpPr>
        <p:spPr>
          <a:xfrm>
            <a:off x="8127796" y="1508760"/>
            <a:ext cx="3515258" cy="2514600"/>
          </a:xfrm>
          <a:prstGeom prst="rect">
            <a:avLst/>
          </a:prstGeom>
          <a:solidFill>
            <a:srgbClr val="F3F6F9"/>
          </a:solidFill>
          <a:ln>
            <a:noFill/>
          </a:ln>
        </p:spPr>
        <p:txBody>
          <a:bodyPr rtlCol="0" anchor="ctr"/>
          <a:lstStyle/>
          <a:p>
            <a:pPr algn="ctr"/>
          </a:p>
        </p:txBody>
      </p:sp>
      <p:sp>
        <p:nvSpPr>
          <p:cNvPr id="21" name="Oval 20"/>
          <p:cNvSpPr/>
          <p:nvPr/>
        </p:nvSpPr>
        <p:spPr>
          <a:xfrm>
            <a:off x="8402116" y="1810512"/>
            <a:ext cx="146304" cy="146304"/>
          </a:xfrm>
          <a:prstGeom prst="ellipse">
            <a:avLst/>
          </a:prstGeom>
          <a:solidFill>
            <a:srgbClr val="FF9438"/>
          </a:solidFill>
          <a:ln>
            <a:noFill/>
          </a:ln>
        </p:spPr>
        <p:txBody>
          <a:bodyPr rtlCol="0" anchor="ctr"/>
          <a:lstStyle/>
          <a:p>
            <a:pPr algn="ctr"/>
          </a:p>
        </p:txBody>
      </p:sp>
      <p:sp>
        <p:nvSpPr>
          <p:cNvPr id="22" name="TextBox 21"/>
          <p:cNvSpPr txBox="1"/>
          <p:nvPr/>
        </p:nvSpPr>
        <p:spPr>
          <a:xfrm>
            <a:off x="8630716"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 hijacking</a:t>
            </a:r>
          </a:p>
        </p:txBody>
      </p:sp>
      <p:sp>
        <p:nvSpPr>
          <p:cNvPr id="23" name="TextBox 22"/>
          <p:cNvSpPr txBox="1"/>
          <p:nvPr/>
        </p:nvSpPr>
        <p:spPr>
          <a:xfrm>
            <a:off x="8402116"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51–79%</a:t>
            </a:r>
          </a:p>
        </p:txBody>
      </p:sp>
      <p:sp>
        <p:nvSpPr>
          <p:cNvPr id="24" name="TextBox 23"/>
          <p:cNvSpPr txBox="1"/>
          <p:nvPr/>
        </p:nvSpPr>
        <p:spPr>
          <a:xfrm>
            <a:off x="8402116"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affiliate orders go to flagged clicks</a:t>
            </a:r>
          </a:p>
        </p:txBody>
      </p:sp>
      <p:sp>
        <p:nvSpPr>
          <p:cNvPr id="25" name="TextBox 24"/>
          <p:cNvSpPr txBox="1"/>
          <p:nvPr/>
        </p:nvSpPr>
        <p:spPr>
          <a:xfrm>
            <a:off x="8402116"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26–41% of shoppers' clicks carry the signals</a:t>
            </a:r>
          </a:p>
        </p:txBody>
      </p:sp>
      <p:sp>
        <p:nvSpPr>
          <p:cNvPr id="26" name="Rectangle 25"/>
          <p:cNvSpPr/>
          <p:nvPr/>
        </p:nvSpPr>
        <p:spPr>
          <a:xfrm>
            <a:off x="548640" y="4251960"/>
            <a:ext cx="5410047" cy="1920240"/>
          </a:xfrm>
          <a:prstGeom prst="rect">
            <a:avLst/>
          </a:prstGeom>
          <a:solidFill>
            <a:srgbClr val="F6EFE8"/>
          </a:solidFill>
          <a:ln>
            <a:noFill/>
          </a:ln>
        </p:spPr>
        <p:txBody>
          <a:bodyPr rtlCol="0" anchor="ctr"/>
          <a:lstStyle/>
          <a:p>
            <a:pPr algn="ctr"/>
          </a:p>
        </p:txBody>
      </p:sp>
      <p:sp>
        <p:nvSpPr>
          <p:cNvPr id="27" name="TextBox 26"/>
          <p:cNvSpPr txBox="1"/>
          <p:nvPr/>
        </p:nvSpPr>
        <p:spPr>
          <a:xfrm>
            <a:off x="822959"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Grow the program</a:t>
            </a:r>
          </a:p>
        </p:txBody>
      </p:sp>
      <p:sp>
        <p:nvSpPr>
          <p:cNvPr id="28" name="Oval 27"/>
          <p:cNvSpPr/>
          <p:nvPr/>
        </p:nvSpPr>
        <p:spPr>
          <a:xfrm>
            <a:off x="822959" y="487375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29" name="TextBox 28"/>
          <p:cNvSpPr txBox="1"/>
          <p:nvPr/>
        </p:nvSpPr>
        <p:spPr>
          <a:xfrm>
            <a:off x="1261872"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Recruit review and HSA/FSA partners</a:t>
            </a:r>
          </a:p>
        </p:txBody>
      </p:sp>
      <p:sp>
        <p:nvSpPr>
          <p:cNvPr id="30" name="Oval 29"/>
          <p:cNvSpPr/>
          <p:nvPr/>
        </p:nvSpPr>
        <p:spPr>
          <a:xfrm>
            <a:off x="822959" y="528523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1" name="TextBox 30"/>
          <p:cNvSpPr txBox="1"/>
          <p:nvPr/>
        </p:nvSpPr>
        <p:spPr>
          <a:xfrm>
            <a:off x="1261872"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Give each publisher its own coupon code</a:t>
            </a:r>
          </a:p>
        </p:txBody>
      </p:sp>
      <p:sp>
        <p:nvSpPr>
          <p:cNvPr id="32" name="Oval 31"/>
          <p:cNvSpPr/>
          <p:nvPr/>
        </p:nvSpPr>
        <p:spPr>
          <a:xfrm>
            <a:off x="822959" y="569671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33" name="TextBox 32"/>
          <p:cNvSpPr txBox="1"/>
          <p:nvPr/>
        </p:nvSpPr>
        <p:spPr>
          <a:xfrm>
            <a:off x="1261872"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Pay for the assist, not the last touch</a:t>
            </a:r>
          </a:p>
        </p:txBody>
      </p:sp>
      <p:sp>
        <p:nvSpPr>
          <p:cNvPr id="34" name="Rectangle 33"/>
          <p:cNvSpPr/>
          <p:nvPr/>
        </p:nvSpPr>
        <p:spPr>
          <a:xfrm>
            <a:off x="6233007" y="4251960"/>
            <a:ext cx="5410047" cy="1920240"/>
          </a:xfrm>
          <a:prstGeom prst="rect">
            <a:avLst/>
          </a:prstGeom>
          <a:solidFill>
            <a:srgbClr val="FFF1E5"/>
          </a:solidFill>
          <a:ln>
            <a:noFill/>
          </a:ln>
        </p:spPr>
        <p:txBody>
          <a:bodyPr rtlCol="0" anchor="ctr"/>
          <a:lstStyle/>
          <a:p>
            <a:pPr algn="ctr"/>
          </a:p>
        </p:txBody>
      </p:sp>
      <p:sp>
        <p:nvSpPr>
          <p:cNvPr id="35" name="TextBox 34"/>
          <p:cNvSpPr txBox="1"/>
          <p:nvPr/>
        </p:nvSpPr>
        <p:spPr>
          <a:xfrm>
            <a:off x="6507327"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Protect it from hijacking</a:t>
            </a:r>
          </a:p>
        </p:txBody>
      </p:sp>
      <p:sp>
        <p:nvSpPr>
          <p:cNvPr id="36" name="Oval 35"/>
          <p:cNvSpPr/>
          <p:nvPr/>
        </p:nvSpPr>
        <p:spPr>
          <a:xfrm>
            <a:off x="6507327" y="487375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37" name="TextBox 36"/>
          <p:cNvSpPr txBox="1"/>
          <p:nvPr/>
        </p:nvSpPr>
        <p:spPr>
          <a:xfrm>
            <a:off x="6946239"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Reconcile clicks with site landings</a:t>
            </a:r>
          </a:p>
        </p:txBody>
      </p:sp>
      <p:sp>
        <p:nvSpPr>
          <p:cNvPr id="38" name="Oval 37"/>
          <p:cNvSpPr/>
          <p:nvPr/>
        </p:nvSpPr>
        <p:spPr>
          <a:xfrm>
            <a:off x="6507327" y="528523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9" name="TextBox 38"/>
          <p:cNvSpPr txBox="1"/>
          <p:nvPr/>
        </p:nvSpPr>
        <p:spPr>
          <a:xfrm>
            <a:off x="6946239"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No commission overwrite after a cart</a:t>
            </a:r>
          </a:p>
        </p:txBody>
      </p:sp>
      <p:sp>
        <p:nvSpPr>
          <p:cNvPr id="40" name="Oval 39"/>
          <p:cNvSpPr/>
          <p:nvPr/>
        </p:nvSpPr>
        <p:spPr>
          <a:xfrm>
            <a:off x="6507327" y="569671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41" name="TextBox 40"/>
          <p:cNvSpPr txBox="1"/>
          <p:nvPr/>
        </p:nvSpPr>
        <p:spPr>
          <a:xfrm>
            <a:off x="6946239"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Extension stand-down and a PPC policy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TRAFFIC MIX</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drives 16% of Saatva's visits, the top share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3</a:t>
            </a:r>
          </a:p>
        </p:txBody>
      </p:sp>
      <p:sp>
        <p:nvSpPr>
          <p:cNvPr id="8" name="TextBox 7"/>
          <p:cNvSpPr txBox="1"/>
          <p:nvPr/>
        </p:nvSpPr>
        <p:spPr>
          <a:xfrm>
            <a:off x="2377440" y="1572768"/>
            <a:ext cx="59436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visits that start with an affiliate click</a:t>
            </a:r>
          </a:p>
        </p:txBody>
      </p:sp>
      <p:sp>
        <p:nvSpPr>
          <p:cNvPr id="9" name="TextBox 8"/>
          <p:cNvSpPr txBox="1"/>
          <p:nvPr/>
        </p:nvSpPr>
        <p:spPr>
          <a:xfrm>
            <a:off x="9098280" y="1572768"/>
            <a:ext cx="25603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Similarweb: #1 channel</a:t>
            </a:r>
          </a:p>
        </p:txBody>
      </p:sp>
      <p:sp>
        <p:nvSpPr>
          <p:cNvPr id="10" name="TextBox 9"/>
          <p:cNvSpPr txBox="1"/>
          <p:nvPr/>
        </p:nvSpPr>
        <p:spPr>
          <a:xfrm>
            <a:off x="548640" y="2057400"/>
            <a:ext cx="1737360" cy="274320"/>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11" name="TextBox 10"/>
          <p:cNvSpPr txBox="1"/>
          <p:nvPr/>
        </p:nvSpPr>
        <p:spPr>
          <a:xfrm>
            <a:off x="548640" y="2331720"/>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25 visits</a:t>
            </a:r>
          </a:p>
        </p:txBody>
      </p:sp>
      <p:sp>
        <p:nvSpPr>
          <p:cNvPr id="12" name="Round Same Side Corner Rectangle 11"/>
          <p:cNvSpPr/>
          <p:nvPr/>
        </p:nvSpPr>
        <p:spPr>
          <a:xfrm rot="5400000">
            <a:off x="4718304" y="-237744"/>
            <a:ext cx="292608" cy="4974336"/>
          </a:xfrm>
          <a:prstGeom prst="round2SameRect">
            <a:avLst>
              <a:gd name="adj1" fmla="val 14000"/>
              <a:gd name="adj2" fmla="val 0"/>
            </a:avLst>
          </a:prstGeom>
          <a:solidFill>
            <a:srgbClr val="B5793F"/>
          </a:solidFill>
          <a:ln>
            <a:noFill/>
          </a:ln>
        </p:spPr>
        <p:txBody>
          <a:bodyPr rtlCol="0" anchor="ctr"/>
          <a:lstStyle/>
          <a:p>
            <a:pPr algn="ctr"/>
          </a:p>
        </p:txBody>
      </p:sp>
      <p:sp>
        <p:nvSpPr>
          <p:cNvPr id="13" name="TextBox 12"/>
          <p:cNvSpPr txBox="1"/>
          <p:nvPr/>
        </p:nvSpPr>
        <p:spPr>
          <a:xfrm>
            <a:off x="7461504" y="2112263"/>
            <a:ext cx="91440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16.0%</a:t>
            </a:r>
          </a:p>
        </p:txBody>
      </p:sp>
      <p:sp>
        <p:nvSpPr>
          <p:cNvPr id="14" name="Rounded Rectangle 13"/>
          <p:cNvSpPr/>
          <p:nvPr/>
        </p:nvSpPr>
        <p:spPr>
          <a:xfrm>
            <a:off x="9098280" y="2093976"/>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23.7%</a:t>
            </a:r>
          </a:p>
        </p:txBody>
      </p:sp>
      <p:sp>
        <p:nvSpPr>
          <p:cNvPr id="15" name="TextBox 14"/>
          <p:cNvSpPr txBox="1"/>
          <p:nvPr/>
        </p:nvSpPr>
        <p:spPr>
          <a:xfrm>
            <a:off x="548640" y="2770632"/>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16" name="TextBox 15"/>
          <p:cNvSpPr txBox="1"/>
          <p:nvPr/>
        </p:nvSpPr>
        <p:spPr>
          <a:xfrm>
            <a:off x="548640" y="3044952"/>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19 visits</a:t>
            </a:r>
          </a:p>
        </p:txBody>
      </p:sp>
      <p:sp>
        <p:nvSpPr>
          <p:cNvPr id="17" name="Round Same Side Corner Rectangle 16"/>
          <p:cNvSpPr/>
          <p:nvPr/>
        </p:nvSpPr>
        <p:spPr>
          <a:xfrm rot="5400000">
            <a:off x="3863339" y="1330452"/>
            <a:ext cx="292608" cy="3264408"/>
          </a:xfrm>
          <a:prstGeom prst="round2SameRect">
            <a:avLst>
              <a:gd name="adj1" fmla="val 14000"/>
              <a:gd name="adj2" fmla="val 0"/>
            </a:avLst>
          </a:prstGeom>
          <a:solidFill>
            <a:srgbClr val="B7C1CC"/>
          </a:solidFill>
          <a:ln>
            <a:noFill/>
          </a:ln>
        </p:spPr>
        <p:txBody>
          <a:bodyPr rtlCol="0" anchor="ctr"/>
          <a:lstStyle/>
          <a:p>
            <a:pPr algn="ctr"/>
          </a:p>
        </p:txBody>
      </p:sp>
      <p:sp>
        <p:nvSpPr>
          <p:cNvPr id="18" name="TextBox 17"/>
          <p:cNvSpPr txBox="1"/>
          <p:nvPr/>
        </p:nvSpPr>
        <p:spPr>
          <a:xfrm>
            <a:off x="5751576" y="2825496"/>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10.5%</a:t>
            </a:r>
          </a:p>
        </p:txBody>
      </p:sp>
      <p:sp>
        <p:nvSpPr>
          <p:cNvPr id="19" name="Rounded Rectangle 18"/>
          <p:cNvSpPr/>
          <p:nvPr/>
        </p:nvSpPr>
        <p:spPr>
          <a:xfrm>
            <a:off x="9098280" y="2807208"/>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21.0%</a:t>
            </a:r>
          </a:p>
        </p:txBody>
      </p:sp>
      <p:sp>
        <p:nvSpPr>
          <p:cNvPr id="20" name="TextBox 19"/>
          <p:cNvSpPr txBox="1"/>
          <p:nvPr/>
        </p:nvSpPr>
        <p:spPr>
          <a:xfrm>
            <a:off x="548640" y="3483864"/>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21" name="TextBox 20"/>
          <p:cNvSpPr txBox="1"/>
          <p:nvPr/>
        </p:nvSpPr>
        <p:spPr>
          <a:xfrm>
            <a:off x="548640" y="3758183"/>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27 visits</a:t>
            </a:r>
          </a:p>
        </p:txBody>
      </p:sp>
      <p:sp>
        <p:nvSpPr>
          <p:cNvPr id="22" name="Round Same Side Corner Rectangle 21"/>
          <p:cNvSpPr/>
          <p:nvPr/>
        </p:nvSpPr>
        <p:spPr>
          <a:xfrm rot="5400000">
            <a:off x="3381451" y="2525572"/>
            <a:ext cx="292608" cy="2300630"/>
          </a:xfrm>
          <a:prstGeom prst="round2SameRect">
            <a:avLst>
              <a:gd name="adj1" fmla="val 14000"/>
              <a:gd name="adj2" fmla="val 0"/>
            </a:avLst>
          </a:prstGeom>
          <a:solidFill>
            <a:srgbClr val="B7C1CC"/>
          </a:solidFill>
          <a:ln>
            <a:noFill/>
          </a:ln>
        </p:spPr>
        <p:txBody>
          <a:bodyPr rtlCol="0" anchor="ctr"/>
          <a:lstStyle/>
          <a:p>
            <a:pPr algn="ctr"/>
          </a:p>
        </p:txBody>
      </p:sp>
      <p:sp>
        <p:nvSpPr>
          <p:cNvPr id="23" name="TextBox 22"/>
          <p:cNvSpPr txBox="1"/>
          <p:nvPr/>
        </p:nvSpPr>
        <p:spPr>
          <a:xfrm>
            <a:off x="4787798" y="3538727"/>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7.4%</a:t>
            </a:r>
          </a:p>
        </p:txBody>
      </p:sp>
      <p:sp>
        <p:nvSpPr>
          <p:cNvPr id="24" name="Rounded Rectangle 23"/>
          <p:cNvSpPr/>
          <p:nvPr/>
        </p:nvSpPr>
        <p:spPr>
          <a:xfrm>
            <a:off x="9098280" y="3520440"/>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25" name="TextBox 24"/>
          <p:cNvSpPr txBox="1"/>
          <p:nvPr/>
        </p:nvSpPr>
        <p:spPr>
          <a:xfrm>
            <a:off x="548640" y="4197096"/>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TextBox 25"/>
          <p:cNvSpPr txBox="1"/>
          <p:nvPr/>
        </p:nvSpPr>
        <p:spPr>
          <a:xfrm>
            <a:off x="548640" y="4471416"/>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51 visits</a:t>
            </a:r>
          </a:p>
        </p:txBody>
      </p:sp>
      <p:sp>
        <p:nvSpPr>
          <p:cNvPr id="27" name="Round Same Side Corner Rectangle 26"/>
          <p:cNvSpPr/>
          <p:nvPr/>
        </p:nvSpPr>
        <p:spPr>
          <a:xfrm rot="5400000">
            <a:off x="2837383" y="3782872"/>
            <a:ext cx="292608" cy="1212494"/>
          </a:xfrm>
          <a:prstGeom prst="round2SameRect">
            <a:avLst>
              <a:gd name="adj1" fmla="val 14000"/>
              <a:gd name="adj2" fmla="val 0"/>
            </a:avLst>
          </a:prstGeom>
          <a:solidFill>
            <a:srgbClr val="B7C1CC"/>
          </a:solidFill>
          <a:ln>
            <a:noFill/>
          </a:ln>
        </p:spPr>
        <p:txBody>
          <a:bodyPr rtlCol="0" anchor="ctr"/>
          <a:lstStyle/>
          <a:p>
            <a:pPr algn="ctr"/>
          </a:p>
        </p:txBody>
      </p:sp>
      <p:sp>
        <p:nvSpPr>
          <p:cNvPr id="28" name="TextBox 27"/>
          <p:cNvSpPr txBox="1"/>
          <p:nvPr/>
        </p:nvSpPr>
        <p:spPr>
          <a:xfrm>
            <a:off x="3699662" y="4251959"/>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3.9%</a:t>
            </a:r>
          </a:p>
        </p:txBody>
      </p:sp>
      <p:sp>
        <p:nvSpPr>
          <p:cNvPr id="29" name="Rounded Rectangle 28"/>
          <p:cNvSpPr/>
          <p:nvPr/>
        </p:nvSpPr>
        <p:spPr>
          <a:xfrm>
            <a:off x="9098280" y="4233672"/>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30" name="TextBox 29"/>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Walmart</a:t>
            </a:r>
          </a:p>
        </p:txBody>
      </p:sp>
      <p:sp>
        <p:nvSpPr>
          <p:cNvPr id="31" name="TextBox 30"/>
          <p:cNvSpPr txBox="1"/>
          <p:nvPr/>
        </p:nvSpPr>
        <p:spPr>
          <a:xfrm>
            <a:off x="548640" y="5413248"/>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retail benchmark</a:t>
            </a:r>
          </a:p>
        </p:txBody>
      </p:sp>
      <p:sp>
        <p:nvSpPr>
          <p:cNvPr id="32" name="Round Same Side Corner Rectangle 31"/>
          <p:cNvSpPr/>
          <p:nvPr/>
        </p:nvSpPr>
        <p:spPr>
          <a:xfrm rot="5400000">
            <a:off x="3226003" y="4336084"/>
            <a:ext cx="292608" cy="1989734"/>
          </a:xfrm>
          <a:prstGeom prst="round2SameRect">
            <a:avLst>
              <a:gd name="adj1" fmla="val 14000"/>
              <a:gd name="adj2" fmla="val 0"/>
            </a:avLst>
          </a:prstGeom>
          <a:solidFill>
            <a:srgbClr val="D5DCE4"/>
          </a:solidFill>
          <a:ln>
            <a:noFill/>
          </a:ln>
        </p:spPr>
        <p:txBody>
          <a:bodyPr rtlCol="0" anchor="ctr"/>
          <a:lstStyle/>
          <a:p>
            <a:pPr algn="ctr"/>
          </a:p>
        </p:txBody>
      </p:sp>
      <p:sp>
        <p:nvSpPr>
          <p:cNvPr id="33" name="TextBox 32"/>
          <p:cNvSpPr txBox="1"/>
          <p:nvPr/>
        </p:nvSpPr>
        <p:spPr>
          <a:xfrm>
            <a:off x="4476902" y="5193792"/>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6.4%</a:t>
            </a:r>
          </a:p>
        </p:txBody>
      </p:sp>
      <p:cxnSp>
        <p:nvCxnSpPr>
          <p:cNvPr id="34" name="Connector 33"/>
          <p:cNvCxnSpPr/>
          <p:nvPr/>
        </p:nvCxnSpPr>
        <p:spPr>
          <a:xfrm>
            <a:off x="2377440" y="1920239"/>
            <a:ext cx="0" cy="3602737"/>
          </a:xfrm>
          <a:prstGeom prst="line">
            <a:avLst/>
          </a:prstGeom>
          <a:ln w="9525">
            <a:solidFill>
              <a:srgbClr val="1E2833"/>
            </a:solidFill>
          </a:ln>
        </p:spPr>
      </p:cxnSp>
      <p:sp>
        <p:nvSpPr>
          <p:cNvPr id="35" name="TextBox 34"/>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visits, 1 May 2026. Nectar and DreamCloud lean on paid search: 43% and 37% of their visits.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US ESTIMATES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Saatva: ~16.7K US affiliate clicks a day</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4</a:t>
            </a:r>
          </a:p>
        </p:txBody>
      </p:sp>
      <p:sp>
        <p:nvSpPr>
          <p:cNvPr id="8" name="TextBox 7"/>
          <p:cNvSpPr txBox="1"/>
          <p:nvPr/>
        </p:nvSpPr>
        <p:spPr>
          <a:xfrm>
            <a:off x="2377440" y="1481328"/>
            <a:ext cx="57607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Affiliate clicks a day: estimate and 95% interval</a:t>
            </a:r>
          </a:p>
        </p:txBody>
      </p:sp>
      <p:cxnSp>
        <p:nvCxnSpPr>
          <p:cNvPr id="9" name="Connector 8"/>
          <p:cNvCxnSpPr/>
          <p:nvPr/>
        </p:nvCxnSpPr>
        <p:spPr>
          <a:xfrm>
            <a:off x="2377440" y="1783080"/>
            <a:ext cx="0" cy="3200400"/>
          </a:xfrm>
          <a:prstGeom prst="line">
            <a:avLst/>
          </a:prstGeom>
          <a:ln w="9525">
            <a:solidFill>
              <a:srgbClr val="1E2833"/>
            </a:solidFill>
          </a:ln>
        </p:spPr>
      </p:cxnSp>
      <p:sp>
        <p:nvSpPr>
          <p:cNvPr id="10" name="TextBox 9"/>
          <p:cNvSpPr txBox="1"/>
          <p:nvPr/>
        </p:nvSpPr>
        <p:spPr>
          <a:xfrm>
            <a:off x="201168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0</a:t>
            </a:r>
          </a:p>
        </p:txBody>
      </p:sp>
      <p:cxnSp>
        <p:nvCxnSpPr>
          <p:cNvPr id="11" name="Connector 10"/>
          <p:cNvCxnSpPr/>
          <p:nvPr/>
        </p:nvCxnSpPr>
        <p:spPr>
          <a:xfrm>
            <a:off x="3817620" y="1783080"/>
            <a:ext cx="0" cy="3200400"/>
          </a:xfrm>
          <a:prstGeom prst="line">
            <a:avLst/>
          </a:prstGeom>
          <a:ln w="9525">
            <a:solidFill>
              <a:srgbClr val="E3E8EE"/>
            </a:solidFill>
          </a:ln>
        </p:spPr>
      </p:cxnSp>
      <p:sp>
        <p:nvSpPr>
          <p:cNvPr id="12" name="TextBox 11"/>
          <p:cNvSpPr txBox="1"/>
          <p:nvPr/>
        </p:nvSpPr>
        <p:spPr>
          <a:xfrm>
            <a:off x="345186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10K</a:t>
            </a:r>
          </a:p>
        </p:txBody>
      </p:sp>
      <p:cxnSp>
        <p:nvCxnSpPr>
          <p:cNvPr id="13" name="Connector 12"/>
          <p:cNvCxnSpPr/>
          <p:nvPr/>
        </p:nvCxnSpPr>
        <p:spPr>
          <a:xfrm>
            <a:off x="5257800" y="1783080"/>
            <a:ext cx="0" cy="3200400"/>
          </a:xfrm>
          <a:prstGeom prst="line">
            <a:avLst/>
          </a:prstGeom>
          <a:ln w="9525">
            <a:solidFill>
              <a:srgbClr val="E3E8EE"/>
            </a:solidFill>
          </a:ln>
        </p:spPr>
      </p:cxnSp>
      <p:sp>
        <p:nvSpPr>
          <p:cNvPr id="14" name="TextBox 13"/>
          <p:cNvSpPr txBox="1"/>
          <p:nvPr/>
        </p:nvSpPr>
        <p:spPr>
          <a:xfrm>
            <a:off x="489204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20K</a:t>
            </a:r>
          </a:p>
        </p:txBody>
      </p:sp>
      <p:cxnSp>
        <p:nvCxnSpPr>
          <p:cNvPr id="15" name="Connector 14"/>
          <p:cNvCxnSpPr/>
          <p:nvPr/>
        </p:nvCxnSpPr>
        <p:spPr>
          <a:xfrm>
            <a:off x="6697980" y="1783080"/>
            <a:ext cx="0" cy="3200400"/>
          </a:xfrm>
          <a:prstGeom prst="line">
            <a:avLst/>
          </a:prstGeom>
          <a:ln w="9525">
            <a:solidFill>
              <a:srgbClr val="E3E8EE"/>
            </a:solidFill>
          </a:ln>
        </p:spPr>
      </p:cxnSp>
      <p:sp>
        <p:nvSpPr>
          <p:cNvPr id="16" name="TextBox 15"/>
          <p:cNvSpPr txBox="1"/>
          <p:nvPr/>
        </p:nvSpPr>
        <p:spPr>
          <a:xfrm>
            <a:off x="633222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30K</a:t>
            </a:r>
          </a:p>
        </p:txBody>
      </p:sp>
      <p:cxnSp>
        <p:nvCxnSpPr>
          <p:cNvPr id="17" name="Connector 16"/>
          <p:cNvCxnSpPr/>
          <p:nvPr/>
        </p:nvCxnSpPr>
        <p:spPr>
          <a:xfrm>
            <a:off x="8138160" y="1783080"/>
            <a:ext cx="0" cy="3200400"/>
          </a:xfrm>
          <a:prstGeom prst="line">
            <a:avLst/>
          </a:prstGeom>
          <a:ln w="9525">
            <a:solidFill>
              <a:srgbClr val="E3E8EE"/>
            </a:solidFill>
          </a:ln>
        </p:spPr>
      </p:cxnSp>
      <p:sp>
        <p:nvSpPr>
          <p:cNvPr id="18" name="TextBox 17"/>
          <p:cNvSpPr txBox="1"/>
          <p:nvPr/>
        </p:nvSpPr>
        <p:spPr>
          <a:xfrm>
            <a:off x="777240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40K</a:t>
            </a:r>
          </a:p>
        </p:txBody>
      </p:sp>
      <p:sp>
        <p:nvSpPr>
          <p:cNvPr id="19" name="TextBox 18"/>
          <p:cNvSpPr txBox="1"/>
          <p:nvPr/>
        </p:nvSpPr>
        <p:spPr>
          <a:xfrm>
            <a:off x="8732520" y="1481328"/>
            <a:ext cx="292608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Orders a day (est.)</a:t>
            </a:r>
          </a:p>
        </p:txBody>
      </p:sp>
      <p:sp>
        <p:nvSpPr>
          <p:cNvPr id="20" name="TextBox 19"/>
          <p:cNvSpPr txBox="1"/>
          <p:nvPr/>
        </p:nvSpPr>
        <p:spPr>
          <a:xfrm>
            <a:off x="548640" y="2084832"/>
            <a:ext cx="173736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21" name="Rectangle 20"/>
          <p:cNvSpPr/>
          <p:nvPr/>
        </p:nvSpPr>
        <p:spPr>
          <a:xfrm>
            <a:off x="3255949" y="2194560"/>
            <a:ext cx="4358560" cy="91440"/>
          </a:xfrm>
          <a:prstGeom prst="rect">
            <a:avLst/>
          </a:prstGeom>
          <a:solidFill>
            <a:srgbClr val="B5793F"/>
          </a:solidFill>
          <a:ln>
            <a:noFill/>
          </a:ln>
        </p:spPr>
        <p:txBody>
          <a:bodyPr rtlCol="0" anchor="ctr"/>
          <a:lstStyle/>
          <a:p>
            <a:pPr algn="ctr"/>
          </a:p>
        </p:txBody>
      </p:sp>
      <p:sp>
        <p:nvSpPr>
          <p:cNvPr id="22" name="Oval 21"/>
          <p:cNvSpPr/>
          <p:nvPr/>
        </p:nvSpPr>
        <p:spPr>
          <a:xfrm>
            <a:off x="4673676" y="2130552"/>
            <a:ext cx="219456" cy="219456"/>
          </a:xfrm>
          <a:prstGeom prst="ellipse">
            <a:avLst/>
          </a:prstGeom>
          <a:solidFill>
            <a:srgbClr val="B5793F"/>
          </a:solidFill>
          <a:ln w="25400">
            <a:solidFill>
              <a:srgbClr val="FFFFFF"/>
            </a:solidFill>
          </a:ln>
        </p:spPr>
        <p:txBody>
          <a:bodyPr rtlCol="0" anchor="ctr"/>
          <a:lstStyle/>
          <a:p>
            <a:pPr algn="ctr"/>
          </a:p>
        </p:txBody>
      </p:sp>
      <p:sp>
        <p:nvSpPr>
          <p:cNvPr id="23" name="TextBox 22"/>
          <p:cNvSpPr txBox="1"/>
          <p:nvPr/>
        </p:nvSpPr>
        <p:spPr>
          <a:xfrm>
            <a:off x="4326204" y="1810512"/>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16.7K</a:t>
            </a:r>
          </a:p>
        </p:txBody>
      </p:sp>
      <p:sp>
        <p:nvSpPr>
          <p:cNvPr id="24" name="TextBox 23"/>
          <p:cNvSpPr txBox="1"/>
          <p:nvPr/>
        </p:nvSpPr>
        <p:spPr>
          <a:xfrm>
            <a:off x="8732520" y="2084832"/>
            <a:ext cx="292608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84–334</a:t>
            </a:r>
          </a:p>
        </p:txBody>
      </p:sp>
      <p:sp>
        <p:nvSpPr>
          <p:cNvPr id="25" name="TextBox 24"/>
          <p:cNvSpPr txBox="1"/>
          <p:nvPr/>
        </p:nvSpPr>
        <p:spPr>
          <a:xfrm>
            <a:off x="548640" y="2871216"/>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Rectangle 25"/>
          <p:cNvSpPr/>
          <p:nvPr/>
        </p:nvSpPr>
        <p:spPr>
          <a:xfrm>
            <a:off x="2808917" y="2980944"/>
            <a:ext cx="3675195" cy="91440"/>
          </a:xfrm>
          <a:prstGeom prst="rect">
            <a:avLst/>
          </a:prstGeom>
          <a:solidFill>
            <a:srgbClr val="B7C1CC"/>
          </a:solidFill>
          <a:ln>
            <a:noFill/>
          </a:ln>
        </p:spPr>
        <p:txBody>
          <a:bodyPr rtlCol="0" anchor="ctr"/>
          <a:lstStyle/>
          <a:p>
            <a:pPr algn="ctr"/>
          </a:p>
        </p:txBody>
      </p:sp>
      <p:sp>
        <p:nvSpPr>
          <p:cNvPr id="27" name="Oval 26"/>
          <p:cNvSpPr/>
          <p:nvPr/>
        </p:nvSpPr>
        <p:spPr>
          <a:xfrm>
            <a:off x="3871784" y="2916936"/>
            <a:ext cx="219456" cy="219456"/>
          </a:xfrm>
          <a:prstGeom prst="ellipse">
            <a:avLst/>
          </a:prstGeom>
          <a:solidFill>
            <a:srgbClr val="B7C1CC"/>
          </a:solidFill>
          <a:ln w="25400">
            <a:solidFill>
              <a:srgbClr val="FFFFFF"/>
            </a:solidFill>
          </a:ln>
        </p:spPr>
        <p:txBody>
          <a:bodyPr rtlCol="0" anchor="ctr"/>
          <a:lstStyle/>
          <a:p>
            <a:pPr algn="ctr"/>
          </a:p>
        </p:txBody>
      </p:sp>
      <p:sp>
        <p:nvSpPr>
          <p:cNvPr id="28" name="TextBox 27"/>
          <p:cNvSpPr txBox="1"/>
          <p:nvPr/>
        </p:nvSpPr>
        <p:spPr>
          <a:xfrm>
            <a:off x="3524312" y="2596896"/>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11.1K</a:t>
            </a:r>
          </a:p>
        </p:txBody>
      </p:sp>
      <p:sp>
        <p:nvSpPr>
          <p:cNvPr id="29" name="TextBox 28"/>
          <p:cNvSpPr txBox="1"/>
          <p:nvPr/>
        </p:nvSpPr>
        <p:spPr>
          <a:xfrm>
            <a:off x="8732520" y="2871216"/>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56–223</a:t>
            </a:r>
          </a:p>
        </p:txBody>
      </p:sp>
      <p:sp>
        <p:nvSpPr>
          <p:cNvPr id="30" name="TextBox 29"/>
          <p:cNvSpPr txBox="1"/>
          <p:nvPr/>
        </p:nvSpPr>
        <p:spPr>
          <a:xfrm>
            <a:off x="548640" y="3657600"/>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31" name="Rectangle 30"/>
          <p:cNvSpPr/>
          <p:nvPr/>
        </p:nvSpPr>
        <p:spPr>
          <a:xfrm>
            <a:off x="2467451" y="3767328"/>
            <a:ext cx="2805614" cy="91440"/>
          </a:xfrm>
          <a:prstGeom prst="rect">
            <a:avLst/>
          </a:prstGeom>
          <a:solidFill>
            <a:srgbClr val="B7C1CC"/>
          </a:solidFill>
          <a:ln>
            <a:noFill/>
          </a:ln>
        </p:spPr>
        <p:txBody>
          <a:bodyPr rtlCol="0" anchor="ctr"/>
          <a:lstStyle/>
          <a:p>
            <a:pPr algn="ctr"/>
          </a:p>
        </p:txBody>
      </p:sp>
      <p:sp>
        <p:nvSpPr>
          <p:cNvPr id="32" name="Oval 31"/>
          <p:cNvSpPr/>
          <p:nvPr/>
        </p:nvSpPr>
        <p:spPr>
          <a:xfrm>
            <a:off x="3069748" y="3703320"/>
            <a:ext cx="219456" cy="219456"/>
          </a:xfrm>
          <a:prstGeom prst="ellipse">
            <a:avLst/>
          </a:prstGeom>
          <a:solidFill>
            <a:srgbClr val="B7C1CC"/>
          </a:solidFill>
          <a:ln w="25400">
            <a:solidFill>
              <a:srgbClr val="FFFFFF"/>
            </a:solidFill>
          </a:ln>
        </p:spPr>
        <p:txBody>
          <a:bodyPr rtlCol="0" anchor="ctr"/>
          <a:lstStyle/>
          <a:p>
            <a:pPr algn="ctr"/>
          </a:p>
        </p:txBody>
      </p:sp>
      <p:sp>
        <p:nvSpPr>
          <p:cNvPr id="33" name="TextBox 32"/>
          <p:cNvSpPr txBox="1"/>
          <p:nvPr/>
        </p:nvSpPr>
        <p:spPr>
          <a:xfrm>
            <a:off x="2722276" y="3383280"/>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4" name="TextBox 33"/>
          <p:cNvSpPr txBox="1"/>
          <p:nvPr/>
        </p:nvSpPr>
        <p:spPr>
          <a:xfrm>
            <a:off x="8732520" y="3657600"/>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35" name="TextBox 34"/>
          <p:cNvSpPr txBox="1"/>
          <p:nvPr/>
        </p:nvSpPr>
        <p:spPr>
          <a:xfrm>
            <a:off x="548640" y="4443984"/>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36" name="Rectangle 35"/>
          <p:cNvSpPr/>
          <p:nvPr/>
        </p:nvSpPr>
        <p:spPr>
          <a:xfrm>
            <a:off x="2467451" y="4553712"/>
            <a:ext cx="2805614" cy="91440"/>
          </a:xfrm>
          <a:prstGeom prst="rect">
            <a:avLst/>
          </a:prstGeom>
          <a:solidFill>
            <a:srgbClr val="B7C1CC"/>
          </a:solidFill>
          <a:ln>
            <a:noFill/>
          </a:ln>
        </p:spPr>
        <p:txBody>
          <a:bodyPr rtlCol="0" anchor="ctr"/>
          <a:lstStyle/>
          <a:p>
            <a:pPr algn="ctr"/>
          </a:p>
        </p:txBody>
      </p:sp>
      <p:sp>
        <p:nvSpPr>
          <p:cNvPr id="37" name="Oval 36"/>
          <p:cNvSpPr/>
          <p:nvPr/>
        </p:nvSpPr>
        <p:spPr>
          <a:xfrm>
            <a:off x="3069748" y="4489704"/>
            <a:ext cx="219456" cy="219456"/>
          </a:xfrm>
          <a:prstGeom prst="ellipse">
            <a:avLst/>
          </a:prstGeom>
          <a:solidFill>
            <a:srgbClr val="B7C1CC"/>
          </a:solidFill>
          <a:ln w="25400">
            <a:solidFill>
              <a:srgbClr val="FFFFFF"/>
            </a:solidFill>
          </a:ln>
        </p:spPr>
        <p:txBody>
          <a:bodyPr rtlCol="0" anchor="ctr"/>
          <a:lstStyle/>
          <a:p>
            <a:pPr algn="ctr"/>
          </a:p>
        </p:txBody>
      </p:sp>
      <p:sp>
        <p:nvSpPr>
          <p:cNvPr id="38" name="TextBox 37"/>
          <p:cNvSpPr txBox="1"/>
          <p:nvPr/>
        </p:nvSpPr>
        <p:spPr>
          <a:xfrm>
            <a:off x="2722276" y="4169664"/>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9" name="TextBox 38"/>
          <p:cNvSpPr txBox="1"/>
          <p:nvPr/>
        </p:nvSpPr>
        <p:spPr>
          <a:xfrm>
            <a:off x="8732520" y="4443984"/>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40" name="TextBox 39"/>
          <p:cNvSpPr txBox="1"/>
          <p:nvPr/>
        </p:nvSpPr>
        <p:spPr>
          <a:xfrm>
            <a:off x="8732520" y="5056632"/>
            <a:ext cx="2926080" cy="4572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At a 0.5–2% category conversion rate</a:t>
            </a:r>
          </a:p>
        </p:txBody>
      </p:sp>
      <p:sp>
        <p:nvSpPr>
          <p:cNvPr id="41" name="TextBox 40"/>
          <p:cNvSpPr txBox="1"/>
          <p:nvPr/>
        </p:nvSpPr>
        <p:spPr>
          <a:xfrm>
            <a:off x="548640" y="5760720"/>
            <a:ext cx="11094415" cy="45720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The intervals overlap: one day can't rank the mattress brands by volume.  Walmart, for scale: ~7.0M recorded clicks a day (~2.0M without click flooding), 1.72% convert (~121K).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THE SHOPPER'S JOURNEY</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Mattress shoppers compare about two brands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5</a:t>
            </a:r>
          </a:p>
        </p:txBody>
      </p:sp>
      <p:sp>
        <p:nvSpPr>
          <p:cNvPr id="8" name="TextBox 7"/>
          <p:cNvSpPr txBox="1"/>
          <p:nvPr/>
        </p:nvSpPr>
        <p:spPr>
          <a:xfrm>
            <a:off x="548640" y="1508760"/>
            <a:ext cx="59436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US mattress shoppers in the panel, by the furthest step reached</a:t>
            </a:r>
          </a:p>
        </p:txBody>
      </p:sp>
      <p:sp>
        <p:nvSpPr>
          <p:cNvPr id="9" name="TextBox 8"/>
          <p:cNvSpPr txBox="1"/>
          <p:nvPr/>
        </p:nvSpPr>
        <p:spPr>
          <a:xfrm>
            <a:off x="548640" y="1956816"/>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Shopped for a mattress</a:t>
            </a:r>
          </a:p>
        </p:txBody>
      </p:sp>
      <p:sp>
        <p:nvSpPr>
          <p:cNvPr id="10" name="Round Same Side Corner Rectangle 9"/>
          <p:cNvSpPr/>
          <p:nvPr/>
        </p:nvSpPr>
        <p:spPr>
          <a:xfrm rot="5400000">
            <a:off x="4169663" y="448056"/>
            <a:ext cx="347472" cy="3291840"/>
          </a:xfrm>
          <a:prstGeom prst="round2SameRect">
            <a:avLst>
              <a:gd name="adj1" fmla="val 14000"/>
              <a:gd name="adj2" fmla="val 0"/>
            </a:avLst>
          </a:prstGeom>
          <a:solidFill>
            <a:srgbClr val="368EF8"/>
          </a:solidFill>
          <a:ln>
            <a:noFill/>
          </a:ln>
        </p:spPr>
        <p:txBody>
          <a:bodyPr rtlCol="0" anchor="ctr"/>
          <a:lstStyle/>
          <a:p>
            <a:pPr algn="ctr"/>
          </a:p>
        </p:txBody>
      </p:sp>
      <p:sp>
        <p:nvSpPr>
          <p:cNvPr id="11" name="TextBox 10"/>
          <p:cNvSpPr txBox="1"/>
          <p:nvPr/>
        </p:nvSpPr>
        <p:spPr>
          <a:xfrm>
            <a:off x="6080760" y="1956816"/>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246</a:t>
            </a:r>
          </a:p>
        </p:txBody>
      </p:sp>
      <p:sp>
        <p:nvSpPr>
          <p:cNvPr id="12" name="TextBox 11"/>
          <p:cNvSpPr txBox="1"/>
          <p:nvPr/>
        </p:nvSpPr>
        <p:spPr>
          <a:xfrm>
            <a:off x="548640" y="2523744"/>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Visited a brand site</a:t>
            </a:r>
          </a:p>
        </p:txBody>
      </p:sp>
      <p:sp>
        <p:nvSpPr>
          <p:cNvPr id="13" name="Round Same Side Corner Rectangle 12"/>
          <p:cNvSpPr/>
          <p:nvPr/>
        </p:nvSpPr>
        <p:spPr>
          <a:xfrm rot="5400000">
            <a:off x="4055921" y="1128726"/>
            <a:ext cx="347472" cy="3064355"/>
          </a:xfrm>
          <a:prstGeom prst="round2SameRect">
            <a:avLst>
              <a:gd name="adj1" fmla="val 14000"/>
              <a:gd name="adj2" fmla="val 0"/>
            </a:avLst>
          </a:prstGeom>
          <a:solidFill>
            <a:srgbClr val="368EF8"/>
          </a:solidFill>
          <a:ln>
            <a:noFill/>
          </a:ln>
        </p:spPr>
        <p:txBody>
          <a:bodyPr rtlCol="0" anchor="ctr"/>
          <a:lstStyle/>
          <a:p>
            <a:pPr algn="ctr"/>
          </a:p>
        </p:txBody>
      </p:sp>
      <p:sp>
        <p:nvSpPr>
          <p:cNvPr id="14" name="TextBox 13"/>
          <p:cNvSpPr txBox="1"/>
          <p:nvPr/>
        </p:nvSpPr>
        <p:spPr>
          <a:xfrm>
            <a:off x="5853275" y="2523744"/>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229</a:t>
            </a:r>
          </a:p>
        </p:txBody>
      </p:sp>
      <p:sp>
        <p:nvSpPr>
          <p:cNvPr id="15" name="TextBox 14"/>
          <p:cNvSpPr txBox="1"/>
          <p:nvPr/>
        </p:nvSpPr>
        <p:spPr>
          <a:xfrm>
            <a:off x="548640" y="3090672"/>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Viewed a product page</a:t>
            </a:r>
          </a:p>
        </p:txBody>
      </p:sp>
      <p:sp>
        <p:nvSpPr>
          <p:cNvPr id="16" name="Round Same Side Corner Rectangle 15"/>
          <p:cNvSpPr/>
          <p:nvPr/>
        </p:nvSpPr>
        <p:spPr>
          <a:xfrm rot="5400000">
            <a:off x="2985404" y="2766171"/>
            <a:ext cx="347472" cy="923320"/>
          </a:xfrm>
          <a:prstGeom prst="round2SameRect">
            <a:avLst>
              <a:gd name="adj1" fmla="val 14000"/>
              <a:gd name="adj2" fmla="val 0"/>
            </a:avLst>
          </a:prstGeom>
          <a:solidFill>
            <a:srgbClr val="368EF8"/>
          </a:solidFill>
          <a:ln>
            <a:noFill/>
          </a:ln>
        </p:spPr>
        <p:txBody>
          <a:bodyPr rtlCol="0" anchor="ctr"/>
          <a:lstStyle/>
          <a:p>
            <a:pPr algn="ctr"/>
          </a:p>
        </p:txBody>
      </p:sp>
      <p:sp>
        <p:nvSpPr>
          <p:cNvPr id="17" name="TextBox 16"/>
          <p:cNvSpPr txBox="1"/>
          <p:nvPr/>
        </p:nvSpPr>
        <p:spPr>
          <a:xfrm>
            <a:off x="3712240" y="3090672"/>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69</a:t>
            </a:r>
          </a:p>
        </p:txBody>
      </p:sp>
      <p:sp>
        <p:nvSpPr>
          <p:cNvPr id="18" name="TextBox 17"/>
          <p:cNvSpPr txBox="1"/>
          <p:nvPr/>
        </p:nvSpPr>
        <p:spPr>
          <a:xfrm>
            <a:off x="548640" y="3657600"/>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cart</a:t>
            </a:r>
          </a:p>
        </p:txBody>
      </p:sp>
      <p:sp>
        <p:nvSpPr>
          <p:cNvPr id="19" name="Rectangle 18"/>
          <p:cNvSpPr/>
          <p:nvPr/>
        </p:nvSpPr>
        <p:spPr>
          <a:xfrm>
            <a:off x="2697480" y="3621024"/>
            <a:ext cx="240866" cy="347472"/>
          </a:xfrm>
          <a:prstGeom prst="rect">
            <a:avLst/>
          </a:prstGeom>
          <a:solidFill>
            <a:srgbClr val="368EF8"/>
          </a:solidFill>
          <a:ln>
            <a:noFill/>
          </a:ln>
        </p:spPr>
        <p:txBody>
          <a:bodyPr rtlCol="0" anchor="ctr"/>
          <a:lstStyle/>
          <a:p>
            <a:pPr algn="ctr"/>
          </a:p>
        </p:txBody>
      </p:sp>
      <p:sp>
        <p:nvSpPr>
          <p:cNvPr id="20" name="TextBox 19"/>
          <p:cNvSpPr txBox="1"/>
          <p:nvPr/>
        </p:nvSpPr>
        <p:spPr>
          <a:xfrm>
            <a:off x="3029786" y="3657600"/>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18</a:t>
            </a:r>
          </a:p>
        </p:txBody>
      </p:sp>
      <p:sp>
        <p:nvSpPr>
          <p:cNvPr id="21" name="TextBox 20"/>
          <p:cNvSpPr txBox="1"/>
          <p:nvPr/>
        </p:nvSpPr>
        <p:spPr>
          <a:xfrm>
            <a:off x="548640" y="4224528"/>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checkout</a:t>
            </a:r>
          </a:p>
        </p:txBody>
      </p:sp>
      <p:sp>
        <p:nvSpPr>
          <p:cNvPr id="22" name="Rectangle 21"/>
          <p:cNvSpPr/>
          <p:nvPr/>
        </p:nvSpPr>
        <p:spPr>
          <a:xfrm>
            <a:off x="2697480" y="4187952"/>
            <a:ext cx="133814" cy="347472"/>
          </a:xfrm>
          <a:prstGeom prst="rect">
            <a:avLst/>
          </a:prstGeom>
          <a:solidFill>
            <a:srgbClr val="368EF8"/>
          </a:solidFill>
          <a:ln>
            <a:noFill/>
          </a:ln>
        </p:spPr>
        <p:txBody>
          <a:bodyPr rtlCol="0" anchor="ctr"/>
          <a:lstStyle/>
          <a:p>
            <a:pPr algn="ctr"/>
          </a:p>
        </p:txBody>
      </p:sp>
      <p:sp>
        <p:nvSpPr>
          <p:cNvPr id="23" name="TextBox 22"/>
          <p:cNvSpPr txBox="1"/>
          <p:nvPr/>
        </p:nvSpPr>
        <p:spPr>
          <a:xfrm>
            <a:off x="2922734" y="4224528"/>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10</a:t>
            </a:r>
          </a:p>
        </p:txBody>
      </p:sp>
      <p:sp>
        <p:nvSpPr>
          <p:cNvPr id="24" name="TextBox 23"/>
          <p:cNvSpPr txBox="1"/>
          <p:nvPr/>
        </p:nvSpPr>
        <p:spPr>
          <a:xfrm>
            <a:off x="548640" y="4791456"/>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Ordered</a:t>
            </a:r>
          </a:p>
        </p:txBody>
      </p:sp>
      <p:sp>
        <p:nvSpPr>
          <p:cNvPr id="25" name="Rectangle 24"/>
          <p:cNvSpPr/>
          <p:nvPr/>
        </p:nvSpPr>
        <p:spPr>
          <a:xfrm>
            <a:off x="2697480" y="4754880"/>
            <a:ext cx="26762" cy="347472"/>
          </a:xfrm>
          <a:prstGeom prst="rect">
            <a:avLst/>
          </a:prstGeom>
          <a:solidFill>
            <a:srgbClr val="368EF8"/>
          </a:solidFill>
          <a:ln>
            <a:noFill/>
          </a:ln>
        </p:spPr>
        <p:txBody>
          <a:bodyPr rtlCol="0" anchor="ctr"/>
          <a:lstStyle/>
          <a:p>
            <a:pPr algn="ctr"/>
          </a:p>
        </p:txBody>
      </p:sp>
      <p:sp>
        <p:nvSpPr>
          <p:cNvPr id="26" name="TextBox 25"/>
          <p:cNvSpPr txBox="1"/>
          <p:nvPr/>
        </p:nvSpPr>
        <p:spPr>
          <a:xfrm>
            <a:off x="2815682" y="4791456"/>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a:t>
            </a:r>
          </a:p>
        </p:txBody>
      </p:sp>
      <p:cxnSp>
        <p:nvCxnSpPr>
          <p:cNvPr id="27" name="Connector 26"/>
          <p:cNvCxnSpPr/>
          <p:nvPr/>
        </p:nvCxnSpPr>
        <p:spPr>
          <a:xfrm>
            <a:off x="2697480" y="1810512"/>
            <a:ext cx="0" cy="3383280"/>
          </a:xfrm>
          <a:prstGeom prst="line">
            <a:avLst/>
          </a:prstGeom>
          <a:ln w="9525">
            <a:solidFill>
              <a:srgbClr val="1E2833"/>
            </a:solidFill>
          </a:ln>
        </p:spPr>
      </p:cxnSp>
      <p:sp>
        <p:nvSpPr>
          <p:cNvPr id="28" name="TextBox 27"/>
          <p:cNvSpPr txBox="1"/>
          <p:nvPr/>
        </p:nvSpPr>
        <p:spPr>
          <a:xfrm>
            <a:off x="7315200" y="1508760"/>
            <a:ext cx="4327855"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Visitors who also opened another mattress brand</a:t>
            </a:r>
          </a:p>
        </p:txBody>
      </p:sp>
      <p:sp>
        <p:nvSpPr>
          <p:cNvPr id="29" name="TextBox 28"/>
          <p:cNvSpPr txBox="1"/>
          <p:nvPr/>
        </p:nvSpPr>
        <p:spPr>
          <a:xfrm>
            <a:off x="7315200" y="1938528"/>
            <a:ext cx="128016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Saatva</a:t>
            </a:r>
          </a:p>
        </p:txBody>
      </p:sp>
      <p:sp>
        <p:nvSpPr>
          <p:cNvPr id="30" name="Round Same Side Corner Rectangle 29"/>
          <p:cNvSpPr/>
          <p:nvPr/>
        </p:nvSpPr>
        <p:spPr>
          <a:xfrm rot="5400000">
            <a:off x="8937345" y="1623974"/>
            <a:ext cx="292608" cy="885139"/>
          </a:xfrm>
          <a:prstGeom prst="round2SameRect">
            <a:avLst>
              <a:gd name="adj1" fmla="val 14000"/>
              <a:gd name="adj2" fmla="val 0"/>
            </a:avLst>
          </a:prstGeom>
          <a:solidFill>
            <a:srgbClr val="B5793F"/>
          </a:solidFill>
          <a:ln>
            <a:noFill/>
          </a:ln>
        </p:spPr>
        <p:txBody>
          <a:bodyPr rtlCol="0" anchor="ctr"/>
          <a:lstStyle/>
          <a:p>
            <a:pPr algn="ctr"/>
          </a:p>
        </p:txBody>
      </p:sp>
      <p:sp>
        <p:nvSpPr>
          <p:cNvPr id="31" name="TextBox 30"/>
          <p:cNvSpPr txBox="1"/>
          <p:nvPr/>
        </p:nvSpPr>
        <p:spPr>
          <a:xfrm>
            <a:off x="9617659" y="1938528"/>
            <a:ext cx="128016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44%</a:t>
            </a:r>
          </a:p>
        </p:txBody>
      </p:sp>
      <p:sp>
        <p:nvSpPr>
          <p:cNvPr id="32" name="TextBox 31"/>
          <p:cNvSpPr txBox="1"/>
          <p:nvPr/>
        </p:nvSpPr>
        <p:spPr>
          <a:xfrm>
            <a:off x="7315200" y="2505456"/>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Nectar</a:t>
            </a:r>
          </a:p>
        </p:txBody>
      </p:sp>
      <p:sp>
        <p:nvSpPr>
          <p:cNvPr id="33" name="Round Same Side Corner Rectangle 32"/>
          <p:cNvSpPr/>
          <p:nvPr/>
        </p:nvSpPr>
        <p:spPr>
          <a:xfrm rot="5400000">
            <a:off x="9027871" y="2100376"/>
            <a:ext cx="292608" cy="1066190"/>
          </a:xfrm>
          <a:prstGeom prst="round2SameRect">
            <a:avLst>
              <a:gd name="adj1" fmla="val 14000"/>
              <a:gd name="adj2" fmla="val 0"/>
            </a:avLst>
          </a:prstGeom>
          <a:solidFill>
            <a:srgbClr val="B7C1CC"/>
          </a:solidFill>
          <a:ln>
            <a:noFill/>
          </a:ln>
        </p:spPr>
        <p:txBody>
          <a:bodyPr rtlCol="0" anchor="ctr"/>
          <a:lstStyle/>
          <a:p>
            <a:pPr algn="ctr"/>
          </a:p>
        </p:txBody>
      </p:sp>
      <p:sp>
        <p:nvSpPr>
          <p:cNvPr id="34" name="TextBox 33"/>
          <p:cNvSpPr txBox="1"/>
          <p:nvPr/>
        </p:nvSpPr>
        <p:spPr>
          <a:xfrm>
            <a:off x="9798710" y="2505456"/>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53%</a:t>
            </a:r>
          </a:p>
        </p:txBody>
      </p:sp>
      <p:sp>
        <p:nvSpPr>
          <p:cNvPr id="35" name="TextBox 34"/>
          <p:cNvSpPr txBox="1"/>
          <p:nvPr/>
        </p:nvSpPr>
        <p:spPr>
          <a:xfrm>
            <a:off x="7315200" y="3072384"/>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DreamCloud</a:t>
            </a:r>
          </a:p>
        </p:txBody>
      </p:sp>
      <p:sp>
        <p:nvSpPr>
          <p:cNvPr id="36" name="Round Same Side Corner Rectangle 35"/>
          <p:cNvSpPr/>
          <p:nvPr/>
        </p:nvSpPr>
        <p:spPr>
          <a:xfrm rot="5400000">
            <a:off x="9068104" y="2627071"/>
            <a:ext cx="292608" cy="1146657"/>
          </a:xfrm>
          <a:prstGeom prst="round2SameRect">
            <a:avLst>
              <a:gd name="adj1" fmla="val 14000"/>
              <a:gd name="adj2" fmla="val 0"/>
            </a:avLst>
          </a:prstGeom>
          <a:solidFill>
            <a:srgbClr val="B7C1CC"/>
          </a:solidFill>
          <a:ln>
            <a:noFill/>
          </a:ln>
        </p:spPr>
        <p:txBody>
          <a:bodyPr rtlCol="0" anchor="ctr"/>
          <a:lstStyle/>
          <a:p>
            <a:pPr algn="ctr"/>
          </a:p>
        </p:txBody>
      </p:sp>
      <p:sp>
        <p:nvSpPr>
          <p:cNvPr id="37" name="TextBox 36"/>
          <p:cNvSpPr txBox="1"/>
          <p:nvPr/>
        </p:nvSpPr>
        <p:spPr>
          <a:xfrm>
            <a:off x="9879177" y="3072384"/>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57%</a:t>
            </a:r>
          </a:p>
        </p:txBody>
      </p:sp>
      <p:sp>
        <p:nvSpPr>
          <p:cNvPr id="38" name="TextBox 37"/>
          <p:cNvSpPr txBox="1"/>
          <p:nvPr/>
        </p:nvSpPr>
        <p:spPr>
          <a:xfrm>
            <a:off x="7315200" y="3639312"/>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Helix</a:t>
            </a:r>
          </a:p>
        </p:txBody>
      </p:sp>
      <p:sp>
        <p:nvSpPr>
          <p:cNvPr id="39" name="Round Same Side Corner Rectangle 38"/>
          <p:cNvSpPr/>
          <p:nvPr/>
        </p:nvSpPr>
        <p:spPr>
          <a:xfrm rot="5400000">
            <a:off x="8997696" y="3264408"/>
            <a:ext cx="292608" cy="1005840"/>
          </a:xfrm>
          <a:prstGeom prst="round2SameRect">
            <a:avLst>
              <a:gd name="adj1" fmla="val 14000"/>
              <a:gd name="adj2" fmla="val 0"/>
            </a:avLst>
          </a:prstGeom>
          <a:solidFill>
            <a:srgbClr val="B7C1CC"/>
          </a:solidFill>
          <a:ln>
            <a:noFill/>
          </a:ln>
        </p:spPr>
        <p:txBody>
          <a:bodyPr rtlCol="0" anchor="ctr"/>
          <a:lstStyle/>
          <a:p>
            <a:pPr algn="ctr"/>
          </a:p>
        </p:txBody>
      </p:sp>
      <p:sp>
        <p:nvSpPr>
          <p:cNvPr id="40" name="TextBox 39"/>
          <p:cNvSpPr txBox="1"/>
          <p:nvPr/>
        </p:nvSpPr>
        <p:spPr>
          <a:xfrm>
            <a:off x="9738359" y="3639312"/>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50%</a:t>
            </a:r>
          </a:p>
        </p:txBody>
      </p:sp>
      <p:sp>
        <p:nvSpPr>
          <p:cNvPr id="41" name="Rectangle 40"/>
          <p:cNvSpPr/>
          <p:nvPr/>
        </p:nvSpPr>
        <p:spPr>
          <a:xfrm>
            <a:off x="7315200" y="4343400"/>
            <a:ext cx="4327855" cy="1737360"/>
          </a:xfrm>
          <a:prstGeom prst="rect">
            <a:avLst/>
          </a:prstGeom>
          <a:solidFill>
            <a:srgbClr val="F6EFE8"/>
          </a:solidFill>
          <a:ln>
            <a:noFill/>
          </a:ln>
        </p:spPr>
        <p:txBody>
          <a:bodyPr rtlCol="0" anchor="ctr"/>
          <a:lstStyle/>
          <a:p>
            <a:pPr algn="ctr"/>
          </a:p>
        </p:txBody>
      </p:sp>
      <p:sp>
        <p:nvSpPr>
          <p:cNvPr id="42" name="TextBox 41"/>
          <p:cNvSpPr txBox="1"/>
          <p:nvPr/>
        </p:nvSpPr>
        <p:spPr>
          <a:xfrm>
            <a:off x="7543800" y="4480560"/>
            <a:ext cx="387065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Who Saatva's visitors also look at</a:t>
            </a:r>
          </a:p>
        </p:txBody>
      </p:sp>
      <p:sp>
        <p:nvSpPr>
          <p:cNvPr id="43" name="TextBox 42"/>
          <p:cNvSpPr txBox="1"/>
          <p:nvPr/>
        </p:nvSpPr>
        <p:spPr>
          <a:xfrm>
            <a:off x="7543800" y="4773168"/>
            <a:ext cx="3870655" cy="594360"/>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Mattress Firm (4),  Nectar (4),  DreamCloud (3)</a:t>
            </a:r>
          </a:p>
        </p:txBody>
      </p:sp>
      <p:sp>
        <p:nvSpPr>
          <p:cNvPr id="44" name="TextBox 43"/>
          <p:cNvSpPr txBox="1"/>
          <p:nvPr/>
        </p:nvSpPr>
        <p:spPr>
          <a:xfrm>
            <a:off x="7543800" y="5468112"/>
            <a:ext cx="3870655" cy="54864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Comparison content is where Saatva wins or loses the shopper</a:t>
            </a:r>
          </a:p>
        </p:txBody>
      </p:sp>
      <p:sp>
        <p:nvSpPr>
          <p:cNvPr id="45" name="TextBox 44"/>
          <p:cNvSpPr txBox="1"/>
          <p:nvPr/>
        </p:nvSpPr>
        <p:spPr>
          <a:xfrm>
            <a:off x="548640" y="5806440"/>
            <a:ext cx="6400800"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users, 1 May 2026. Saatva: 27 visitors, 13 reached a product page.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METHOD</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Cleaned data, scaled on the right audience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6</a:t>
            </a:r>
          </a:p>
        </p:txBody>
      </p:sp>
      <p:sp>
        <p:nvSpPr>
          <p:cNvPr id="8" name="Rectangle 7"/>
          <p:cNvSpPr/>
          <p:nvPr/>
        </p:nvSpPr>
        <p:spPr>
          <a:xfrm>
            <a:off x="548640" y="1554480"/>
            <a:ext cx="2514600" cy="960120"/>
          </a:xfrm>
          <a:prstGeom prst="rect">
            <a:avLst/>
          </a:prstGeom>
          <a:solidFill>
            <a:srgbClr val="F3F6F9"/>
          </a:solidFill>
          <a:ln>
            <a:noFill/>
          </a:ln>
        </p:spPr>
        <p:txBody>
          <a:bodyPr rtlCol="0" anchor="ctr"/>
          <a:lstStyle/>
          <a:p>
            <a:pPr algn="ctr"/>
          </a:p>
        </p:txBody>
      </p:sp>
      <p:sp>
        <p:nvSpPr>
          <p:cNvPr id="9" name="TextBox 8"/>
          <p:cNvSpPr txBox="1"/>
          <p:nvPr/>
        </p:nvSpPr>
        <p:spPr>
          <a:xfrm>
            <a:off x="777240"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48.4M</a:t>
            </a:r>
          </a:p>
        </p:txBody>
      </p:sp>
      <p:sp>
        <p:nvSpPr>
          <p:cNvPr id="10" name="TextBox 9"/>
          <p:cNvSpPr txBox="1"/>
          <p:nvPr/>
        </p:nvSpPr>
        <p:spPr>
          <a:xfrm>
            <a:off x="777240"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panel events from 784K users, one day</a:t>
            </a:r>
          </a:p>
        </p:txBody>
      </p:sp>
      <p:cxnSp>
        <p:nvCxnSpPr>
          <p:cNvPr id="11" name="Connector 10"/>
          <p:cNvCxnSpPr/>
          <p:nvPr/>
        </p:nvCxnSpPr>
        <p:spPr>
          <a:xfrm>
            <a:off x="3118104" y="2029968"/>
            <a:ext cx="235610" cy="0"/>
          </a:xfrm>
          <a:prstGeom prst="line">
            <a:avLst/>
          </a:prstGeom>
          <a:ln w="19050">
            <a:solidFill>
              <a:srgbClr val="FF9438"/>
            </a:solidFill>
            <a:tailEnd type="triangle" w="med" len="med"/>
          </a:ln>
        </p:spPr>
      </p:cxnSp>
      <p:sp>
        <p:nvSpPr>
          <p:cNvPr id="12" name="Rectangle 11"/>
          <p:cNvSpPr/>
          <p:nvPr/>
        </p:nvSpPr>
        <p:spPr>
          <a:xfrm>
            <a:off x="3408578" y="1554480"/>
            <a:ext cx="2514600" cy="960120"/>
          </a:xfrm>
          <a:prstGeom prst="rect">
            <a:avLst/>
          </a:prstGeom>
          <a:solidFill>
            <a:srgbClr val="F3F6F9"/>
          </a:solidFill>
          <a:ln>
            <a:noFill/>
          </a:ln>
        </p:spPr>
        <p:txBody>
          <a:bodyPr rtlCol="0" anchor="ctr"/>
          <a:lstStyle/>
          <a:p>
            <a:pPr algn="ctr"/>
          </a:p>
        </p:txBody>
      </p:sp>
      <p:sp>
        <p:nvSpPr>
          <p:cNvPr id="13" name="TextBox 12"/>
          <p:cNvSpPr txBox="1"/>
          <p:nvPr/>
        </p:nvSpPr>
        <p:spPr>
          <a:xfrm>
            <a:off x="3637178"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1.64M</a:t>
            </a:r>
          </a:p>
        </p:txBody>
      </p:sp>
      <p:sp>
        <p:nvSpPr>
          <p:cNvPr id="14" name="TextBox 13"/>
          <p:cNvSpPr txBox="1"/>
          <p:nvPr/>
        </p:nvSpPr>
        <p:spPr>
          <a:xfrm>
            <a:off x="3637178"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events of users who touched a brand (3.4%)</a:t>
            </a:r>
          </a:p>
        </p:txBody>
      </p:sp>
      <p:cxnSp>
        <p:nvCxnSpPr>
          <p:cNvPr id="15" name="Connector 14"/>
          <p:cNvCxnSpPr/>
          <p:nvPr/>
        </p:nvCxnSpPr>
        <p:spPr>
          <a:xfrm>
            <a:off x="5978042" y="2029968"/>
            <a:ext cx="235610" cy="0"/>
          </a:xfrm>
          <a:prstGeom prst="line">
            <a:avLst/>
          </a:prstGeom>
          <a:ln w="19050">
            <a:solidFill>
              <a:srgbClr val="FF9438"/>
            </a:solidFill>
            <a:tailEnd type="triangle" w="med" len="med"/>
          </a:ln>
        </p:spPr>
      </p:cxnSp>
      <p:sp>
        <p:nvSpPr>
          <p:cNvPr id="16" name="Rectangle 15"/>
          <p:cNvSpPr/>
          <p:nvPr/>
        </p:nvSpPr>
        <p:spPr>
          <a:xfrm>
            <a:off x="6268516" y="1554480"/>
            <a:ext cx="2514600" cy="960120"/>
          </a:xfrm>
          <a:prstGeom prst="rect">
            <a:avLst/>
          </a:prstGeom>
          <a:solidFill>
            <a:srgbClr val="F3F6F9"/>
          </a:solidFill>
          <a:ln>
            <a:noFill/>
          </a:ln>
        </p:spPr>
        <p:txBody>
          <a:bodyPr rtlCol="0" anchor="ctr"/>
          <a:lstStyle/>
          <a:p>
            <a:pPr algn="ctr"/>
          </a:p>
        </p:txBody>
      </p:sp>
      <p:sp>
        <p:nvSpPr>
          <p:cNvPr id="17" name="TextBox 16"/>
          <p:cNvSpPr txBox="1"/>
          <p:nvPr/>
        </p:nvSpPr>
        <p:spPr>
          <a:xfrm>
            <a:off x="6497116"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6.5K</a:t>
            </a:r>
          </a:p>
        </p:txBody>
      </p:sp>
      <p:sp>
        <p:nvSpPr>
          <p:cNvPr id="18" name="TextBox 17"/>
          <p:cNvSpPr txBox="1"/>
          <p:nvPr/>
        </p:nvSpPr>
        <p:spPr>
          <a:xfrm>
            <a:off x="6497116"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US affiliate clicks, de-duplicated by click id</a:t>
            </a:r>
          </a:p>
        </p:txBody>
      </p:sp>
      <p:cxnSp>
        <p:nvCxnSpPr>
          <p:cNvPr id="19" name="Connector 18"/>
          <p:cNvCxnSpPr/>
          <p:nvPr/>
        </p:nvCxnSpPr>
        <p:spPr>
          <a:xfrm>
            <a:off x="8837980" y="2029968"/>
            <a:ext cx="235611" cy="0"/>
          </a:xfrm>
          <a:prstGeom prst="line">
            <a:avLst/>
          </a:prstGeom>
          <a:ln w="19050">
            <a:solidFill>
              <a:srgbClr val="FF9438"/>
            </a:solidFill>
            <a:tailEnd type="triangle" w="med" len="med"/>
          </a:ln>
        </p:spPr>
      </p:cxnSp>
      <p:sp>
        <p:nvSpPr>
          <p:cNvPr id="20" name="Rectangle 19"/>
          <p:cNvSpPr/>
          <p:nvPr/>
        </p:nvSpPr>
        <p:spPr>
          <a:xfrm>
            <a:off x="9128455" y="1554480"/>
            <a:ext cx="2514600" cy="960120"/>
          </a:xfrm>
          <a:prstGeom prst="rect">
            <a:avLst/>
          </a:prstGeom>
          <a:solidFill>
            <a:srgbClr val="F3F6F9"/>
          </a:solidFill>
          <a:ln>
            <a:noFill/>
          </a:ln>
        </p:spPr>
        <p:txBody>
          <a:bodyPr rtlCol="0" anchor="ctr"/>
          <a:lstStyle/>
          <a:p>
            <a:pPr algn="ctr"/>
          </a:p>
        </p:txBody>
      </p:sp>
      <p:sp>
        <p:nvSpPr>
          <p:cNvPr id="21" name="TextBox 20"/>
          <p:cNvSpPr txBox="1"/>
          <p:nvPr/>
        </p:nvSpPr>
        <p:spPr>
          <a:xfrm>
            <a:off x="9357055"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 F</a:t>
            </a:r>
          </a:p>
        </p:txBody>
      </p:sp>
      <p:sp>
        <p:nvSpPr>
          <p:cNvPr id="22" name="TextBox 21"/>
          <p:cNvSpPr txBox="1"/>
          <p:nvPr/>
        </p:nvSpPr>
        <p:spPr>
          <a:xfrm>
            <a:off x="9357055"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scaled to US totals, per audience</a:t>
            </a:r>
          </a:p>
        </p:txBody>
      </p:sp>
      <p:sp>
        <p:nvSpPr>
          <p:cNvPr id="23" name="Rounded Rectangle 22"/>
          <p:cNvSpPr/>
          <p:nvPr/>
        </p:nvSpPr>
        <p:spPr>
          <a:xfrm>
            <a:off x="3408578" y="2633472"/>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−14.7% duplicate rows</a:t>
            </a:r>
          </a:p>
        </p:txBody>
      </p:sp>
      <p:sp>
        <p:nvSpPr>
          <p:cNvPr id="24" name="Rounded Rectangle 23"/>
          <p:cNvSpPr/>
          <p:nvPr/>
        </p:nvSpPr>
        <p:spPr>
          <a:xfrm>
            <a:off x="3408578" y="3017520"/>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Mirror user IDs merged</a:t>
            </a:r>
          </a:p>
        </p:txBody>
      </p:sp>
      <p:sp>
        <p:nvSpPr>
          <p:cNvPr id="25" name="TextBox 24"/>
          <p:cNvSpPr txBox="1"/>
          <p:nvPr/>
        </p:nvSpPr>
        <p:spPr>
          <a:xfrm>
            <a:off x="548640" y="3566160"/>
            <a:ext cx="73152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Scaled panel visits ÷ Similarweb visits  (1.0 = exact match)</a:t>
            </a:r>
          </a:p>
        </p:txBody>
      </p:sp>
      <p:sp>
        <p:nvSpPr>
          <p:cNvPr id="26" name="Rectangle 25"/>
          <p:cNvSpPr/>
          <p:nvPr/>
        </p:nvSpPr>
        <p:spPr>
          <a:xfrm>
            <a:off x="548640" y="3895344"/>
            <a:ext cx="146304" cy="146304"/>
          </a:xfrm>
          <a:prstGeom prst="rect">
            <a:avLst/>
          </a:prstGeom>
          <a:solidFill>
            <a:srgbClr val="B7C1CC"/>
          </a:solidFill>
          <a:ln>
            <a:noFill/>
          </a:ln>
        </p:spPr>
        <p:txBody>
          <a:bodyPr rtlCol="0" anchor="ctr"/>
          <a:lstStyle/>
          <a:p>
            <a:pPr algn="ctr"/>
          </a:p>
        </p:txBody>
      </p:sp>
      <p:sp>
        <p:nvSpPr>
          <p:cNvPr id="27" name="TextBox 26"/>
          <p:cNvSpPr txBox="1"/>
          <p:nvPr/>
        </p:nvSpPr>
        <p:spPr>
          <a:xfrm>
            <a:off x="777240"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Walmart-calibrated factor (1,089)</a:t>
            </a:r>
          </a:p>
        </p:txBody>
      </p:sp>
      <p:sp>
        <p:nvSpPr>
          <p:cNvPr id="28" name="Rectangle 27"/>
          <p:cNvSpPr/>
          <p:nvPr/>
        </p:nvSpPr>
        <p:spPr>
          <a:xfrm>
            <a:off x="3798417" y="3895344"/>
            <a:ext cx="146304" cy="146304"/>
          </a:xfrm>
          <a:prstGeom prst="rect">
            <a:avLst/>
          </a:prstGeom>
          <a:solidFill>
            <a:srgbClr val="368EF8"/>
          </a:solidFill>
          <a:ln>
            <a:noFill/>
          </a:ln>
        </p:spPr>
        <p:txBody>
          <a:bodyPr rtlCol="0" anchor="ctr"/>
          <a:lstStyle/>
          <a:p>
            <a:pPr algn="ctr"/>
          </a:p>
        </p:txBody>
      </p:sp>
      <p:sp>
        <p:nvSpPr>
          <p:cNvPr id="29" name="TextBox 28"/>
          <p:cNvSpPr txBox="1"/>
          <p:nvPr/>
        </p:nvSpPr>
        <p:spPr>
          <a:xfrm>
            <a:off x="4027017"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Mattress-calibrated factor (2,784)</a:t>
            </a:r>
          </a:p>
        </p:txBody>
      </p:sp>
      <p:sp>
        <p:nvSpPr>
          <p:cNvPr id="30" name="TextBox 29"/>
          <p:cNvSpPr txBox="1"/>
          <p:nvPr/>
        </p:nvSpPr>
        <p:spPr>
          <a:xfrm>
            <a:off x="548640" y="4590288"/>
            <a:ext cx="173736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Saatva</a:t>
            </a:r>
          </a:p>
        </p:txBody>
      </p:sp>
      <p:sp>
        <p:nvSpPr>
          <p:cNvPr id="31" name="Round Same Side Corner Rectangle 30"/>
          <p:cNvSpPr/>
          <p:nvPr/>
        </p:nvSpPr>
        <p:spPr>
          <a:xfrm rot="5400000">
            <a:off x="3191256" y="3712464"/>
            <a:ext cx="201168" cy="1828800"/>
          </a:xfrm>
          <a:prstGeom prst="round2SameRect">
            <a:avLst>
              <a:gd name="adj1" fmla="val 14000"/>
              <a:gd name="adj2" fmla="val 0"/>
            </a:avLst>
          </a:prstGeom>
          <a:solidFill>
            <a:srgbClr val="B7C1CC"/>
          </a:solidFill>
          <a:ln>
            <a:noFill/>
          </a:ln>
        </p:spPr>
        <p:txBody>
          <a:bodyPr rtlCol="0" anchor="ctr"/>
          <a:lstStyle/>
          <a:p>
            <a:pPr algn="ctr"/>
          </a:p>
        </p:txBody>
      </p:sp>
      <p:sp>
        <p:nvSpPr>
          <p:cNvPr id="32" name="TextBox 31"/>
          <p:cNvSpPr txBox="1"/>
          <p:nvPr/>
        </p:nvSpPr>
        <p:spPr>
          <a:xfrm>
            <a:off x="4297679" y="450799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0.40×</a:t>
            </a:r>
          </a:p>
        </p:txBody>
      </p:sp>
      <p:sp>
        <p:nvSpPr>
          <p:cNvPr id="33" name="Round Same Side Corner Rectangle 32"/>
          <p:cNvSpPr/>
          <p:nvPr/>
        </p:nvSpPr>
        <p:spPr>
          <a:xfrm rot="5400000">
            <a:off x="4585716" y="2555748"/>
            <a:ext cx="201168" cy="4617720"/>
          </a:xfrm>
          <a:prstGeom prst="round2SameRect">
            <a:avLst>
              <a:gd name="adj1" fmla="val 14000"/>
              <a:gd name="adj2" fmla="val 0"/>
            </a:avLst>
          </a:prstGeom>
          <a:solidFill>
            <a:srgbClr val="368EF8"/>
          </a:solidFill>
          <a:ln>
            <a:noFill/>
          </a:ln>
        </p:spPr>
        <p:txBody>
          <a:bodyPr rtlCol="0" anchor="ctr"/>
          <a:lstStyle/>
          <a:p>
            <a:pPr algn="ctr"/>
          </a:p>
        </p:txBody>
      </p:sp>
      <p:sp>
        <p:nvSpPr>
          <p:cNvPr id="34" name="TextBox 33"/>
          <p:cNvSpPr txBox="1"/>
          <p:nvPr/>
        </p:nvSpPr>
        <p:spPr>
          <a:xfrm>
            <a:off x="2377440" y="4745736"/>
            <a:ext cx="452628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1.01×</a:t>
            </a:r>
          </a:p>
        </p:txBody>
      </p:sp>
      <p:sp>
        <p:nvSpPr>
          <p:cNvPr id="35" name="TextBox 34"/>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Nectar</a:t>
            </a:r>
          </a:p>
        </p:txBody>
      </p:sp>
      <p:sp>
        <p:nvSpPr>
          <p:cNvPr id="36" name="Round Same Side Corner Rectangle 35"/>
          <p:cNvSpPr/>
          <p:nvPr/>
        </p:nvSpPr>
        <p:spPr>
          <a:xfrm rot="5400000">
            <a:off x="3076956" y="4375404"/>
            <a:ext cx="201168" cy="1600200"/>
          </a:xfrm>
          <a:prstGeom prst="round2SameRect">
            <a:avLst>
              <a:gd name="adj1" fmla="val 14000"/>
              <a:gd name="adj2" fmla="val 0"/>
            </a:avLst>
          </a:prstGeom>
          <a:solidFill>
            <a:srgbClr val="B7C1CC"/>
          </a:solidFill>
          <a:ln>
            <a:noFill/>
          </a:ln>
        </p:spPr>
        <p:txBody>
          <a:bodyPr rtlCol="0" anchor="ctr"/>
          <a:lstStyle/>
          <a:p>
            <a:pPr algn="ctr"/>
          </a:p>
        </p:txBody>
      </p:sp>
      <p:sp>
        <p:nvSpPr>
          <p:cNvPr id="37" name="TextBox 36"/>
          <p:cNvSpPr txBox="1"/>
          <p:nvPr/>
        </p:nvSpPr>
        <p:spPr>
          <a:xfrm>
            <a:off x="4069079" y="505663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0.35×</a:t>
            </a:r>
          </a:p>
        </p:txBody>
      </p:sp>
      <p:sp>
        <p:nvSpPr>
          <p:cNvPr id="38" name="Round Same Side Corner Rectangle 37"/>
          <p:cNvSpPr/>
          <p:nvPr/>
        </p:nvSpPr>
        <p:spPr>
          <a:xfrm rot="5400000">
            <a:off x="4311396" y="3378708"/>
            <a:ext cx="201168" cy="4069080"/>
          </a:xfrm>
          <a:prstGeom prst="round2SameRect">
            <a:avLst>
              <a:gd name="adj1" fmla="val 14000"/>
              <a:gd name="adj2" fmla="val 0"/>
            </a:avLst>
          </a:prstGeom>
          <a:solidFill>
            <a:srgbClr val="368EF8"/>
          </a:solidFill>
          <a:ln>
            <a:noFill/>
          </a:ln>
        </p:spPr>
        <p:txBody>
          <a:bodyPr rtlCol="0" anchor="ctr"/>
          <a:lstStyle/>
          <a:p>
            <a:pPr algn="ctr"/>
          </a:p>
        </p:txBody>
      </p:sp>
      <p:sp>
        <p:nvSpPr>
          <p:cNvPr id="39" name="TextBox 38"/>
          <p:cNvSpPr txBox="1"/>
          <p:nvPr/>
        </p:nvSpPr>
        <p:spPr>
          <a:xfrm>
            <a:off x="2377440" y="5294376"/>
            <a:ext cx="397764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0.89×</a:t>
            </a:r>
          </a:p>
        </p:txBody>
      </p:sp>
      <p:sp>
        <p:nvSpPr>
          <p:cNvPr id="40" name="TextBox 39"/>
          <p:cNvSpPr txBox="1"/>
          <p:nvPr/>
        </p:nvSpPr>
        <p:spPr>
          <a:xfrm>
            <a:off x="548640" y="568756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DreamCloud</a:t>
            </a:r>
          </a:p>
        </p:txBody>
      </p:sp>
      <p:sp>
        <p:nvSpPr>
          <p:cNvPr id="41" name="Round Same Side Corner Rectangle 40"/>
          <p:cNvSpPr/>
          <p:nvPr/>
        </p:nvSpPr>
        <p:spPr>
          <a:xfrm rot="5400000">
            <a:off x="3419856" y="4581144"/>
            <a:ext cx="201168" cy="2286000"/>
          </a:xfrm>
          <a:prstGeom prst="round2SameRect">
            <a:avLst>
              <a:gd name="adj1" fmla="val 14000"/>
              <a:gd name="adj2" fmla="val 0"/>
            </a:avLst>
          </a:prstGeom>
          <a:solidFill>
            <a:srgbClr val="B7C1CC"/>
          </a:solidFill>
          <a:ln>
            <a:noFill/>
          </a:ln>
        </p:spPr>
        <p:txBody>
          <a:bodyPr rtlCol="0" anchor="ctr"/>
          <a:lstStyle/>
          <a:p>
            <a:pPr algn="ctr"/>
          </a:p>
        </p:txBody>
      </p:sp>
      <p:sp>
        <p:nvSpPr>
          <p:cNvPr id="42" name="TextBox 41"/>
          <p:cNvSpPr txBox="1"/>
          <p:nvPr/>
        </p:nvSpPr>
        <p:spPr>
          <a:xfrm>
            <a:off x="4754879" y="560527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0.50×</a:t>
            </a:r>
          </a:p>
        </p:txBody>
      </p:sp>
      <p:sp>
        <p:nvSpPr>
          <p:cNvPr id="43" name="Round Same Side Corner Rectangle 42"/>
          <p:cNvSpPr/>
          <p:nvPr/>
        </p:nvSpPr>
        <p:spPr>
          <a:xfrm rot="5400000">
            <a:off x="5180076" y="3058668"/>
            <a:ext cx="201168" cy="5806440"/>
          </a:xfrm>
          <a:prstGeom prst="round2SameRect">
            <a:avLst>
              <a:gd name="adj1" fmla="val 14000"/>
              <a:gd name="adj2" fmla="val 0"/>
            </a:avLst>
          </a:prstGeom>
          <a:solidFill>
            <a:srgbClr val="368EF8"/>
          </a:solidFill>
          <a:ln>
            <a:noFill/>
          </a:ln>
        </p:spPr>
        <p:txBody>
          <a:bodyPr rtlCol="0" anchor="ctr"/>
          <a:lstStyle/>
          <a:p>
            <a:pPr algn="ctr"/>
          </a:p>
        </p:txBody>
      </p:sp>
      <p:sp>
        <p:nvSpPr>
          <p:cNvPr id="44" name="TextBox 43"/>
          <p:cNvSpPr txBox="1"/>
          <p:nvPr/>
        </p:nvSpPr>
        <p:spPr>
          <a:xfrm>
            <a:off x="2377440" y="5843016"/>
            <a:ext cx="571500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1.27×</a:t>
            </a:r>
          </a:p>
        </p:txBody>
      </p:sp>
      <p:cxnSp>
        <p:nvCxnSpPr>
          <p:cNvPr id="45" name="Connector 44"/>
          <p:cNvCxnSpPr/>
          <p:nvPr/>
        </p:nvCxnSpPr>
        <p:spPr>
          <a:xfrm>
            <a:off x="2377440" y="4416552"/>
            <a:ext cx="0" cy="1664208"/>
          </a:xfrm>
          <a:prstGeom prst="line">
            <a:avLst/>
          </a:prstGeom>
          <a:ln w="9525">
            <a:solidFill>
              <a:srgbClr val="1E2833"/>
            </a:solidFill>
          </a:ln>
        </p:spPr>
      </p:cxnSp>
      <p:cxnSp>
        <p:nvCxnSpPr>
          <p:cNvPr id="46" name="Connector 45"/>
          <p:cNvCxnSpPr/>
          <p:nvPr/>
        </p:nvCxnSpPr>
        <p:spPr>
          <a:xfrm>
            <a:off x="6949440" y="4416552"/>
            <a:ext cx="0" cy="1664208"/>
          </a:xfrm>
          <a:prstGeom prst="line">
            <a:avLst/>
          </a:prstGeom>
          <a:ln w="19050">
            <a:solidFill>
              <a:srgbClr val="0B2A4A"/>
            </a:solidFill>
          </a:ln>
        </p:spPr>
      </p:cxnSp>
      <p:sp>
        <p:nvSpPr>
          <p:cNvPr id="47" name="TextBox 46"/>
          <p:cNvSpPr txBox="1"/>
          <p:nvPr/>
        </p:nvSpPr>
        <p:spPr>
          <a:xfrm>
            <a:off x="7022592" y="4160520"/>
            <a:ext cx="1828800" cy="228600"/>
          </a:xfrm>
          <a:prstGeom prst="rect">
            <a:avLst/>
          </a:prstGeom>
          <a:noFill/>
        </p:spPr>
        <p:txBody>
          <a:bodyPr wrap="square" lIns="0" rIns="0" tIns="0" bIns="0" anchor="t">
            <a:noAutofit/>
          </a:bodyPr>
          <a:lstStyle/>
          <a:p>
            <a:pPr algn="l">
              <a:lnSpc>
                <a:spcPct val="110000"/>
              </a:lnSpc>
              <a:spcAft>
                <a:spcPts val="0"/>
              </a:spcAft>
            </a:pPr>
            <a:r>
              <a:rPr sz="1100" i="0" b="1">
                <a:solidFill>
                  <a:srgbClr val="0B2A4A"/>
                </a:solidFill>
                <a:latin typeface="Arial"/>
              </a:rPr>
              <a:t>1.0 = Similarweb</a:t>
            </a:r>
          </a:p>
        </p:txBody>
      </p:sp>
      <p:sp>
        <p:nvSpPr>
          <p:cNvPr id="48" name="TextBox 47"/>
          <p:cNvSpPr txBox="1"/>
          <p:nvPr/>
        </p:nvSpPr>
        <p:spPr>
          <a:xfrm>
            <a:off x="9052560" y="4526280"/>
            <a:ext cx="2590495" cy="1554480"/>
          </a:xfrm>
          <a:prstGeom prst="rect">
            <a:avLst/>
          </a:prstGeom>
          <a:noFill/>
        </p:spPr>
        <p:txBody>
          <a:bodyPr wrap="square" lIns="0" rIns="0" tIns="0" bIns="0" anchor="t">
            <a:noAutofit/>
          </a:bodyPr>
          <a:lstStyle/>
          <a:p>
            <a:pPr algn="l">
              <a:lnSpc>
                <a:spcPct val="110000"/>
              </a:lnSpc>
              <a:spcAft>
                <a:spcPts val="800"/>
              </a:spcAft>
            </a:pPr>
            <a:r>
              <a:rPr sz="1300" i="0" b="0">
                <a:solidFill>
                  <a:srgbClr val="1E2833"/>
                </a:solidFill>
                <a:latin typeface="Arial"/>
              </a:rPr>
              <a:t>Walmart's factor under-counts the mattress sites </a:t>
            </a:r>
            <a:r>
              <a:rPr sz="1300" i="0" b="1">
                <a:solidFill>
                  <a:srgbClr val="1E2833"/>
                </a:solidFill>
                <a:latin typeface="Arial"/>
              </a:rPr>
              <a:t>2–3×</a:t>
            </a:r>
            <a:r>
              <a:rPr sz="1300" i="0" b="0">
                <a:solidFill>
                  <a:srgbClr val="1E2833"/>
                </a:solidFill>
                <a:latin typeface="Arial"/>
              </a:rPr>
              <a:t>.</a:t>
            </a:r>
          </a:p>
          <a:p>
            <a:pPr algn="l">
              <a:lnSpc>
                <a:spcPct val="110000"/>
              </a:lnSpc>
              <a:spcAft>
                <a:spcPts val="0"/>
              </a:spcAft>
            </a:pPr>
            <a:r>
              <a:rPr sz="1300" i="0" b="0">
                <a:solidFill>
                  <a:srgbClr val="1E2833"/>
                </a:solidFill>
                <a:latin typeface="Arial"/>
              </a:rPr>
              <a:t>The mattress factor matches each site within </a:t>
            </a:r>
            <a:r>
              <a:rPr sz="1300" i="0" b="1">
                <a:solidFill>
                  <a:srgbClr val="1E2833"/>
                </a:solidFill>
                <a:latin typeface="Arial"/>
              </a:rPr>
              <a:t>0.89–1.27×</a:t>
            </a:r>
            <a:r>
              <a:rPr sz="1300" i="0" b="0">
                <a:solidFill>
                  <a:srgbClr val="1E2833"/>
                </a:solidFill>
                <a:latin typeface="Arial"/>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METHOD · KNOW THE PANEL</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panel sees some sites, not the whole web</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7</a:t>
            </a:r>
          </a:p>
        </p:txBody>
      </p:sp>
      <p:sp>
        <p:nvSpPr>
          <p:cNvPr id="8" name="TextBox 7"/>
          <p:cNvSpPr txBox="1"/>
          <p:nvPr/>
        </p:nvSpPr>
        <p:spPr>
          <a:xfrm>
            <a:off x="548640" y="1508760"/>
            <a:ext cx="603504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Panel users on 1 May, selected sites</a:t>
            </a:r>
          </a:p>
        </p:txBody>
      </p:sp>
      <p:sp>
        <p:nvSpPr>
          <p:cNvPr id="9" name="TextBox 8"/>
          <p:cNvSpPr txBox="1"/>
          <p:nvPr/>
        </p:nvSpPr>
        <p:spPr>
          <a:xfrm>
            <a:off x="548640" y="1865376"/>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PayPal</a:t>
            </a:r>
          </a:p>
        </p:txBody>
      </p:sp>
      <p:sp>
        <p:nvSpPr>
          <p:cNvPr id="10" name="Round Same Side Corner Rectangle 9"/>
          <p:cNvSpPr/>
          <p:nvPr/>
        </p:nvSpPr>
        <p:spPr>
          <a:xfrm rot="5400000">
            <a:off x="4219956" y="169163"/>
            <a:ext cx="246888" cy="3657599"/>
          </a:xfrm>
          <a:prstGeom prst="round2SameRect">
            <a:avLst>
              <a:gd name="adj1" fmla="val 14000"/>
              <a:gd name="adj2" fmla="val 0"/>
            </a:avLst>
          </a:prstGeom>
          <a:solidFill>
            <a:srgbClr val="B7C1CC"/>
          </a:solidFill>
          <a:ln>
            <a:noFill/>
          </a:ln>
        </p:spPr>
        <p:txBody>
          <a:bodyPr rtlCol="0" anchor="ctr"/>
          <a:lstStyle/>
          <a:p>
            <a:pPr algn="ctr"/>
          </a:p>
        </p:txBody>
      </p:sp>
      <p:sp>
        <p:nvSpPr>
          <p:cNvPr id="11" name="TextBox 10"/>
          <p:cNvSpPr txBox="1"/>
          <p:nvPr/>
        </p:nvSpPr>
        <p:spPr>
          <a:xfrm>
            <a:off x="6263640" y="1865376"/>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20,567</a:t>
            </a:r>
          </a:p>
        </p:txBody>
      </p:sp>
      <p:sp>
        <p:nvSpPr>
          <p:cNvPr id="12" name="TextBox 11"/>
          <p:cNvSpPr txBox="1"/>
          <p:nvPr/>
        </p:nvSpPr>
        <p:spPr>
          <a:xfrm>
            <a:off x="548640" y="2258568"/>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MSN</a:t>
            </a:r>
          </a:p>
        </p:txBody>
      </p:sp>
      <p:sp>
        <p:nvSpPr>
          <p:cNvPr id="13" name="Round Same Side Corner Rectangle 12"/>
          <p:cNvSpPr/>
          <p:nvPr/>
        </p:nvSpPr>
        <p:spPr>
          <a:xfrm rot="5400000">
            <a:off x="3746550" y="1035761"/>
            <a:ext cx="246888" cy="2710788"/>
          </a:xfrm>
          <a:prstGeom prst="round2SameRect">
            <a:avLst>
              <a:gd name="adj1" fmla="val 14000"/>
              <a:gd name="adj2" fmla="val 0"/>
            </a:avLst>
          </a:prstGeom>
          <a:solidFill>
            <a:srgbClr val="B7C1CC"/>
          </a:solidFill>
          <a:ln>
            <a:noFill/>
          </a:ln>
        </p:spPr>
        <p:txBody>
          <a:bodyPr rtlCol="0" anchor="ctr"/>
          <a:lstStyle/>
          <a:p>
            <a:pPr algn="ctr"/>
          </a:p>
        </p:txBody>
      </p:sp>
      <p:sp>
        <p:nvSpPr>
          <p:cNvPr id="14" name="TextBox 13"/>
          <p:cNvSpPr txBox="1"/>
          <p:nvPr/>
        </p:nvSpPr>
        <p:spPr>
          <a:xfrm>
            <a:off x="5316828" y="2258568"/>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15,243</a:t>
            </a:r>
          </a:p>
        </p:txBody>
      </p:sp>
      <p:sp>
        <p:nvSpPr>
          <p:cNvPr id="15" name="TextBox 14"/>
          <p:cNvSpPr txBox="1"/>
          <p:nvPr/>
        </p:nvSpPr>
        <p:spPr>
          <a:xfrm>
            <a:off x="548640" y="2651760"/>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Walmart</a:t>
            </a:r>
          </a:p>
        </p:txBody>
      </p:sp>
      <p:sp>
        <p:nvSpPr>
          <p:cNvPr id="16" name="Round Same Side Corner Rectangle 15"/>
          <p:cNvSpPr/>
          <p:nvPr/>
        </p:nvSpPr>
        <p:spPr>
          <a:xfrm rot="5400000">
            <a:off x="3629443" y="1546060"/>
            <a:ext cx="246888" cy="2476575"/>
          </a:xfrm>
          <a:prstGeom prst="round2SameRect">
            <a:avLst>
              <a:gd name="adj1" fmla="val 14000"/>
              <a:gd name="adj2" fmla="val 0"/>
            </a:avLst>
          </a:prstGeom>
          <a:solidFill>
            <a:srgbClr val="368EF8"/>
          </a:solidFill>
          <a:ln>
            <a:noFill/>
          </a:ln>
        </p:spPr>
        <p:txBody>
          <a:bodyPr rtlCol="0" anchor="ctr"/>
          <a:lstStyle/>
          <a:p>
            <a:pPr algn="ctr"/>
          </a:p>
        </p:txBody>
      </p:sp>
      <p:sp>
        <p:nvSpPr>
          <p:cNvPr id="17" name="TextBox 16"/>
          <p:cNvSpPr txBox="1"/>
          <p:nvPr/>
        </p:nvSpPr>
        <p:spPr>
          <a:xfrm>
            <a:off x="5082615" y="2651760"/>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13,926</a:t>
            </a:r>
          </a:p>
        </p:txBody>
      </p:sp>
      <p:sp>
        <p:nvSpPr>
          <p:cNvPr id="18" name="TextBox 17"/>
          <p:cNvSpPr txBox="1"/>
          <p:nvPr/>
        </p:nvSpPr>
        <p:spPr>
          <a:xfrm>
            <a:off x="548640" y="3044952"/>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NYT</a:t>
            </a:r>
          </a:p>
        </p:txBody>
      </p:sp>
      <p:sp>
        <p:nvSpPr>
          <p:cNvPr id="19" name="Round Same Side Corner Rectangle 18"/>
          <p:cNvSpPr/>
          <p:nvPr/>
        </p:nvSpPr>
        <p:spPr>
          <a:xfrm rot="5400000">
            <a:off x="3570935" y="1997760"/>
            <a:ext cx="246888" cy="2359558"/>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4965598" y="3044952"/>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13,268</a:t>
            </a:r>
          </a:p>
        </p:txBody>
      </p:sp>
      <p:sp>
        <p:nvSpPr>
          <p:cNvPr id="21" name="TextBox 20"/>
          <p:cNvSpPr txBox="1"/>
          <p:nvPr/>
        </p:nvSpPr>
        <p:spPr>
          <a:xfrm>
            <a:off x="548640" y="3438144"/>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Capital One Shopping</a:t>
            </a:r>
          </a:p>
        </p:txBody>
      </p:sp>
      <p:sp>
        <p:nvSpPr>
          <p:cNvPr id="22" name="Round Same Side Corner Rectangle 21"/>
          <p:cNvSpPr/>
          <p:nvPr/>
        </p:nvSpPr>
        <p:spPr>
          <a:xfrm rot="5400000">
            <a:off x="2982557" y="2979330"/>
            <a:ext cx="246888" cy="1182802"/>
          </a:xfrm>
          <a:prstGeom prst="round2SameRect">
            <a:avLst>
              <a:gd name="adj1" fmla="val 14000"/>
              <a:gd name="adj2" fmla="val 0"/>
            </a:avLst>
          </a:prstGeom>
          <a:solidFill>
            <a:srgbClr val="B7C1CC"/>
          </a:solidFill>
          <a:ln>
            <a:noFill/>
          </a:ln>
        </p:spPr>
        <p:txBody>
          <a:bodyPr rtlCol="0" anchor="ctr"/>
          <a:lstStyle/>
          <a:p>
            <a:pPr algn="ctr"/>
          </a:p>
        </p:txBody>
      </p:sp>
      <p:sp>
        <p:nvSpPr>
          <p:cNvPr id="23" name="TextBox 22"/>
          <p:cNvSpPr txBox="1"/>
          <p:nvPr/>
        </p:nvSpPr>
        <p:spPr>
          <a:xfrm>
            <a:off x="3788842" y="3438144"/>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6,651</a:t>
            </a:r>
          </a:p>
        </p:txBody>
      </p:sp>
      <p:sp>
        <p:nvSpPr>
          <p:cNvPr id="24" name="TextBox 23"/>
          <p:cNvSpPr txBox="1"/>
          <p:nvPr/>
        </p:nvSpPr>
        <p:spPr>
          <a:xfrm>
            <a:off x="548640" y="3831335"/>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Amazon</a:t>
            </a:r>
          </a:p>
        </p:txBody>
      </p:sp>
      <p:sp>
        <p:nvSpPr>
          <p:cNvPr id="25" name="TextBox 24"/>
          <p:cNvSpPr txBox="1"/>
          <p:nvPr/>
        </p:nvSpPr>
        <p:spPr>
          <a:xfrm>
            <a:off x="2606040" y="3831335"/>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12  · not covered</a:t>
            </a:r>
          </a:p>
        </p:txBody>
      </p:sp>
      <p:sp>
        <p:nvSpPr>
          <p:cNvPr id="26" name="TextBox 25"/>
          <p:cNvSpPr txBox="1"/>
          <p:nvPr/>
        </p:nvSpPr>
        <p:spPr>
          <a:xfrm>
            <a:off x="548640" y="4224528"/>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Google</a:t>
            </a:r>
          </a:p>
        </p:txBody>
      </p:sp>
      <p:sp>
        <p:nvSpPr>
          <p:cNvPr id="27" name="TextBox 26"/>
          <p:cNvSpPr txBox="1"/>
          <p:nvPr/>
        </p:nvSpPr>
        <p:spPr>
          <a:xfrm>
            <a:off x="2606040" y="4224528"/>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7  · not covered</a:t>
            </a:r>
          </a:p>
        </p:txBody>
      </p:sp>
      <p:sp>
        <p:nvSpPr>
          <p:cNvPr id="28" name="TextBox 27"/>
          <p:cNvSpPr txBox="1"/>
          <p:nvPr/>
        </p:nvSpPr>
        <p:spPr>
          <a:xfrm>
            <a:off x="548640" y="4617720"/>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Facebook</a:t>
            </a:r>
          </a:p>
        </p:txBody>
      </p:sp>
      <p:sp>
        <p:nvSpPr>
          <p:cNvPr id="29" name="TextBox 28"/>
          <p:cNvSpPr txBox="1"/>
          <p:nvPr/>
        </p:nvSpPr>
        <p:spPr>
          <a:xfrm>
            <a:off x="2606040" y="4617720"/>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3  · not covered</a:t>
            </a:r>
          </a:p>
        </p:txBody>
      </p:sp>
      <p:sp>
        <p:nvSpPr>
          <p:cNvPr id="30" name="TextBox 29"/>
          <p:cNvSpPr txBox="1"/>
          <p:nvPr/>
        </p:nvSpPr>
        <p:spPr>
          <a:xfrm>
            <a:off x="548640" y="5010912"/>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YouTube</a:t>
            </a:r>
          </a:p>
        </p:txBody>
      </p:sp>
      <p:sp>
        <p:nvSpPr>
          <p:cNvPr id="31" name="TextBox 30"/>
          <p:cNvSpPr txBox="1"/>
          <p:nvPr/>
        </p:nvSpPr>
        <p:spPr>
          <a:xfrm>
            <a:off x="2606040" y="5010912"/>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2  · not covered</a:t>
            </a:r>
          </a:p>
        </p:txBody>
      </p:sp>
      <p:sp>
        <p:nvSpPr>
          <p:cNvPr id="32" name="TextBox 31"/>
          <p:cNvSpPr txBox="1"/>
          <p:nvPr/>
        </p:nvSpPr>
        <p:spPr>
          <a:xfrm>
            <a:off x="548640" y="5404104"/>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Target</a:t>
            </a:r>
          </a:p>
        </p:txBody>
      </p:sp>
      <p:sp>
        <p:nvSpPr>
          <p:cNvPr id="33" name="TextBox 32"/>
          <p:cNvSpPr txBox="1"/>
          <p:nvPr/>
        </p:nvSpPr>
        <p:spPr>
          <a:xfrm>
            <a:off x="2606040" y="5404104"/>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0  · not covered</a:t>
            </a:r>
          </a:p>
        </p:txBody>
      </p:sp>
      <p:cxnSp>
        <p:nvCxnSpPr>
          <p:cNvPr id="34" name="Connector 33"/>
          <p:cNvCxnSpPr/>
          <p:nvPr/>
        </p:nvCxnSpPr>
        <p:spPr>
          <a:xfrm>
            <a:off x="2514600" y="1783079"/>
            <a:ext cx="0" cy="3950209"/>
          </a:xfrm>
          <a:prstGeom prst="line">
            <a:avLst/>
          </a:prstGeom>
          <a:ln w="9525">
            <a:solidFill>
              <a:srgbClr val="1E2833"/>
            </a:solidFill>
          </a:ln>
        </p:spPr>
      </p:cxnSp>
      <p:sp>
        <p:nvSpPr>
          <p:cNvPr id="35" name="Rectangle 34"/>
          <p:cNvSpPr/>
          <p:nvPr/>
        </p:nvSpPr>
        <p:spPr>
          <a:xfrm>
            <a:off x="7406640" y="1508760"/>
            <a:ext cx="4236415" cy="1325880"/>
          </a:xfrm>
          <a:prstGeom prst="rect">
            <a:avLst/>
          </a:prstGeom>
          <a:solidFill>
            <a:srgbClr val="F3F6F9"/>
          </a:solidFill>
          <a:ln>
            <a:noFill/>
          </a:ln>
        </p:spPr>
        <p:txBody>
          <a:bodyPr rtlCol="0" anchor="ctr"/>
          <a:lstStyle/>
          <a:p>
            <a:pPr algn="ctr"/>
          </a:p>
        </p:txBody>
      </p:sp>
      <p:sp>
        <p:nvSpPr>
          <p:cNvPr id="36" name="TextBox 35"/>
          <p:cNvSpPr txBox="1"/>
          <p:nvPr/>
        </p:nvSpPr>
        <p:spPr>
          <a:xfrm>
            <a:off x="7680960" y="1673351"/>
            <a:ext cx="3687775" cy="50292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784K users</a:t>
            </a:r>
          </a:p>
        </p:txBody>
      </p:sp>
      <p:sp>
        <p:nvSpPr>
          <p:cNvPr id="37" name="TextBox 36"/>
          <p:cNvSpPr txBox="1"/>
          <p:nvPr/>
        </p:nvSpPr>
        <p:spPr>
          <a:xfrm>
            <a:off x="7680960" y="2240280"/>
            <a:ext cx="3687775" cy="50292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88.5% US · top 10% make 57% of events</a:t>
            </a:r>
          </a:p>
        </p:txBody>
      </p:sp>
      <p:sp>
        <p:nvSpPr>
          <p:cNvPr id="38" name="Rectangle 37"/>
          <p:cNvSpPr/>
          <p:nvPr/>
        </p:nvSpPr>
        <p:spPr>
          <a:xfrm>
            <a:off x="7406640" y="2990088"/>
            <a:ext cx="4236415" cy="1325880"/>
          </a:xfrm>
          <a:prstGeom prst="rect">
            <a:avLst/>
          </a:prstGeom>
          <a:solidFill>
            <a:srgbClr val="F3F6F9"/>
          </a:solidFill>
          <a:ln>
            <a:noFill/>
          </a:ln>
        </p:spPr>
        <p:txBody>
          <a:bodyPr rtlCol="0" anchor="ctr"/>
          <a:lstStyle/>
          <a:p>
            <a:pPr algn="ctr"/>
          </a:p>
        </p:txBody>
      </p:sp>
      <p:sp>
        <p:nvSpPr>
          <p:cNvPr id="39" name="TextBox 38"/>
          <p:cNvSpPr txBox="1"/>
          <p:nvPr/>
        </p:nvSpPr>
        <p:spPr>
          <a:xfrm>
            <a:off x="7680960" y="3154680"/>
            <a:ext cx="3687775" cy="50292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No search engines</a:t>
            </a:r>
          </a:p>
        </p:txBody>
      </p:sp>
      <p:sp>
        <p:nvSpPr>
          <p:cNvPr id="40" name="TextBox 39"/>
          <p:cNvSpPr txBox="1"/>
          <p:nvPr/>
        </p:nvSpPr>
        <p:spPr>
          <a:xfrm>
            <a:off x="7680960" y="3721608"/>
            <a:ext cx="3687775" cy="50292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"Brand search" can't fire; "no referrer" stays weak</a:t>
            </a:r>
          </a:p>
        </p:txBody>
      </p:sp>
      <p:sp>
        <p:nvSpPr>
          <p:cNvPr id="41" name="Rectangle 40"/>
          <p:cNvSpPr/>
          <p:nvPr/>
        </p:nvSpPr>
        <p:spPr>
          <a:xfrm>
            <a:off x="7406640" y="4471416"/>
            <a:ext cx="4236415" cy="1325880"/>
          </a:xfrm>
          <a:prstGeom prst="rect">
            <a:avLst/>
          </a:prstGeom>
          <a:solidFill>
            <a:srgbClr val="FFF1E5"/>
          </a:solidFill>
          <a:ln>
            <a:noFill/>
          </a:ln>
        </p:spPr>
        <p:txBody>
          <a:bodyPr rtlCol="0" anchor="ctr"/>
          <a:lstStyle/>
          <a:p>
            <a:pPr algn="ctr"/>
          </a:p>
        </p:txBody>
      </p:sp>
      <p:sp>
        <p:nvSpPr>
          <p:cNvPr id="42" name="TextBox 41"/>
          <p:cNvSpPr txBox="1"/>
          <p:nvPr/>
        </p:nvSpPr>
        <p:spPr>
          <a:xfrm>
            <a:off x="7680960" y="4636008"/>
            <a:ext cx="3687775" cy="50292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79% → 76%</a:t>
            </a:r>
          </a:p>
        </p:txBody>
      </p:sp>
      <p:sp>
        <p:nvSpPr>
          <p:cNvPr id="43" name="TextBox 42"/>
          <p:cNvSpPr txBox="1"/>
          <p:nvPr/>
        </p:nvSpPr>
        <p:spPr>
          <a:xfrm>
            <a:off x="7680960" y="5202936"/>
            <a:ext cx="3687775" cy="50292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Walmart orders from flagged clicks, with coupon-extension users dropped</a:t>
            </a:r>
          </a:p>
        </p:txBody>
      </p:sp>
      <p:sp>
        <p:nvSpPr>
          <p:cNvPr id="44" name="TextBox 43"/>
          <p:cNvSpPr txBox="1"/>
          <p:nvPr/>
        </p:nvSpPr>
        <p:spPr>
          <a:xfrm>
            <a:off x="548640" y="5989320"/>
            <a:ext cx="6675120"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Same pattern in every activity tier: 50–85% of orders from flagged clicks.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WALMART, 6,449 CLICKS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26–41% of shoppers' clicks take 51–79% of affiliate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8</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Walmart shoppers' affiliate clicks flagged, and the orders they take</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Clicks flagged</a:t>
            </a:r>
          </a:p>
        </p:txBody>
      </p:sp>
      <p:sp>
        <p:nvSpPr>
          <p:cNvPr id="11" name="Rectangle 10"/>
          <p:cNvSpPr/>
          <p:nvPr/>
        </p:nvSpPr>
        <p:spPr>
          <a:xfrm>
            <a:off x="2269540"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4981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orders they take</a:t>
            </a:r>
          </a:p>
        </p:txBody>
      </p:sp>
      <p:sp>
        <p:nvSpPr>
          <p:cNvPr id="13" name="TextBox 12"/>
          <p:cNvSpPr txBox="1"/>
          <p:nvPr/>
        </p:nvSpPr>
        <p:spPr>
          <a:xfrm>
            <a:off x="548640" y="2578608"/>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30-min look-back</a:t>
            </a:r>
          </a:p>
        </p:txBody>
      </p:sp>
      <p:sp>
        <p:nvSpPr>
          <p:cNvPr id="14" name="Round Same Side Corner Rectangle 13"/>
          <p:cNvSpPr/>
          <p:nvPr/>
        </p:nvSpPr>
        <p:spPr>
          <a:xfrm rot="5400000">
            <a:off x="3142244" y="1658355"/>
            <a:ext cx="274320" cy="1803928"/>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4272808" y="2432303"/>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41%</a:t>
            </a:r>
          </a:p>
        </p:txBody>
      </p:sp>
      <p:sp>
        <p:nvSpPr>
          <p:cNvPr id="16" name="Round Same Side Corner Rectangle 15"/>
          <p:cNvSpPr/>
          <p:nvPr/>
        </p:nvSpPr>
        <p:spPr>
          <a:xfrm rot="5400000">
            <a:off x="3963009" y="1166774"/>
            <a:ext cx="274320" cy="3445459"/>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5914339" y="2761487"/>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79%</a:t>
            </a:r>
          </a:p>
        </p:txBody>
      </p:sp>
      <p:sp>
        <p:nvSpPr>
          <p:cNvPr id="18" name="TextBox 17"/>
          <p:cNvSpPr txBox="1"/>
          <p:nvPr/>
        </p:nvSpPr>
        <p:spPr>
          <a:xfrm>
            <a:off x="548640" y="3602736"/>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10-min look-back</a:t>
            </a:r>
          </a:p>
        </p:txBody>
      </p:sp>
      <p:sp>
        <p:nvSpPr>
          <p:cNvPr id="19" name="Round Same Side Corner Rectangle 18"/>
          <p:cNvSpPr/>
          <p:nvPr/>
        </p:nvSpPr>
        <p:spPr>
          <a:xfrm rot="5400000">
            <a:off x="3012765" y="2811962"/>
            <a:ext cx="274320" cy="1544970"/>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4013850" y="3456432"/>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35%</a:t>
            </a:r>
          </a:p>
        </p:txBody>
      </p:sp>
      <p:sp>
        <p:nvSpPr>
          <p:cNvPr id="21" name="Round Same Side Corner Rectangle 20"/>
          <p:cNvSpPr/>
          <p:nvPr/>
        </p:nvSpPr>
        <p:spPr>
          <a:xfrm rot="5400000">
            <a:off x="3798417" y="2355494"/>
            <a:ext cx="274320" cy="3116275"/>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585155" y="3785615"/>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71%</a:t>
            </a:r>
          </a:p>
        </p:txBody>
      </p:sp>
      <p:sp>
        <p:nvSpPr>
          <p:cNvPr id="23" name="TextBox 22"/>
          <p:cNvSpPr txBox="1"/>
          <p:nvPr/>
        </p:nvSpPr>
        <p:spPr>
          <a:xfrm>
            <a:off x="548640" y="4626864"/>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2-min look-back</a:t>
            </a:r>
          </a:p>
        </p:txBody>
      </p:sp>
      <p:sp>
        <p:nvSpPr>
          <p:cNvPr id="24" name="Round Same Side Corner Rectangle 23"/>
          <p:cNvSpPr/>
          <p:nvPr/>
        </p:nvSpPr>
        <p:spPr>
          <a:xfrm rot="5400000">
            <a:off x="2819643" y="4029212"/>
            <a:ext cx="274320" cy="1158727"/>
          </a:xfrm>
          <a:prstGeom prst="round2SameRect">
            <a:avLst>
              <a:gd name="adj1" fmla="val 14000"/>
              <a:gd name="adj2" fmla="val 0"/>
            </a:avLst>
          </a:prstGeom>
          <a:solidFill>
            <a:srgbClr val="B7C1CC"/>
          </a:solidFill>
          <a:ln>
            <a:noFill/>
          </a:ln>
        </p:spPr>
        <p:txBody>
          <a:bodyPr rtlCol="0" anchor="ctr"/>
          <a:lstStyle/>
          <a:p>
            <a:pPr algn="ctr"/>
          </a:p>
        </p:txBody>
      </p:sp>
      <p:sp>
        <p:nvSpPr>
          <p:cNvPr id="25" name="TextBox 24"/>
          <p:cNvSpPr txBox="1"/>
          <p:nvPr/>
        </p:nvSpPr>
        <p:spPr>
          <a:xfrm>
            <a:off x="3627607" y="4480560"/>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26%</a:t>
            </a:r>
          </a:p>
        </p:txBody>
      </p:sp>
      <p:sp>
        <p:nvSpPr>
          <p:cNvPr id="26" name="Round Same Side Corner Rectangle 25"/>
          <p:cNvSpPr/>
          <p:nvPr/>
        </p:nvSpPr>
        <p:spPr>
          <a:xfrm rot="5400000">
            <a:off x="3348532" y="3829507"/>
            <a:ext cx="274320" cy="2216505"/>
          </a:xfrm>
          <a:prstGeom prst="round2SameRect">
            <a:avLst>
              <a:gd name="adj1" fmla="val 14000"/>
              <a:gd name="adj2" fmla="val 0"/>
            </a:avLst>
          </a:prstGeom>
          <a:solidFill>
            <a:srgbClr val="FF9438"/>
          </a:solidFill>
          <a:ln>
            <a:noFill/>
          </a:ln>
        </p:spPr>
        <p:txBody>
          <a:bodyPr rtlCol="0" anchor="ctr"/>
          <a:lstStyle/>
          <a:p>
            <a:pPr algn="ctr"/>
          </a:p>
        </p:txBody>
      </p:sp>
      <p:sp>
        <p:nvSpPr>
          <p:cNvPr id="27" name="TextBox 26"/>
          <p:cNvSpPr txBox="1"/>
          <p:nvPr/>
        </p:nvSpPr>
        <p:spPr>
          <a:xfrm>
            <a:off x="4685385" y="4809744"/>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51%</a:t>
            </a:r>
          </a:p>
        </p:txBody>
      </p:sp>
      <p:cxnSp>
        <p:nvCxnSpPr>
          <p:cNvPr id="28" name="Connector 27"/>
          <p:cNvCxnSpPr/>
          <p:nvPr/>
        </p:nvCxnSpPr>
        <p:spPr>
          <a:xfrm>
            <a:off x="2377440" y="2286000"/>
            <a:ext cx="0" cy="2916936"/>
          </a:xfrm>
          <a:prstGeom prst="line">
            <a:avLst/>
          </a:prstGeom>
          <a:ln w="9525">
            <a:solidFill>
              <a:srgbClr val="1E2833"/>
            </a:solidFill>
          </a:ln>
        </p:spPr>
      </p:cxnSp>
      <p:sp>
        <p:nvSpPr>
          <p:cNvPr id="29" name="Rectangle 28"/>
          <p:cNvSpPr/>
          <p:nvPr/>
        </p:nvSpPr>
        <p:spPr>
          <a:xfrm>
            <a:off x="7452360" y="1508760"/>
            <a:ext cx="4190695" cy="2240280"/>
          </a:xfrm>
          <a:prstGeom prst="rect">
            <a:avLst/>
          </a:prstGeom>
          <a:solidFill>
            <a:srgbClr val="F3F6F9"/>
          </a:solidFill>
          <a:ln>
            <a:noFill/>
          </a:ln>
        </p:spPr>
        <p:txBody>
          <a:bodyPr rtlCol="0" anchor="ctr"/>
          <a:lstStyle/>
          <a:p>
            <a:pPr algn="ctr"/>
          </a:p>
        </p:txBody>
      </p:sp>
      <p:sp>
        <p:nvSpPr>
          <p:cNvPr id="30" name="Oval 29"/>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31" name="TextBox 30"/>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Clicks fired after the cart</a:t>
            </a:r>
          </a:p>
        </p:txBody>
      </p:sp>
      <p:sp>
        <p:nvSpPr>
          <p:cNvPr id="32" name="TextBox 31"/>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13% vs 0.4%</a:t>
            </a:r>
          </a:p>
        </p:txBody>
      </p:sp>
      <p:sp>
        <p:nvSpPr>
          <p:cNvPr id="33" name="TextBox 32"/>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conversion, vs clicks with no signal</a:t>
            </a:r>
          </a:p>
        </p:txBody>
      </p:sp>
      <p:sp>
        <p:nvSpPr>
          <p:cNvPr id="34" name="TextBox 33"/>
          <p:cNvSpPr txBox="1"/>
          <p:nvPr/>
        </p:nvSpPr>
        <p:spPr>
          <a:xfrm>
            <a:off x="7726680" y="3182112"/>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The order follows a median 2.3 min later</a:t>
            </a:r>
          </a:p>
        </p:txBody>
      </p:sp>
      <p:sp>
        <p:nvSpPr>
          <p:cNvPr id="35" name="TextBox 34"/>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How the credit is taken</a:t>
            </a:r>
          </a:p>
        </p:txBody>
      </p:sp>
      <p:sp>
        <p:nvSpPr>
          <p:cNvPr id="36" name="Oval 35"/>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37" name="TextBox 36"/>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Silent redirects from walmart.com itself</a:t>
            </a:r>
          </a:p>
        </p:txBody>
      </p:sp>
      <p:sp>
        <p:nvSpPr>
          <p:cNvPr id="38" name="Oval 37"/>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39" name="TextBox 38"/>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Price-comparison redirects (Bizrate)</a:t>
            </a:r>
          </a:p>
        </p:txBody>
      </p:sp>
      <p:sp>
        <p:nvSpPr>
          <p:cNvPr id="40" name="Oval 39"/>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41" name="TextBox 40"/>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Coupon and cash-back extensions</a:t>
            </a:r>
          </a:p>
        </p:txBody>
      </p:sp>
      <p:sp>
        <p:nvSpPr>
          <p:cNvPr id="42" name="TextBox 41"/>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Flagged: a click without a landing, fired at the cart or while already on the site, or from a publisher-bought search ad. Click flooding excluded; over all clicks, 13–24% are flagged.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CLICK FLOODING · WALMART</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58 people make 71% of the clicks and 4% of the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9</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affiliate clicks, by the person's clicks that day</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Share of clicks</a:t>
            </a:r>
          </a:p>
        </p:txBody>
      </p:sp>
      <p:sp>
        <p:nvSpPr>
          <p:cNvPr id="11" name="Rectangle 10"/>
          <p:cNvSpPr/>
          <p:nvPr/>
        </p:nvSpPr>
        <p:spPr>
          <a:xfrm>
            <a:off x="2350008"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578608"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Share of affiliate orders</a:t>
            </a:r>
          </a:p>
        </p:txBody>
      </p:sp>
      <p:sp>
        <p:nvSpPr>
          <p:cNvPr id="13" name="TextBox 12"/>
          <p:cNvSpPr txBox="1"/>
          <p:nvPr/>
        </p:nvSpPr>
        <p:spPr>
          <a:xfrm>
            <a:off x="548640" y="2395728"/>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1–3 a day</a:t>
            </a:r>
          </a:p>
        </p:txBody>
      </p:sp>
      <p:sp>
        <p:nvSpPr>
          <p:cNvPr id="14" name="TextBox 13"/>
          <p:cNvSpPr txBox="1"/>
          <p:nvPr/>
        </p:nvSpPr>
        <p:spPr>
          <a:xfrm>
            <a:off x="548640" y="2651760"/>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835 people</a:t>
            </a:r>
          </a:p>
        </p:txBody>
      </p:sp>
      <p:sp>
        <p:nvSpPr>
          <p:cNvPr id="15" name="Round Same Side Corner Rectangle 14"/>
          <p:cNvSpPr/>
          <p:nvPr/>
        </p:nvSpPr>
        <p:spPr>
          <a:xfrm rot="5400000">
            <a:off x="2949166" y="1942873"/>
            <a:ext cx="228600" cy="1097733"/>
          </a:xfrm>
          <a:prstGeom prst="round2SameRect">
            <a:avLst>
              <a:gd name="adj1" fmla="val 14000"/>
              <a:gd name="adj2" fmla="val 0"/>
            </a:avLst>
          </a:prstGeom>
          <a:solidFill>
            <a:srgbClr val="B7C1CC"/>
          </a:solidFill>
          <a:ln>
            <a:noFill/>
          </a:ln>
        </p:spPr>
        <p:txBody>
          <a:bodyPr rtlCol="0" anchor="ctr"/>
          <a:lstStyle/>
          <a:p>
            <a:pPr algn="ctr"/>
          </a:p>
        </p:txBody>
      </p:sp>
      <p:sp>
        <p:nvSpPr>
          <p:cNvPr id="16" name="TextBox 15"/>
          <p:cNvSpPr txBox="1"/>
          <p:nvPr/>
        </p:nvSpPr>
        <p:spPr>
          <a:xfrm>
            <a:off x="3703773" y="2359152"/>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17%</a:t>
            </a:r>
          </a:p>
        </p:txBody>
      </p:sp>
      <p:sp>
        <p:nvSpPr>
          <p:cNvPr id="17" name="Round Same Side Corner Rectangle 16"/>
          <p:cNvSpPr/>
          <p:nvPr/>
        </p:nvSpPr>
        <p:spPr>
          <a:xfrm rot="5400000">
            <a:off x="4476235" y="680980"/>
            <a:ext cx="228600" cy="4151870"/>
          </a:xfrm>
          <a:prstGeom prst="round2SameRect">
            <a:avLst>
              <a:gd name="adj1" fmla="val 14000"/>
              <a:gd name="adj2" fmla="val 0"/>
            </a:avLst>
          </a:prstGeom>
          <a:solidFill>
            <a:srgbClr val="FF9438"/>
          </a:solidFill>
          <a:ln>
            <a:noFill/>
          </a:ln>
        </p:spPr>
        <p:txBody>
          <a:bodyPr rtlCol="0" anchor="ctr"/>
          <a:lstStyle/>
          <a:p>
            <a:pPr algn="ctr"/>
          </a:p>
        </p:txBody>
      </p:sp>
      <p:sp>
        <p:nvSpPr>
          <p:cNvPr id="18" name="TextBox 17"/>
          <p:cNvSpPr txBox="1"/>
          <p:nvPr/>
        </p:nvSpPr>
        <p:spPr>
          <a:xfrm>
            <a:off x="6757910" y="2624328"/>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65%</a:t>
            </a:r>
          </a:p>
        </p:txBody>
      </p:sp>
      <p:sp>
        <p:nvSpPr>
          <p:cNvPr id="19" name="TextBox 18"/>
          <p:cNvSpPr txBox="1"/>
          <p:nvPr/>
        </p:nvSpPr>
        <p:spPr>
          <a:xfrm>
            <a:off x="548640" y="3108960"/>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4–9</a:t>
            </a:r>
          </a:p>
        </p:txBody>
      </p:sp>
      <p:sp>
        <p:nvSpPr>
          <p:cNvPr id="20" name="TextBox 19"/>
          <p:cNvSpPr txBox="1"/>
          <p:nvPr/>
        </p:nvSpPr>
        <p:spPr>
          <a:xfrm>
            <a:off x="548640" y="3364991"/>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90 people</a:t>
            </a:r>
          </a:p>
        </p:txBody>
      </p:sp>
      <p:sp>
        <p:nvSpPr>
          <p:cNvPr id="21" name="Round Same Side Corner Rectangle 20"/>
          <p:cNvSpPr/>
          <p:nvPr/>
        </p:nvSpPr>
        <p:spPr>
          <a:xfrm rot="5400000">
            <a:off x="2642476" y="2962795"/>
            <a:ext cx="228600" cy="484352"/>
          </a:xfrm>
          <a:prstGeom prst="round2SameRect">
            <a:avLst>
              <a:gd name="adj1" fmla="val 14000"/>
              <a:gd name="adj2" fmla="val 0"/>
            </a:avLst>
          </a:prstGeom>
          <a:solidFill>
            <a:srgbClr val="B7C1CC"/>
          </a:solidFill>
          <a:ln>
            <a:noFill/>
          </a:ln>
        </p:spPr>
        <p:txBody>
          <a:bodyPr rtlCol="0" anchor="ctr"/>
          <a:lstStyle/>
          <a:p>
            <a:pPr algn="ctr"/>
          </a:p>
        </p:txBody>
      </p:sp>
      <p:sp>
        <p:nvSpPr>
          <p:cNvPr id="22" name="TextBox 21"/>
          <p:cNvSpPr txBox="1"/>
          <p:nvPr/>
        </p:nvSpPr>
        <p:spPr>
          <a:xfrm>
            <a:off x="3090392" y="3072384"/>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8%</a:t>
            </a:r>
          </a:p>
        </p:txBody>
      </p:sp>
      <p:sp>
        <p:nvSpPr>
          <p:cNvPr id="23" name="Round Same Side Corner Rectangle 22"/>
          <p:cNvSpPr/>
          <p:nvPr/>
        </p:nvSpPr>
        <p:spPr>
          <a:xfrm rot="5400000">
            <a:off x="3265272" y="2605175"/>
            <a:ext cx="228600" cy="1729945"/>
          </a:xfrm>
          <a:prstGeom prst="round2SameRect">
            <a:avLst>
              <a:gd name="adj1" fmla="val 14000"/>
              <a:gd name="adj2" fmla="val 0"/>
            </a:avLst>
          </a:prstGeom>
          <a:solidFill>
            <a:srgbClr val="FF9438"/>
          </a:solidFill>
          <a:ln>
            <a:noFill/>
          </a:ln>
        </p:spPr>
        <p:txBody>
          <a:bodyPr rtlCol="0" anchor="ctr"/>
          <a:lstStyle/>
          <a:p>
            <a:pPr algn="ctr"/>
          </a:p>
        </p:txBody>
      </p:sp>
      <p:sp>
        <p:nvSpPr>
          <p:cNvPr id="24" name="TextBox 23"/>
          <p:cNvSpPr txBox="1"/>
          <p:nvPr/>
        </p:nvSpPr>
        <p:spPr>
          <a:xfrm>
            <a:off x="4335985" y="3337560"/>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27%</a:t>
            </a:r>
          </a:p>
        </p:txBody>
      </p:sp>
      <p:sp>
        <p:nvSpPr>
          <p:cNvPr id="25" name="TextBox 24"/>
          <p:cNvSpPr txBox="1"/>
          <p:nvPr/>
        </p:nvSpPr>
        <p:spPr>
          <a:xfrm>
            <a:off x="548640" y="3822191"/>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10–19</a:t>
            </a:r>
          </a:p>
        </p:txBody>
      </p:sp>
      <p:sp>
        <p:nvSpPr>
          <p:cNvPr id="26" name="TextBox 25"/>
          <p:cNvSpPr txBox="1"/>
          <p:nvPr/>
        </p:nvSpPr>
        <p:spPr>
          <a:xfrm>
            <a:off x="548640" y="4078224"/>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20 people</a:t>
            </a:r>
          </a:p>
        </p:txBody>
      </p:sp>
      <p:sp>
        <p:nvSpPr>
          <p:cNvPr id="27" name="Round Same Side Corner Rectangle 26"/>
          <p:cNvSpPr/>
          <p:nvPr/>
        </p:nvSpPr>
        <p:spPr>
          <a:xfrm rot="5400000">
            <a:off x="2529824" y="3788679"/>
            <a:ext cx="228600" cy="259049"/>
          </a:xfrm>
          <a:prstGeom prst="round2SameRect">
            <a:avLst>
              <a:gd name="adj1" fmla="val 14000"/>
              <a:gd name="adj2" fmla="val 0"/>
            </a:avLst>
          </a:prstGeom>
          <a:solidFill>
            <a:srgbClr val="B7C1CC"/>
          </a:solidFill>
          <a:ln>
            <a:noFill/>
          </a:ln>
        </p:spPr>
        <p:txBody>
          <a:bodyPr rtlCol="0" anchor="ctr"/>
          <a:lstStyle/>
          <a:p>
            <a:pPr algn="ctr"/>
          </a:p>
        </p:txBody>
      </p:sp>
      <p:sp>
        <p:nvSpPr>
          <p:cNvPr id="28" name="TextBox 27"/>
          <p:cNvSpPr txBox="1"/>
          <p:nvPr/>
        </p:nvSpPr>
        <p:spPr>
          <a:xfrm>
            <a:off x="2865089" y="3785616"/>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4%</a:t>
            </a:r>
          </a:p>
        </p:txBody>
      </p:sp>
      <p:sp>
        <p:nvSpPr>
          <p:cNvPr id="29" name="Round Same Side Corner Rectangle 28"/>
          <p:cNvSpPr/>
          <p:nvPr/>
        </p:nvSpPr>
        <p:spPr>
          <a:xfrm rot="5400000">
            <a:off x="2544462" y="4039217"/>
            <a:ext cx="228600" cy="288324"/>
          </a:xfrm>
          <a:prstGeom prst="round2SameRect">
            <a:avLst>
              <a:gd name="adj1" fmla="val 14000"/>
              <a:gd name="adj2" fmla="val 0"/>
            </a:avLst>
          </a:prstGeom>
          <a:solidFill>
            <a:srgbClr val="FF9438"/>
          </a:solidFill>
          <a:ln>
            <a:noFill/>
          </a:ln>
        </p:spPr>
        <p:txBody>
          <a:bodyPr rtlCol="0" anchor="ctr"/>
          <a:lstStyle/>
          <a:p>
            <a:pPr algn="ctr"/>
          </a:p>
        </p:txBody>
      </p:sp>
      <p:sp>
        <p:nvSpPr>
          <p:cNvPr id="30" name="TextBox 29"/>
          <p:cNvSpPr txBox="1"/>
          <p:nvPr/>
        </p:nvSpPr>
        <p:spPr>
          <a:xfrm>
            <a:off x="2894364" y="4050792"/>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5%</a:t>
            </a:r>
          </a:p>
        </p:txBody>
      </p:sp>
      <p:sp>
        <p:nvSpPr>
          <p:cNvPr id="31" name="TextBox 30"/>
          <p:cNvSpPr txBox="1"/>
          <p:nvPr/>
        </p:nvSpPr>
        <p:spPr>
          <a:xfrm>
            <a:off x="548640" y="4535423"/>
            <a:ext cx="192024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20–49</a:t>
            </a:r>
          </a:p>
        </p:txBody>
      </p:sp>
      <p:sp>
        <p:nvSpPr>
          <p:cNvPr id="32" name="TextBox 31"/>
          <p:cNvSpPr txBox="1"/>
          <p:nvPr/>
        </p:nvSpPr>
        <p:spPr>
          <a:xfrm>
            <a:off x="548640" y="4791455"/>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18 people</a:t>
            </a:r>
          </a:p>
        </p:txBody>
      </p:sp>
      <p:sp>
        <p:nvSpPr>
          <p:cNvPr id="33" name="Round Same Side Corner Rectangle 32"/>
          <p:cNvSpPr/>
          <p:nvPr/>
        </p:nvSpPr>
        <p:spPr>
          <a:xfrm rot="5400000">
            <a:off x="2694087" y="4337648"/>
            <a:ext cx="228600" cy="587575"/>
          </a:xfrm>
          <a:prstGeom prst="round2SameRect">
            <a:avLst>
              <a:gd name="adj1" fmla="val 14000"/>
              <a:gd name="adj2" fmla="val 0"/>
            </a:avLst>
          </a:prstGeom>
          <a:solidFill>
            <a:srgbClr val="B7C1CC"/>
          </a:solidFill>
          <a:ln>
            <a:noFill/>
          </a:ln>
        </p:spPr>
        <p:txBody>
          <a:bodyPr rtlCol="0" anchor="ctr"/>
          <a:lstStyle/>
          <a:p>
            <a:pPr algn="ctr"/>
          </a:p>
        </p:txBody>
      </p:sp>
      <p:sp>
        <p:nvSpPr>
          <p:cNvPr id="34" name="TextBox 33"/>
          <p:cNvSpPr txBox="1"/>
          <p:nvPr/>
        </p:nvSpPr>
        <p:spPr>
          <a:xfrm>
            <a:off x="3193615" y="4498848"/>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9%</a:t>
            </a:r>
          </a:p>
        </p:txBody>
      </p:sp>
      <p:sp>
        <p:nvSpPr>
          <p:cNvPr id="35" name="Rectangle 34"/>
          <p:cNvSpPr/>
          <p:nvPr/>
        </p:nvSpPr>
        <p:spPr>
          <a:xfrm>
            <a:off x="2514600" y="4782312"/>
            <a:ext cx="18288" cy="228600"/>
          </a:xfrm>
          <a:prstGeom prst="rect">
            <a:avLst/>
          </a:prstGeom>
          <a:solidFill>
            <a:srgbClr val="FF9438"/>
          </a:solidFill>
          <a:ln>
            <a:noFill/>
          </a:ln>
        </p:spPr>
        <p:txBody>
          <a:bodyPr rtlCol="0" anchor="ctr"/>
          <a:lstStyle/>
          <a:p>
            <a:pPr algn="ctr"/>
          </a:p>
        </p:txBody>
      </p:sp>
      <p:sp>
        <p:nvSpPr>
          <p:cNvPr id="36" name="TextBox 35"/>
          <p:cNvSpPr txBox="1"/>
          <p:nvPr/>
        </p:nvSpPr>
        <p:spPr>
          <a:xfrm>
            <a:off x="2606040" y="4764024"/>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0%</a:t>
            </a:r>
          </a:p>
        </p:txBody>
      </p:sp>
      <p:sp>
        <p:nvSpPr>
          <p:cNvPr id="37" name="TextBox 36"/>
          <p:cNvSpPr txBox="1"/>
          <p:nvPr/>
        </p:nvSpPr>
        <p:spPr>
          <a:xfrm>
            <a:off x="548640" y="5248656"/>
            <a:ext cx="192024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50 or more</a:t>
            </a:r>
          </a:p>
        </p:txBody>
      </p:sp>
      <p:sp>
        <p:nvSpPr>
          <p:cNvPr id="38" name="TextBox 37"/>
          <p:cNvSpPr txBox="1"/>
          <p:nvPr/>
        </p:nvSpPr>
        <p:spPr>
          <a:xfrm>
            <a:off x="548640" y="5504688"/>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40 people</a:t>
            </a:r>
          </a:p>
        </p:txBody>
      </p:sp>
      <p:sp>
        <p:nvSpPr>
          <p:cNvPr id="39" name="Round Same Side Corner Rectangle 38"/>
          <p:cNvSpPr/>
          <p:nvPr/>
        </p:nvSpPr>
        <p:spPr>
          <a:xfrm rot="5400000">
            <a:off x="4386344" y="3358623"/>
            <a:ext cx="228600" cy="3972088"/>
          </a:xfrm>
          <a:prstGeom prst="round2SameRect">
            <a:avLst>
              <a:gd name="adj1" fmla="val 14000"/>
              <a:gd name="adj2" fmla="val 0"/>
            </a:avLst>
          </a:prstGeom>
          <a:solidFill>
            <a:srgbClr val="B7C1CC"/>
          </a:solidFill>
          <a:ln>
            <a:noFill/>
          </a:ln>
        </p:spPr>
        <p:txBody>
          <a:bodyPr rtlCol="0" anchor="ctr"/>
          <a:lstStyle/>
          <a:p>
            <a:pPr algn="ctr"/>
          </a:p>
        </p:txBody>
      </p:sp>
      <p:sp>
        <p:nvSpPr>
          <p:cNvPr id="40" name="TextBox 39"/>
          <p:cNvSpPr txBox="1"/>
          <p:nvPr/>
        </p:nvSpPr>
        <p:spPr>
          <a:xfrm>
            <a:off x="6578128" y="5212080"/>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62%</a:t>
            </a:r>
          </a:p>
        </p:txBody>
      </p:sp>
      <p:sp>
        <p:nvSpPr>
          <p:cNvPr id="41" name="Round Same Side Corner Rectangle 40"/>
          <p:cNvSpPr/>
          <p:nvPr/>
        </p:nvSpPr>
        <p:spPr>
          <a:xfrm rot="5400000">
            <a:off x="2515629" y="5494514"/>
            <a:ext cx="228600" cy="230659"/>
          </a:xfrm>
          <a:prstGeom prst="round2SameRect">
            <a:avLst>
              <a:gd name="adj1" fmla="val 14000"/>
              <a:gd name="adj2" fmla="val 0"/>
            </a:avLst>
          </a:prstGeom>
          <a:solidFill>
            <a:srgbClr val="FF9438"/>
          </a:solidFill>
          <a:ln>
            <a:noFill/>
          </a:ln>
        </p:spPr>
        <p:txBody>
          <a:bodyPr rtlCol="0" anchor="ctr"/>
          <a:lstStyle/>
          <a:p>
            <a:pPr algn="ctr"/>
          </a:p>
        </p:txBody>
      </p:sp>
      <p:sp>
        <p:nvSpPr>
          <p:cNvPr id="42" name="TextBox 41"/>
          <p:cNvSpPr txBox="1"/>
          <p:nvPr/>
        </p:nvSpPr>
        <p:spPr>
          <a:xfrm>
            <a:off x="2836699" y="5477256"/>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4%</a:t>
            </a:r>
          </a:p>
        </p:txBody>
      </p:sp>
      <p:cxnSp>
        <p:nvCxnSpPr>
          <p:cNvPr id="43" name="Connector 42"/>
          <p:cNvCxnSpPr/>
          <p:nvPr/>
        </p:nvCxnSpPr>
        <p:spPr>
          <a:xfrm>
            <a:off x="2514600" y="2267712"/>
            <a:ext cx="0" cy="3529584"/>
          </a:xfrm>
          <a:prstGeom prst="line">
            <a:avLst/>
          </a:prstGeom>
          <a:ln w="9525">
            <a:solidFill>
              <a:srgbClr val="1E2833"/>
            </a:solidFill>
          </a:ln>
        </p:spPr>
      </p:cxnSp>
      <p:sp>
        <p:nvSpPr>
          <p:cNvPr id="44" name="Rectangle 43"/>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45" name="Oval 44"/>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46" name="TextBox 45"/>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Clicks an hour, median</a:t>
            </a:r>
          </a:p>
        </p:txBody>
      </p:sp>
      <p:sp>
        <p:nvSpPr>
          <p:cNvPr id="47" name="TextBox 46"/>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3400" i="0" b="1">
                <a:solidFill>
                  <a:srgbClr val="0B2A4A"/>
                </a:solidFill>
                <a:latin typeface="Arial"/>
              </a:rPr>
              <a:t>13–15 vs under 2</a:t>
            </a:r>
          </a:p>
        </p:txBody>
      </p:sp>
      <p:sp>
        <p:nvSpPr>
          <p:cNvPr id="48" name="TextBox 47"/>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20+ clicks a day vs fewer</a:t>
            </a:r>
          </a:p>
        </p:txBody>
      </p:sp>
      <p:sp>
        <p:nvSpPr>
          <p:cNvPr id="49" name="TextBox 48"/>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on 6–9 sites all day, vs 13–15</a:t>
            </a:r>
          </a:p>
        </p:txBody>
      </p:sp>
      <p:sp>
        <p:nvSpPr>
          <p:cNvPr id="50" name="TextBox 49"/>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What it means for Saatva</a:t>
            </a:r>
          </a:p>
        </p:txBody>
      </p:sp>
      <p:sp>
        <p:nvSpPr>
          <p:cNvPr id="51" name="Oval 50"/>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52" name="TextBox 51"/>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Cap clicks per device per day in EPC</a:t>
            </a:r>
          </a:p>
        </p:txBody>
      </p:sp>
      <p:sp>
        <p:nvSpPr>
          <p:cNvPr id="53" name="Oval 52"/>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54" name="TextBox 53"/>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Never pay per click on these partners</a:t>
            </a:r>
          </a:p>
        </p:txBody>
      </p:sp>
      <p:sp>
        <p:nvSpPr>
          <p:cNvPr id="55" name="Oval 54"/>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56" name="TextBox 55"/>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Alert on click velocity per publisher</a:t>
            </a:r>
          </a:p>
        </p:txBody>
      </p:sp>
      <p:sp>
        <p:nvSpPr>
          <p:cNvPr id="57" name="TextBox 56"/>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1 May 2026. Threshold 20 clicks a day; at 10 or 50 the flood share is 75% or 62% of clicks. No mattress-brand user crosses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THE FUNNEL VIEW</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3% of clicks land after the cart and take 42% of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10</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affiliate clicks, by the stage the shopper had reached</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Share of clicks</a:t>
            </a:r>
          </a:p>
        </p:txBody>
      </p:sp>
      <p:sp>
        <p:nvSpPr>
          <p:cNvPr id="11" name="Rectangle 10"/>
          <p:cNvSpPr/>
          <p:nvPr/>
        </p:nvSpPr>
        <p:spPr>
          <a:xfrm>
            <a:off x="2350008"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578608"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Share of affiliate orders</a:t>
            </a:r>
          </a:p>
        </p:txBody>
      </p:sp>
      <p:sp>
        <p:nvSpPr>
          <p:cNvPr id="13" name="TextBox 12"/>
          <p:cNvSpPr txBox="1"/>
          <p:nvPr/>
        </p:nvSpPr>
        <p:spPr>
          <a:xfrm>
            <a:off x="548640" y="2468880"/>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Click starts the visit</a:t>
            </a:r>
          </a:p>
        </p:txBody>
      </p:sp>
      <p:sp>
        <p:nvSpPr>
          <p:cNvPr id="14" name="Round Same Side Corner Rectangle 13"/>
          <p:cNvSpPr/>
          <p:nvPr/>
        </p:nvSpPr>
        <p:spPr>
          <a:xfrm rot="5400000">
            <a:off x="4259458" y="632581"/>
            <a:ext cx="228600" cy="3718316"/>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6324356" y="2359152"/>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78%</a:t>
            </a:r>
          </a:p>
        </p:txBody>
      </p:sp>
      <p:sp>
        <p:nvSpPr>
          <p:cNvPr id="16" name="Round Same Side Corner Rectangle 15"/>
          <p:cNvSpPr/>
          <p:nvPr/>
        </p:nvSpPr>
        <p:spPr>
          <a:xfrm rot="5400000">
            <a:off x="3127796" y="2029419"/>
            <a:ext cx="228600" cy="1454993"/>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4061033" y="2624328"/>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31%</a:t>
            </a:r>
          </a:p>
        </p:txBody>
      </p:sp>
      <p:sp>
        <p:nvSpPr>
          <p:cNvPr id="18" name="TextBox 17"/>
          <p:cNvSpPr txBox="1"/>
          <p:nvPr/>
        </p:nvSpPr>
        <p:spPr>
          <a:xfrm>
            <a:off x="548640" y="3182112"/>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Already browsing</a:t>
            </a:r>
          </a:p>
        </p:txBody>
      </p:sp>
      <p:sp>
        <p:nvSpPr>
          <p:cNvPr id="19" name="Rectangle 18"/>
          <p:cNvSpPr/>
          <p:nvPr/>
        </p:nvSpPr>
        <p:spPr>
          <a:xfrm>
            <a:off x="2514600" y="3090672"/>
            <a:ext cx="194950" cy="228600"/>
          </a:xfrm>
          <a:prstGeom prst="rect">
            <a:avLst/>
          </a:prstGeom>
          <a:solidFill>
            <a:srgbClr val="B7C1CC"/>
          </a:solidFill>
          <a:ln>
            <a:noFill/>
          </a:ln>
        </p:spPr>
        <p:txBody>
          <a:bodyPr rtlCol="0" anchor="ctr"/>
          <a:lstStyle/>
          <a:p>
            <a:pPr algn="ctr"/>
          </a:p>
        </p:txBody>
      </p:sp>
      <p:sp>
        <p:nvSpPr>
          <p:cNvPr id="20" name="TextBox 19"/>
          <p:cNvSpPr txBox="1"/>
          <p:nvPr/>
        </p:nvSpPr>
        <p:spPr>
          <a:xfrm>
            <a:off x="2800990" y="3072384"/>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4%</a:t>
            </a:r>
          </a:p>
        </p:txBody>
      </p:sp>
      <p:sp>
        <p:nvSpPr>
          <p:cNvPr id="21" name="Round Same Side Corner Rectangle 20"/>
          <p:cNvSpPr/>
          <p:nvPr/>
        </p:nvSpPr>
        <p:spPr>
          <a:xfrm rot="5400000">
            <a:off x="2721254" y="3149193"/>
            <a:ext cx="228600" cy="641908"/>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3247948" y="3337560"/>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14%</a:t>
            </a:r>
          </a:p>
        </p:txBody>
      </p:sp>
      <p:sp>
        <p:nvSpPr>
          <p:cNvPr id="23" name="TextBox 22"/>
          <p:cNvSpPr txBox="1"/>
          <p:nvPr/>
        </p:nvSpPr>
        <p:spPr>
          <a:xfrm>
            <a:off x="548640" y="3895344"/>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On a product page</a:t>
            </a:r>
          </a:p>
        </p:txBody>
      </p:sp>
      <p:sp>
        <p:nvSpPr>
          <p:cNvPr id="24" name="Round Same Side Corner Rectangle 23"/>
          <p:cNvSpPr/>
          <p:nvPr/>
        </p:nvSpPr>
        <p:spPr>
          <a:xfrm rot="5400000">
            <a:off x="2747406" y="3571097"/>
            <a:ext cx="228600" cy="694212"/>
          </a:xfrm>
          <a:prstGeom prst="round2SameRect">
            <a:avLst>
              <a:gd name="adj1" fmla="val 14000"/>
              <a:gd name="adj2" fmla="val 0"/>
            </a:avLst>
          </a:prstGeom>
          <a:solidFill>
            <a:srgbClr val="B7C1CC"/>
          </a:solidFill>
          <a:ln>
            <a:noFill/>
          </a:ln>
        </p:spPr>
        <p:txBody>
          <a:bodyPr rtlCol="0" anchor="ctr"/>
          <a:lstStyle/>
          <a:p>
            <a:pPr algn="ctr"/>
          </a:p>
        </p:txBody>
      </p:sp>
      <p:sp>
        <p:nvSpPr>
          <p:cNvPr id="25" name="TextBox 24"/>
          <p:cNvSpPr txBox="1"/>
          <p:nvPr/>
        </p:nvSpPr>
        <p:spPr>
          <a:xfrm>
            <a:off x="3300252" y="3785616"/>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15%</a:t>
            </a:r>
          </a:p>
        </p:txBody>
      </p:sp>
      <p:sp>
        <p:nvSpPr>
          <p:cNvPr id="26" name="Round Same Side Corner Rectangle 25"/>
          <p:cNvSpPr/>
          <p:nvPr/>
        </p:nvSpPr>
        <p:spPr>
          <a:xfrm rot="5400000">
            <a:off x="2721254" y="3862425"/>
            <a:ext cx="228600" cy="641908"/>
          </a:xfrm>
          <a:prstGeom prst="round2SameRect">
            <a:avLst>
              <a:gd name="adj1" fmla="val 14000"/>
              <a:gd name="adj2" fmla="val 0"/>
            </a:avLst>
          </a:prstGeom>
          <a:solidFill>
            <a:srgbClr val="FF9438"/>
          </a:solidFill>
          <a:ln>
            <a:noFill/>
          </a:ln>
        </p:spPr>
        <p:txBody>
          <a:bodyPr rtlCol="0" anchor="ctr"/>
          <a:lstStyle/>
          <a:p>
            <a:pPr algn="ctr"/>
          </a:p>
        </p:txBody>
      </p:sp>
      <p:sp>
        <p:nvSpPr>
          <p:cNvPr id="27" name="TextBox 26"/>
          <p:cNvSpPr txBox="1"/>
          <p:nvPr/>
        </p:nvSpPr>
        <p:spPr>
          <a:xfrm>
            <a:off x="3247948" y="4050792"/>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14%</a:t>
            </a:r>
          </a:p>
        </p:txBody>
      </p:sp>
      <p:sp>
        <p:nvSpPr>
          <p:cNvPr id="28" name="TextBox 27"/>
          <p:cNvSpPr txBox="1"/>
          <p:nvPr/>
        </p:nvSpPr>
        <p:spPr>
          <a:xfrm>
            <a:off x="548640" y="4608575"/>
            <a:ext cx="192024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In the cart</a:t>
            </a:r>
          </a:p>
        </p:txBody>
      </p:sp>
      <p:sp>
        <p:nvSpPr>
          <p:cNvPr id="29" name="Rectangle 28"/>
          <p:cNvSpPr/>
          <p:nvPr/>
        </p:nvSpPr>
        <p:spPr>
          <a:xfrm>
            <a:off x="2514600" y="4517136"/>
            <a:ext cx="80832" cy="228600"/>
          </a:xfrm>
          <a:prstGeom prst="rect">
            <a:avLst/>
          </a:prstGeom>
          <a:solidFill>
            <a:srgbClr val="B7C1CC"/>
          </a:solidFill>
          <a:ln>
            <a:noFill/>
          </a:ln>
        </p:spPr>
        <p:txBody>
          <a:bodyPr rtlCol="0" anchor="ctr"/>
          <a:lstStyle/>
          <a:p>
            <a:pPr algn="ctr"/>
          </a:p>
        </p:txBody>
      </p:sp>
      <p:sp>
        <p:nvSpPr>
          <p:cNvPr id="30" name="TextBox 29"/>
          <p:cNvSpPr txBox="1"/>
          <p:nvPr/>
        </p:nvSpPr>
        <p:spPr>
          <a:xfrm>
            <a:off x="2686872" y="4498848"/>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2%</a:t>
            </a:r>
          </a:p>
        </p:txBody>
      </p:sp>
      <p:sp>
        <p:nvSpPr>
          <p:cNvPr id="31" name="Round Same Side Corner Rectangle 30"/>
          <p:cNvSpPr/>
          <p:nvPr/>
        </p:nvSpPr>
        <p:spPr>
          <a:xfrm rot="5400000">
            <a:off x="2806842" y="4490069"/>
            <a:ext cx="228600" cy="813084"/>
          </a:xfrm>
          <a:prstGeom prst="round2SameRect">
            <a:avLst>
              <a:gd name="adj1" fmla="val 14000"/>
              <a:gd name="adj2" fmla="val 0"/>
            </a:avLst>
          </a:prstGeom>
          <a:solidFill>
            <a:srgbClr val="FF9438"/>
          </a:solidFill>
          <a:ln>
            <a:noFill/>
          </a:ln>
        </p:spPr>
        <p:txBody>
          <a:bodyPr rtlCol="0" anchor="ctr"/>
          <a:lstStyle/>
          <a:p>
            <a:pPr algn="ctr"/>
          </a:p>
        </p:txBody>
      </p:sp>
      <p:sp>
        <p:nvSpPr>
          <p:cNvPr id="32" name="TextBox 31"/>
          <p:cNvSpPr txBox="1"/>
          <p:nvPr/>
        </p:nvSpPr>
        <p:spPr>
          <a:xfrm>
            <a:off x="3419124" y="4764024"/>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17%</a:t>
            </a:r>
          </a:p>
        </p:txBody>
      </p:sp>
      <p:sp>
        <p:nvSpPr>
          <p:cNvPr id="33" name="TextBox 32"/>
          <p:cNvSpPr txBox="1"/>
          <p:nvPr/>
        </p:nvSpPr>
        <p:spPr>
          <a:xfrm>
            <a:off x="548640" y="5321808"/>
            <a:ext cx="192024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At checkout</a:t>
            </a:r>
          </a:p>
        </p:txBody>
      </p:sp>
      <p:sp>
        <p:nvSpPr>
          <p:cNvPr id="34" name="Rectangle 33"/>
          <p:cNvSpPr/>
          <p:nvPr/>
        </p:nvSpPr>
        <p:spPr>
          <a:xfrm>
            <a:off x="2514600" y="5230368"/>
            <a:ext cx="66568" cy="228600"/>
          </a:xfrm>
          <a:prstGeom prst="rect">
            <a:avLst/>
          </a:prstGeom>
          <a:solidFill>
            <a:srgbClr val="B7C1CC"/>
          </a:solidFill>
          <a:ln>
            <a:noFill/>
          </a:ln>
        </p:spPr>
        <p:txBody>
          <a:bodyPr rtlCol="0" anchor="ctr"/>
          <a:lstStyle/>
          <a:p>
            <a:pPr algn="ctr"/>
          </a:p>
        </p:txBody>
      </p:sp>
      <p:sp>
        <p:nvSpPr>
          <p:cNvPr id="35" name="TextBox 34"/>
          <p:cNvSpPr txBox="1"/>
          <p:nvPr/>
        </p:nvSpPr>
        <p:spPr>
          <a:xfrm>
            <a:off x="2672608" y="5212080"/>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a:t>
            </a:r>
          </a:p>
        </p:txBody>
      </p:sp>
      <p:sp>
        <p:nvSpPr>
          <p:cNvPr id="36" name="Round Same Side Corner Rectangle 35"/>
          <p:cNvSpPr/>
          <p:nvPr/>
        </p:nvSpPr>
        <p:spPr>
          <a:xfrm rot="5400000">
            <a:off x="2999414" y="5010729"/>
            <a:ext cx="228600" cy="1198229"/>
          </a:xfrm>
          <a:prstGeom prst="round2SameRect">
            <a:avLst>
              <a:gd name="adj1" fmla="val 14000"/>
              <a:gd name="adj2" fmla="val 0"/>
            </a:avLst>
          </a:prstGeom>
          <a:solidFill>
            <a:srgbClr val="FF9438"/>
          </a:solidFill>
          <a:ln>
            <a:noFill/>
          </a:ln>
        </p:spPr>
        <p:txBody>
          <a:bodyPr rtlCol="0" anchor="ctr"/>
          <a:lstStyle/>
          <a:p>
            <a:pPr algn="ctr"/>
          </a:p>
        </p:txBody>
      </p:sp>
      <p:sp>
        <p:nvSpPr>
          <p:cNvPr id="37" name="TextBox 36"/>
          <p:cNvSpPr txBox="1"/>
          <p:nvPr/>
        </p:nvSpPr>
        <p:spPr>
          <a:xfrm>
            <a:off x="3804269" y="5477256"/>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25%</a:t>
            </a:r>
          </a:p>
        </p:txBody>
      </p:sp>
      <p:cxnSp>
        <p:nvCxnSpPr>
          <p:cNvPr id="38" name="Connector 37"/>
          <p:cNvCxnSpPr/>
          <p:nvPr/>
        </p:nvCxnSpPr>
        <p:spPr>
          <a:xfrm>
            <a:off x="2514600" y="2267712"/>
            <a:ext cx="0" cy="3529584"/>
          </a:xfrm>
          <a:prstGeom prst="line">
            <a:avLst/>
          </a:prstGeom>
          <a:ln w="9525">
            <a:solidFill>
              <a:srgbClr val="1E2833"/>
            </a:solidFill>
          </a:ln>
        </p:spPr>
      </p:cxnSp>
      <p:sp>
        <p:nvSpPr>
          <p:cNvPr id="39" name="Rectangle 38"/>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40" name="Oval 39"/>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41" name="TextBox 40"/>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Conversion of the click</a:t>
            </a:r>
          </a:p>
        </p:txBody>
      </p:sp>
      <p:sp>
        <p:nvSpPr>
          <p:cNvPr id="42" name="TextBox 41"/>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31% vs 0.7%</a:t>
            </a:r>
          </a:p>
        </p:txBody>
      </p:sp>
      <p:sp>
        <p:nvSpPr>
          <p:cNvPr id="43" name="TextBox 42"/>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at checkout vs starting the visit</a:t>
            </a:r>
          </a:p>
        </p:txBody>
      </p:sp>
      <p:sp>
        <p:nvSpPr>
          <p:cNvPr id="44" name="TextBox 43"/>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and the next slide shows the click adds no orders</a:t>
            </a:r>
          </a:p>
        </p:txBody>
      </p:sp>
      <p:sp>
        <p:nvSpPr>
          <p:cNvPr id="45" name="TextBox 44"/>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What it means for a program</a:t>
            </a:r>
          </a:p>
        </p:txBody>
      </p:sp>
      <p:sp>
        <p:nvSpPr>
          <p:cNvPr id="46" name="Oval 45"/>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47" name="TextBox 46"/>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Pay on the stage the click arrived at</a:t>
            </a:r>
          </a:p>
        </p:txBody>
      </p:sp>
      <p:sp>
        <p:nvSpPr>
          <p:cNvPr id="48" name="Oval 47"/>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49" name="TextBox 48"/>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Lock credit once a cart exists</a:t>
            </a:r>
          </a:p>
        </p:txBody>
      </p:sp>
      <p:sp>
        <p:nvSpPr>
          <p:cNvPr id="50" name="Oval 49"/>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51" name="TextBox 50"/>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Report the funnel stage per publisher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IS THE CLICK INCREMENTAL?</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 click fired at the cart adds no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11</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shoppers who order within 2 hours, by the stage already reached</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No affiliate click</a:t>
            </a:r>
          </a:p>
        </p:txBody>
      </p:sp>
      <p:sp>
        <p:nvSpPr>
          <p:cNvPr id="11" name="Rectangle 10"/>
          <p:cNvSpPr/>
          <p:nvPr/>
        </p:nvSpPr>
        <p:spPr>
          <a:xfrm>
            <a:off x="2591409"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820009"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click fired afterwards</a:t>
            </a:r>
          </a:p>
        </p:txBody>
      </p:sp>
      <p:sp>
        <p:nvSpPr>
          <p:cNvPr id="13" name="TextBox 12"/>
          <p:cNvSpPr txBox="1"/>
          <p:nvPr/>
        </p:nvSpPr>
        <p:spPr>
          <a:xfrm>
            <a:off x="548640" y="2697479"/>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Viewed the cart</a:t>
            </a:r>
          </a:p>
        </p:txBody>
      </p:sp>
      <p:sp>
        <p:nvSpPr>
          <p:cNvPr id="14" name="Round Same Side Corner Rectangle 13"/>
          <p:cNvSpPr/>
          <p:nvPr/>
        </p:nvSpPr>
        <p:spPr>
          <a:xfrm rot="5400000">
            <a:off x="2881091" y="1919508"/>
            <a:ext cx="384048" cy="1391351"/>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3860231" y="247802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32%   (n = 1,280)</a:t>
            </a:r>
          </a:p>
        </p:txBody>
      </p:sp>
      <p:sp>
        <p:nvSpPr>
          <p:cNvPr id="16" name="Round Same Side Corner Rectangle 15"/>
          <p:cNvSpPr/>
          <p:nvPr/>
        </p:nvSpPr>
        <p:spPr>
          <a:xfrm rot="5400000">
            <a:off x="2935955" y="2303556"/>
            <a:ext cx="384048" cy="1501079"/>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3969959" y="2916936"/>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34%   (n = 38)</a:t>
            </a:r>
          </a:p>
        </p:txBody>
      </p:sp>
      <p:sp>
        <p:nvSpPr>
          <p:cNvPr id="18" name="TextBox 17"/>
          <p:cNvSpPr txBox="1"/>
          <p:nvPr/>
        </p:nvSpPr>
        <p:spPr>
          <a:xfrm>
            <a:off x="548640" y="4114800"/>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checkout</a:t>
            </a:r>
          </a:p>
        </p:txBody>
      </p:sp>
      <p:sp>
        <p:nvSpPr>
          <p:cNvPr id="19" name="Round Same Side Corner Rectangle 18"/>
          <p:cNvSpPr/>
          <p:nvPr/>
        </p:nvSpPr>
        <p:spPr>
          <a:xfrm rot="5400000">
            <a:off x="3848892" y="2369027"/>
            <a:ext cx="384048" cy="3326952"/>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5795832" y="389534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76%   (n = 759)</a:t>
            </a:r>
          </a:p>
        </p:txBody>
      </p:sp>
      <p:sp>
        <p:nvSpPr>
          <p:cNvPr id="21" name="Round Same Side Corner Rectangle 20"/>
          <p:cNvSpPr/>
          <p:nvPr/>
        </p:nvSpPr>
        <p:spPr>
          <a:xfrm rot="5400000">
            <a:off x="3649187" y="3007644"/>
            <a:ext cx="384048" cy="2927543"/>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396423" y="4334255"/>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67%   (n = 18)</a:t>
            </a:r>
          </a:p>
        </p:txBody>
      </p:sp>
      <p:cxnSp>
        <p:nvCxnSpPr>
          <p:cNvPr id="23" name="Connector 22"/>
          <p:cNvCxnSpPr/>
          <p:nvPr/>
        </p:nvCxnSpPr>
        <p:spPr>
          <a:xfrm>
            <a:off x="2377440" y="2286000"/>
            <a:ext cx="0" cy="2551176"/>
          </a:xfrm>
          <a:prstGeom prst="line">
            <a:avLst/>
          </a:prstGeom>
          <a:ln w="9525">
            <a:solidFill>
              <a:srgbClr val="1E2833"/>
            </a:solidFill>
          </a:ln>
        </p:spPr>
      </p:cxnSp>
      <p:sp>
        <p:nvSpPr>
          <p:cNvPr id="24" name="TextBox 23"/>
          <p:cNvSpPr txBox="1"/>
          <p:nvPr/>
        </p:nvSpPr>
        <p:spPr>
          <a:xfrm>
            <a:off x="548640" y="5440680"/>
            <a:ext cx="6583680" cy="54864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Stage fixed at the first cart or checkout view, before any click. Shoppers an affiliate brought to the cart are excluded.</a:t>
            </a:r>
          </a:p>
        </p:txBody>
      </p:sp>
      <p:sp>
        <p:nvSpPr>
          <p:cNvPr id="25" name="Rectangle 24"/>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26" name="Oval 25"/>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27" name="TextBox 26"/>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56 shoppers who got a click</a:t>
            </a:r>
          </a:p>
        </p:txBody>
      </p:sp>
      <p:sp>
        <p:nvSpPr>
          <p:cNvPr id="28" name="TextBox 27"/>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25 vs 25.7</a:t>
            </a:r>
          </a:p>
        </p:txBody>
      </p:sp>
      <p:sp>
        <p:nvSpPr>
          <p:cNvPr id="29" name="TextBox 28"/>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orders, vs expected without the click</a:t>
            </a:r>
          </a:p>
        </p:txBody>
      </p:sp>
      <p:sp>
        <p:nvSpPr>
          <p:cNvPr id="30" name="TextBox 29"/>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At most ~31% incremental (95% upper bound)</a:t>
            </a:r>
          </a:p>
        </p:txBody>
      </p:sp>
      <p:sp>
        <p:nvSpPr>
          <p:cNvPr id="31" name="Rectangle 30"/>
          <p:cNvSpPr/>
          <p:nvPr/>
        </p:nvSpPr>
        <p:spPr>
          <a:xfrm>
            <a:off x="7452360" y="3840480"/>
            <a:ext cx="4190695" cy="2331720"/>
          </a:xfrm>
          <a:prstGeom prst="rect">
            <a:avLst/>
          </a:prstGeom>
          <a:solidFill>
            <a:srgbClr val="FFF1E5"/>
          </a:solidFill>
          <a:ln>
            <a:noFill/>
          </a:ln>
        </p:spPr>
        <p:txBody>
          <a:bodyPr rtlCol="0" anchor="ctr"/>
          <a:lstStyle/>
          <a:p>
            <a:pPr algn="ctr"/>
          </a:p>
        </p:txBody>
      </p:sp>
      <p:sp>
        <p:nvSpPr>
          <p:cNvPr id="32" name="TextBox 31"/>
          <p:cNvSpPr txBox="1"/>
          <p:nvPr/>
        </p:nvSpPr>
        <p:spPr>
          <a:xfrm>
            <a:off x="7726680" y="4041648"/>
            <a:ext cx="364205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Commission on clicks fired at the cart</a:t>
            </a:r>
          </a:p>
        </p:txBody>
      </p:sp>
      <p:sp>
        <p:nvSpPr>
          <p:cNvPr id="33" name="TextBox 32"/>
          <p:cNvSpPr txBox="1"/>
          <p:nvPr/>
        </p:nvSpPr>
        <p:spPr>
          <a:xfrm>
            <a:off x="7726680" y="4343400"/>
            <a:ext cx="3642055" cy="640080"/>
          </a:xfrm>
          <a:prstGeom prst="rect">
            <a:avLst/>
          </a:prstGeom>
          <a:noFill/>
        </p:spPr>
        <p:txBody>
          <a:bodyPr wrap="square" lIns="0" rIns="0" tIns="0" bIns="0" anchor="t">
            <a:noAutofit/>
          </a:bodyPr>
          <a:lstStyle/>
          <a:p>
            <a:pPr algn="l">
              <a:lnSpc>
                <a:spcPct val="110000"/>
              </a:lnSpc>
              <a:spcAft>
                <a:spcPts val="0"/>
              </a:spcAft>
            </a:pPr>
            <a:r>
              <a:rPr sz="3600" i="0" b="1">
                <a:solidFill>
                  <a:srgbClr val="0B2A4A"/>
                </a:solidFill>
                <a:latin typeface="Arial"/>
              </a:rPr>
              <a:t>$22–111M</a:t>
            </a:r>
          </a:p>
        </p:txBody>
      </p:sp>
      <p:sp>
        <p:nvSpPr>
          <p:cNvPr id="34" name="TextBox 33"/>
          <p:cNvSpPr txBox="1"/>
          <p:nvPr/>
        </p:nvSpPr>
        <p:spPr>
          <a:xfrm>
            <a:off x="7726680" y="498348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 year at Walmart (half its affiliate orders)</a:t>
            </a:r>
          </a:p>
        </p:txBody>
      </p:sp>
      <p:sp>
        <p:nvSpPr>
          <p:cNvPr id="35" name="TextBox 34"/>
          <p:cNvSpPr txBox="1"/>
          <p:nvPr/>
        </p:nvSpPr>
        <p:spPr>
          <a:xfrm>
            <a:off x="7726680" y="5349240"/>
            <a:ext cx="3642055" cy="73152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Saatva: $80K–1.05M a year for every 10% of affiliate orders hijacked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SAATVA</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same patterns already appear at Saatva</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12</a:t>
            </a:r>
          </a:p>
        </p:txBody>
      </p:sp>
      <p:sp>
        <p:nvSpPr>
          <p:cNvPr id="8" name="Rectangle 7"/>
          <p:cNvSpPr/>
          <p:nvPr/>
        </p:nvSpPr>
        <p:spPr>
          <a:xfrm>
            <a:off x="548640" y="1508760"/>
            <a:ext cx="3515258" cy="4663440"/>
          </a:xfrm>
          <a:prstGeom prst="rect">
            <a:avLst/>
          </a:prstGeom>
          <a:solidFill>
            <a:srgbClr val="F3F6F9"/>
          </a:solidFill>
          <a:ln>
            <a:noFill/>
          </a:ln>
        </p:spPr>
        <p:txBody>
          <a:bodyPr rtlCol="0" anchor="ctr"/>
          <a:lstStyle/>
          <a:p>
            <a:pPr algn="ctr"/>
          </a:p>
        </p:txBody>
      </p:sp>
      <p:sp>
        <p:nvSpPr>
          <p:cNvPr id="9" name="Rounded Rectangle 8"/>
          <p:cNvSpPr/>
          <p:nvPr/>
        </p:nvSpPr>
        <p:spPr>
          <a:xfrm>
            <a:off x="822959" y="1755648"/>
            <a:ext cx="1645919" cy="310896"/>
          </a:xfrm>
          <a:prstGeom prst="roundRect">
            <a:avLst>
              <a:gd name="adj" fmla="val 50000"/>
            </a:avLst>
          </a:prstGeom>
          <a:solidFill>
            <a:srgbClr val="FF9438"/>
          </a:solidFill>
          <a:ln>
            <a:noFill/>
          </a:ln>
        </p:spPr>
        <p:txBody>
          <a:bodyPr rtlCol="0" anchor="ctr" wrap="square" lIns="73152" rIns="73152" tIns="18288" bIns="18288">
            <a:noAutofit/>
          </a:bodyPr>
          <a:lstStyle/>
          <a:p>
            <a:pPr algn="ctr">
              <a:lnSpc>
                <a:spcPct val="110000"/>
              </a:lnSpc>
              <a:spcAft>
                <a:spcPts val="0"/>
              </a:spcAft>
            </a:pPr>
            <a:r>
              <a:rPr sz="1200" i="0" b="1">
                <a:solidFill>
                  <a:srgbClr val="FFFFFF"/>
                </a:solidFill>
                <a:latin typeface="Arial"/>
              </a:rPr>
              <a:t>Cookie stuffing</a:t>
            </a:r>
          </a:p>
        </p:txBody>
      </p:sp>
      <p:sp>
        <p:nvSpPr>
          <p:cNvPr id="10" name="Rounded Rectangle 9"/>
          <p:cNvSpPr/>
          <p:nvPr/>
        </p:nvSpPr>
        <p:spPr>
          <a:xfrm>
            <a:off x="822959"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"New tab" browser extension</a:t>
            </a:r>
          </a:p>
        </p:txBody>
      </p:sp>
      <p:cxnSp>
        <p:nvCxnSpPr>
          <p:cNvPr id="11" name="Connector 10"/>
          <p:cNvCxnSpPr/>
          <p:nvPr/>
        </p:nvCxnSpPr>
        <p:spPr>
          <a:xfrm>
            <a:off x="2306269" y="2926080"/>
            <a:ext cx="0" cy="201168"/>
          </a:xfrm>
          <a:prstGeom prst="line">
            <a:avLst/>
          </a:prstGeom>
          <a:ln w="15875">
            <a:solidFill>
              <a:srgbClr val="647282"/>
            </a:solidFill>
            <a:tailEnd type="triangle" w="med" len="med"/>
          </a:ln>
        </p:spPr>
      </p:cxnSp>
      <p:sp>
        <p:nvSpPr>
          <p:cNvPr id="12" name="Rounded Rectangle 11"/>
          <p:cNvSpPr/>
          <p:nvPr/>
        </p:nvSpPr>
        <p:spPr>
          <a:xfrm>
            <a:off x="822959"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Partnerize click registered</a:t>
            </a:r>
          </a:p>
        </p:txBody>
      </p:sp>
      <p:cxnSp>
        <p:nvCxnSpPr>
          <p:cNvPr id="13" name="Connector 12"/>
          <p:cNvCxnSpPr/>
          <p:nvPr/>
        </p:nvCxnSpPr>
        <p:spPr>
          <a:xfrm>
            <a:off x="2306269" y="3712463"/>
            <a:ext cx="0" cy="201169"/>
          </a:xfrm>
          <a:prstGeom prst="line">
            <a:avLst/>
          </a:prstGeom>
          <a:ln w="15875">
            <a:solidFill>
              <a:srgbClr val="647282"/>
            </a:solidFill>
            <a:tailEnd type="triangle" w="med" len="med"/>
          </a:ln>
        </p:spPr>
      </p:cxnSp>
      <p:sp>
        <p:nvSpPr>
          <p:cNvPr id="14" name="Rounded Rectangle 13"/>
          <p:cNvSpPr/>
          <p:nvPr/>
        </p:nvSpPr>
        <p:spPr>
          <a:xfrm>
            <a:off x="822959" y="3950208"/>
            <a:ext cx="2966618" cy="512064"/>
          </a:xfrm>
          <a:prstGeom prst="roundRect">
            <a:avLst>
              <a:gd name="adj" fmla="val 15000"/>
            </a:avLst>
          </a:prstGeom>
          <a:solidFill>
            <a:srgbClr val="FFF1E5"/>
          </a:solidFill>
          <a:ln w="15875">
            <a:solidFill>
              <a:srgbClr val="FF9438"/>
            </a:solidFill>
          </a:ln>
        </p:spPr>
        <p:txBody>
          <a:bodyPr rtlCol="0" anchor="ctr" wrap="square" lIns="109728" rIns="109728" tIns="18288" bIns="18288">
            <a:noAutofit/>
          </a:bodyPr>
          <a:lstStyle/>
          <a:p>
            <a:pPr algn="ctr">
              <a:lnSpc>
                <a:spcPct val="110000"/>
              </a:lnSpc>
              <a:spcAft>
                <a:spcPts val="0"/>
              </a:spcAft>
            </a:pPr>
            <a:r>
              <a:rPr sz="1300" i="0" b="1">
                <a:solidFill>
                  <a:srgbClr val="C9620E"/>
                </a:solidFill>
                <a:latin typeface="Arial"/>
              </a:rPr>
              <a:t>saatva.com never loads</a:t>
            </a:r>
          </a:p>
        </p:txBody>
      </p:sp>
      <p:sp>
        <p:nvSpPr>
          <p:cNvPr id="15" name="TextBox 14"/>
          <p:cNvSpPr txBox="1"/>
          <p:nvPr/>
        </p:nvSpPr>
        <p:spPr>
          <a:xfrm>
            <a:off x="822959"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A commission without a visit</a:t>
            </a:r>
          </a:p>
        </p:txBody>
      </p:sp>
      <p:sp>
        <p:nvSpPr>
          <p:cNvPr id="16" name="TextBox 15"/>
          <p:cNvSpPr txBox="1"/>
          <p:nvPr/>
        </p:nvSpPr>
        <p:spPr>
          <a:xfrm>
            <a:off x="822959"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Reconcile clicks with landings</a:t>
            </a:r>
          </a:p>
        </p:txBody>
      </p:sp>
      <p:sp>
        <p:nvSpPr>
          <p:cNvPr id="17" name="Rectangle 16"/>
          <p:cNvSpPr/>
          <p:nvPr/>
        </p:nvSpPr>
        <p:spPr>
          <a:xfrm>
            <a:off x="4338218" y="1508760"/>
            <a:ext cx="3515258" cy="4663440"/>
          </a:xfrm>
          <a:prstGeom prst="rect">
            <a:avLst/>
          </a:prstGeom>
          <a:solidFill>
            <a:srgbClr val="F3F6F9"/>
          </a:solidFill>
          <a:ln>
            <a:noFill/>
          </a:ln>
        </p:spPr>
        <p:txBody>
          <a:bodyPr rtlCol="0" anchor="ctr"/>
          <a:lstStyle/>
          <a:p>
            <a:pPr algn="ctr"/>
          </a:p>
        </p:txBody>
      </p:sp>
      <p:sp>
        <p:nvSpPr>
          <p:cNvPr id="18" name="Rounded Rectangle 17"/>
          <p:cNvSpPr/>
          <p:nvPr/>
        </p:nvSpPr>
        <p:spPr>
          <a:xfrm>
            <a:off x="4612538" y="1755648"/>
            <a:ext cx="2350008"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200" i="0" b="1">
                <a:solidFill>
                  <a:srgbClr val="C9620E"/>
                </a:solidFill>
                <a:latin typeface="Arial"/>
              </a:rPr>
              <a:t>Undeclared paid search</a:t>
            </a:r>
          </a:p>
        </p:txBody>
      </p:sp>
      <p:sp>
        <p:nvSpPr>
          <p:cNvPr id="19" name="Rounded Rectangle 18"/>
          <p:cNvSpPr/>
          <p:nvPr/>
        </p:nvSpPr>
        <p:spPr>
          <a:xfrm>
            <a:off x="4612538"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Google ad (gad_source=1)</a:t>
            </a:r>
          </a:p>
        </p:txBody>
      </p:sp>
      <p:cxnSp>
        <p:nvCxnSpPr>
          <p:cNvPr id="20" name="Connector 19"/>
          <p:cNvCxnSpPr/>
          <p:nvPr/>
        </p:nvCxnSpPr>
        <p:spPr>
          <a:xfrm>
            <a:off x="6095847" y="2926080"/>
            <a:ext cx="0" cy="201168"/>
          </a:xfrm>
          <a:prstGeom prst="line">
            <a:avLst/>
          </a:prstGeom>
          <a:ln w="15875">
            <a:solidFill>
              <a:srgbClr val="647282"/>
            </a:solidFill>
            <a:tailEnd type="triangle" w="med" len="med"/>
          </a:ln>
        </p:spPr>
      </p:cxnSp>
      <p:sp>
        <p:nvSpPr>
          <p:cNvPr id="21" name="Rounded Rectangle 20"/>
          <p:cNvSpPr/>
          <p:nvPr/>
        </p:nvSpPr>
        <p:spPr>
          <a:xfrm>
            <a:off x="4612538"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brandxemail, listed as "email"</a:t>
            </a:r>
          </a:p>
        </p:txBody>
      </p:sp>
      <p:cxnSp>
        <p:nvCxnSpPr>
          <p:cNvPr id="22" name="Connector 21"/>
          <p:cNvCxnSpPr/>
          <p:nvPr/>
        </p:nvCxnSpPr>
        <p:spPr>
          <a:xfrm>
            <a:off x="6095847" y="3712463"/>
            <a:ext cx="0" cy="201169"/>
          </a:xfrm>
          <a:prstGeom prst="line">
            <a:avLst/>
          </a:prstGeom>
          <a:ln w="15875">
            <a:solidFill>
              <a:srgbClr val="647282"/>
            </a:solidFill>
            <a:tailEnd type="triangle" w="med" len="med"/>
          </a:ln>
        </p:spPr>
      </p:cxnSp>
      <p:sp>
        <p:nvSpPr>
          <p:cNvPr id="23" name="Rounded Rectangle 22"/>
          <p:cNvSpPr/>
          <p:nvPr/>
        </p:nvSpPr>
        <p:spPr>
          <a:xfrm>
            <a:off x="4612538"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saatva.com/sale + auto-coupon</a:t>
            </a:r>
          </a:p>
        </p:txBody>
      </p:sp>
      <p:sp>
        <p:nvSpPr>
          <p:cNvPr id="24" name="TextBox 23"/>
          <p:cNvSpPr txBox="1"/>
          <p:nvPr/>
        </p:nvSpPr>
        <p:spPr>
          <a:xfrm>
            <a:off x="4612538"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Paid search under an email listing</a:t>
            </a:r>
          </a:p>
        </p:txBody>
      </p:sp>
      <p:sp>
        <p:nvSpPr>
          <p:cNvPr id="25" name="TextBox 24"/>
          <p:cNvSpPr txBox="1"/>
          <p:nvPr/>
        </p:nvSpPr>
        <p:spPr>
          <a:xfrm>
            <a:off x="4612538"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Check it against the PPC terms</a:t>
            </a:r>
          </a:p>
        </p:txBody>
      </p:sp>
      <p:sp>
        <p:nvSpPr>
          <p:cNvPr id="26" name="Rectangle 25"/>
          <p:cNvSpPr/>
          <p:nvPr/>
        </p:nvSpPr>
        <p:spPr>
          <a:xfrm>
            <a:off x="8127796" y="1508760"/>
            <a:ext cx="3515258" cy="4663440"/>
          </a:xfrm>
          <a:prstGeom prst="rect">
            <a:avLst/>
          </a:prstGeom>
          <a:solidFill>
            <a:srgbClr val="F3F6F9"/>
          </a:solidFill>
          <a:ln>
            <a:noFill/>
          </a:ln>
        </p:spPr>
        <p:txBody>
          <a:bodyPr rtlCol="0" anchor="ctr"/>
          <a:lstStyle/>
          <a:p>
            <a:pPr algn="ctr"/>
          </a:p>
        </p:txBody>
      </p:sp>
      <p:sp>
        <p:nvSpPr>
          <p:cNvPr id="27" name="Rounded Rectangle 26"/>
          <p:cNvSpPr/>
          <p:nvPr/>
        </p:nvSpPr>
        <p:spPr>
          <a:xfrm>
            <a:off x="8402116" y="1755648"/>
            <a:ext cx="21488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Review before acting</a:t>
            </a:r>
          </a:p>
        </p:txBody>
      </p:sp>
      <p:sp>
        <p:nvSpPr>
          <p:cNvPr id="28" name="Rounded Rectangle 27"/>
          <p:cNvSpPr/>
          <p:nvPr/>
        </p:nvSpPr>
        <p:spPr>
          <a:xfrm>
            <a:off x="8402116"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Search ad → TrafficPoint listicle</a:t>
            </a:r>
          </a:p>
        </p:txBody>
      </p:sp>
      <p:cxnSp>
        <p:nvCxnSpPr>
          <p:cNvPr id="29" name="Connector 28"/>
          <p:cNvCxnSpPr/>
          <p:nvPr/>
        </p:nvCxnSpPr>
        <p:spPr>
          <a:xfrm>
            <a:off x="9885426" y="2926080"/>
            <a:ext cx="0" cy="201168"/>
          </a:xfrm>
          <a:prstGeom prst="line">
            <a:avLst/>
          </a:prstGeom>
          <a:ln w="15875">
            <a:solidFill>
              <a:srgbClr val="647282"/>
            </a:solidFill>
            <a:tailEnd type="triangle" w="med" len="med"/>
          </a:ln>
        </p:spPr>
      </p:cxnSp>
      <p:sp>
        <p:nvSpPr>
          <p:cNvPr id="30" name="Rounded Rectangle 29"/>
          <p:cNvSpPr/>
          <p:nvPr/>
        </p:nvSpPr>
        <p:spPr>
          <a:xfrm>
            <a:off x="8402116"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6 brands opened in ~1 minute</a:t>
            </a:r>
          </a:p>
        </p:txBody>
      </p:sp>
      <p:cxnSp>
        <p:nvCxnSpPr>
          <p:cNvPr id="31" name="Connector 30"/>
          <p:cNvCxnSpPr/>
          <p:nvPr/>
        </p:nvCxnSpPr>
        <p:spPr>
          <a:xfrm>
            <a:off x="9885426" y="3712463"/>
            <a:ext cx="0" cy="201169"/>
          </a:xfrm>
          <a:prstGeom prst="line">
            <a:avLst/>
          </a:prstGeom>
          <a:ln w="15875">
            <a:solidFill>
              <a:srgbClr val="647282"/>
            </a:solidFill>
            <a:tailEnd type="triangle" w="med" len="med"/>
          </a:ln>
        </p:spPr>
      </p:cxnSp>
      <p:sp>
        <p:nvSpPr>
          <p:cNvPr id="32" name="Rounded Rectangle 31"/>
          <p:cNvSpPr/>
          <p:nvPr/>
        </p:nvSpPr>
        <p:spPr>
          <a:xfrm>
            <a:off x="8402116"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Back 9 min later via a Shopping ad</a:t>
            </a:r>
          </a:p>
        </p:txBody>
      </p:sp>
      <p:sp>
        <p:nvSpPr>
          <p:cNvPr id="33" name="TextBox 32"/>
          <p:cNvSpPr txBox="1"/>
          <p:nvPr/>
        </p:nvSpPr>
        <p:spPr>
          <a:xfrm>
            <a:off x="8402116"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Real browsing, but Saatva may pay twice</a:t>
            </a:r>
          </a:p>
        </p:txBody>
      </p:sp>
      <p:sp>
        <p:nvSpPr>
          <p:cNvPr id="34" name="TextBox 33"/>
          <p:cNvSpPr txBox="1"/>
          <p:nvPr/>
        </p:nvSpPr>
        <p:spPr>
          <a:xfrm>
            <a:off x="8402116"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De-duplicate with paid search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RECOMMENDATIONS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Pay for the assist, not the last touch</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13</a:t>
            </a:r>
          </a:p>
        </p:txBody>
      </p:sp>
      <p:sp>
        <p:nvSpPr>
          <p:cNvPr id="8" name="Oval 7"/>
          <p:cNvSpPr/>
          <p:nvPr/>
        </p:nvSpPr>
        <p:spPr>
          <a:xfrm>
            <a:off x="548640" y="1645920"/>
            <a:ext cx="182880" cy="182880"/>
          </a:xfrm>
          <a:prstGeom prst="ellipse">
            <a:avLst/>
          </a:prstGeom>
          <a:solidFill>
            <a:srgbClr val="B5793F"/>
          </a:solidFill>
          <a:ln>
            <a:noFill/>
          </a:ln>
        </p:spPr>
        <p:txBody>
          <a:bodyPr rtlCol="0" anchor="ctr"/>
          <a:lstStyle/>
          <a:p>
            <a:pPr algn="ctr"/>
          </a:p>
        </p:txBody>
      </p:sp>
      <p:sp>
        <p:nvSpPr>
          <p:cNvPr id="9" name="TextBox 8"/>
          <p:cNvSpPr txBox="1"/>
          <p:nvPr/>
        </p:nvSpPr>
        <p:spPr>
          <a:xfrm>
            <a:off x="868680"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Grow the program</a:t>
            </a:r>
          </a:p>
        </p:txBody>
      </p:sp>
      <p:sp>
        <p:nvSpPr>
          <p:cNvPr id="10" name="Oval 9"/>
          <p:cNvSpPr/>
          <p:nvPr/>
        </p:nvSpPr>
        <p:spPr>
          <a:xfrm>
            <a:off x="548640" y="2240280"/>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11" name="TextBox 10"/>
          <p:cNvSpPr txBox="1"/>
          <p:nvPr/>
        </p:nvSpPr>
        <p:spPr>
          <a:xfrm>
            <a:off x="1143000"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Recruit review and HSA/FSA partners</a:t>
            </a:r>
          </a:p>
        </p:txBody>
      </p:sp>
      <p:sp>
        <p:nvSpPr>
          <p:cNvPr id="12" name="TextBox 11"/>
          <p:cNvSpPr txBox="1"/>
          <p:nvPr/>
        </p:nvSpPr>
        <p:spPr>
          <a:xfrm>
            <a:off x="1143000"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Shoppers compare ~2 brands (slide 5); rivals get Mattress Clarity, buyersguide.org, Truemed</a:t>
            </a:r>
          </a:p>
        </p:txBody>
      </p:sp>
      <p:sp>
        <p:nvSpPr>
          <p:cNvPr id="13" name="Oval 12"/>
          <p:cNvSpPr/>
          <p:nvPr/>
        </p:nvSpPr>
        <p:spPr>
          <a:xfrm>
            <a:off x="548640" y="3273552"/>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14" name="TextBox 13"/>
          <p:cNvSpPr txBox="1"/>
          <p:nvPr/>
        </p:nvSpPr>
        <p:spPr>
          <a:xfrm>
            <a:off x="1143000"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Give each publisher its own coupon code</a:t>
            </a:r>
          </a:p>
        </p:txBody>
      </p:sp>
      <p:sp>
        <p:nvSpPr>
          <p:cNvPr id="15" name="TextBox 14"/>
          <p:cNvSpPr txBox="1"/>
          <p:nvPr/>
        </p:nvSpPr>
        <p:spPr>
          <a:xfrm>
            <a:off x="1143000"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One code is shared today, so a sale can't be traced to its partner</a:t>
            </a:r>
          </a:p>
        </p:txBody>
      </p:sp>
      <p:sp>
        <p:nvSpPr>
          <p:cNvPr id="16" name="Oval 15"/>
          <p:cNvSpPr/>
          <p:nvPr/>
        </p:nvSpPr>
        <p:spPr>
          <a:xfrm>
            <a:off x="548640" y="4306824"/>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17" name="TextBox 16"/>
          <p:cNvSpPr txBox="1"/>
          <p:nvPr/>
        </p:nvSpPr>
        <p:spPr>
          <a:xfrm>
            <a:off x="1143000"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Tier commissions by the value of the click</a:t>
            </a:r>
          </a:p>
        </p:txBody>
      </p:sp>
      <p:sp>
        <p:nvSpPr>
          <p:cNvPr id="18" name="TextBox 17"/>
          <p:cNvSpPr txBox="1"/>
          <p:nvPr/>
        </p:nvSpPr>
        <p:spPr>
          <a:xfrm>
            <a:off x="1143000"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Pay less for coupon clicks and for clicks after a cart exists</a:t>
            </a:r>
          </a:p>
        </p:txBody>
      </p:sp>
      <p:sp>
        <p:nvSpPr>
          <p:cNvPr id="19" name="Oval 18"/>
          <p:cNvSpPr/>
          <p:nvPr/>
        </p:nvSpPr>
        <p:spPr>
          <a:xfrm>
            <a:off x="6324447" y="1645920"/>
            <a:ext cx="182880" cy="182880"/>
          </a:xfrm>
          <a:prstGeom prst="ellipse">
            <a:avLst/>
          </a:prstGeom>
          <a:solidFill>
            <a:srgbClr val="FF9438"/>
          </a:solidFill>
          <a:ln>
            <a:noFill/>
          </a:ln>
        </p:spPr>
        <p:txBody>
          <a:bodyPr rtlCol="0" anchor="ctr"/>
          <a:lstStyle/>
          <a:p>
            <a:pPr algn="ctr"/>
          </a:p>
        </p:txBody>
      </p:sp>
      <p:sp>
        <p:nvSpPr>
          <p:cNvPr id="20" name="TextBox 19"/>
          <p:cNvSpPr txBox="1"/>
          <p:nvPr/>
        </p:nvSpPr>
        <p:spPr>
          <a:xfrm>
            <a:off x="6644487"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Stop paying for taken credit</a:t>
            </a:r>
          </a:p>
        </p:txBody>
      </p:sp>
      <p:sp>
        <p:nvSpPr>
          <p:cNvPr id="21" name="Oval 20"/>
          <p:cNvSpPr/>
          <p:nvPr/>
        </p:nvSpPr>
        <p:spPr>
          <a:xfrm>
            <a:off x="6324447" y="2240280"/>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22" name="TextBox 21"/>
          <p:cNvSpPr txBox="1"/>
          <p:nvPr/>
        </p:nvSpPr>
        <p:spPr>
          <a:xfrm>
            <a:off x="6918807"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Reconcile clicks with saatva.com landings</a:t>
            </a:r>
          </a:p>
        </p:txBody>
      </p:sp>
      <p:sp>
        <p:nvSpPr>
          <p:cNvPr id="23" name="TextBox 22"/>
          <p:cNvSpPr txBox="1"/>
          <p:nvPr/>
        </p:nvSpPr>
        <p:spPr>
          <a:xfrm>
            <a:off x="6918807"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A click that never lands is proof, with no threshold to tune</a:t>
            </a:r>
          </a:p>
        </p:txBody>
      </p:sp>
      <p:sp>
        <p:nvSpPr>
          <p:cNvPr id="24" name="Oval 23"/>
          <p:cNvSpPr/>
          <p:nvPr/>
        </p:nvSpPr>
        <p:spPr>
          <a:xfrm>
            <a:off x="6324447" y="3273552"/>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25" name="TextBox 24"/>
          <p:cNvSpPr txBox="1"/>
          <p:nvPr/>
        </p:nvSpPr>
        <p:spPr>
          <a:xfrm>
            <a:off x="6918807"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No overwrite once a cart exists</a:t>
            </a:r>
          </a:p>
        </p:txBody>
      </p:sp>
      <p:sp>
        <p:nvSpPr>
          <p:cNvPr id="26" name="TextBox 25"/>
          <p:cNvSpPr txBox="1"/>
          <p:nvPr/>
        </p:nvSpPr>
        <p:spPr>
          <a:xfrm>
            <a:off x="6918807"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Cart-stage clicks add no orders (slide 10); plus extension stand-down, PPC policy</a:t>
            </a:r>
          </a:p>
        </p:txBody>
      </p:sp>
      <p:sp>
        <p:nvSpPr>
          <p:cNvPr id="27" name="Oval 26"/>
          <p:cNvSpPr/>
          <p:nvPr/>
        </p:nvSpPr>
        <p:spPr>
          <a:xfrm>
            <a:off x="6324447" y="4306824"/>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28" name="TextBox 27"/>
          <p:cNvSpPr txBox="1"/>
          <p:nvPr/>
        </p:nvSpPr>
        <p:spPr>
          <a:xfrm>
            <a:off x="6918807"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Monitor every publisher (built: next slide)</a:t>
            </a:r>
          </a:p>
        </p:txBody>
      </p:sp>
      <p:sp>
        <p:nvSpPr>
          <p:cNvPr id="29" name="TextBox 28"/>
          <p:cNvSpPr txBox="1"/>
          <p:nvPr/>
        </p:nvSpPr>
        <p:spPr>
          <a:xfrm>
            <a:off x="6918807"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Hold payouts on flagged orders; validate on reversals</a:t>
            </a:r>
          </a:p>
        </p:txBody>
      </p:sp>
      <p:sp>
        <p:nvSpPr>
          <p:cNvPr id="30" name="Rectangle 29"/>
          <p:cNvSpPr/>
          <p:nvPr/>
        </p:nvSpPr>
        <p:spPr>
          <a:xfrm>
            <a:off x="548640" y="5468112"/>
            <a:ext cx="11094415" cy="621792"/>
          </a:xfrm>
          <a:prstGeom prst="rect">
            <a:avLst/>
          </a:prstGeom>
          <a:solidFill>
            <a:srgbClr val="0B2A4A"/>
          </a:solidFill>
          <a:ln>
            <a:noFill/>
          </a:ln>
        </p:spPr>
        <p:txBody>
          <a:bodyPr rtlCol="0" anchor="ctr" wrap="square" lIns="274320" rIns="274320" tIns="18288" bIns="18288">
            <a:noAutofit/>
          </a:bodyPr>
          <a:lstStyle/>
          <a:p>
            <a:pPr algn="l">
              <a:lnSpc>
                <a:spcPct val="110000"/>
              </a:lnSpc>
              <a:spcAft>
                <a:spcPts val="0"/>
              </a:spcAft>
            </a:pPr>
            <a:r>
              <a:rPr sz="1500" i="0" b="1">
                <a:solidFill>
                  <a:srgbClr val="FF9438"/>
                </a:solidFill>
                <a:latin typeface="Arial"/>
              </a:rPr>
              <a:t>Next:</a:t>
            </a:r>
            <a:r>
              <a:rPr sz="1500" i="0" b="0">
                <a:solidFill>
                  <a:srgbClr val="FFFFFF"/>
                </a:solidFill>
                <a:latin typeface="Arial"/>
              </a:rPr>
              <a:t> run the same pipeline on 90 days of data and on Saatva's Partnerize logs, to size the impact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FROM ANALYSIS TO MONITORING</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indicators, built into a publisher monitor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14</a:t>
            </a:r>
          </a:p>
        </p:txBody>
      </p:sp>
      <p:pic>
        <p:nvPicPr>
          <p:cNvPr id="8" name="Picture 7" descr="dashboard_overview.png"/>
          <p:cNvPicPr>
            <a:picLocks noChangeAspect="1"/>
          </p:cNvPicPr>
          <p:nvPr/>
        </p:nvPicPr>
        <p:blipFill>
          <a:blip r:embed="rId3"/>
          <a:stretch>
            <a:fillRect/>
          </a:stretch>
        </p:blipFill>
        <p:spPr>
          <a:xfrm>
            <a:off x="548640" y="1463040"/>
            <a:ext cx="5394960" cy="3624739"/>
          </a:xfrm>
          <a:prstGeom prst="rect">
            <a:avLst/>
          </a:prstGeom>
        </p:spPr>
      </p:pic>
      <p:sp>
        <p:nvSpPr>
          <p:cNvPr id="9" name="Rectangle 8"/>
          <p:cNvSpPr/>
          <p:nvPr/>
        </p:nvSpPr>
        <p:spPr>
          <a:xfrm>
            <a:off x="548640" y="1463040"/>
            <a:ext cx="5394960" cy="3624738"/>
          </a:xfrm>
          <a:prstGeom prst="rect">
            <a:avLst/>
          </a:prstGeom>
          <a:noFill/>
          <a:ln w="9525">
            <a:solidFill>
              <a:srgbClr val="E3E8EE"/>
            </a:solidFill>
          </a:ln>
        </p:spPr>
        <p:txBody>
          <a:bodyPr rtlCol="0" anchor="ctr"/>
          <a:lstStyle/>
          <a:p>
            <a:pPr algn="ctr"/>
          </a:p>
        </p:txBody>
      </p:sp>
      <p:sp>
        <p:nvSpPr>
          <p:cNvPr id="10" name="Oval 9"/>
          <p:cNvSpPr/>
          <p:nvPr/>
        </p:nvSpPr>
        <p:spPr>
          <a:xfrm>
            <a:off x="6400800" y="1554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1</a:t>
            </a:r>
          </a:p>
        </p:txBody>
      </p:sp>
      <p:sp>
        <p:nvSpPr>
          <p:cNvPr id="11" name="TextBox 10"/>
          <p:cNvSpPr txBox="1"/>
          <p:nvPr/>
        </p:nvSpPr>
        <p:spPr>
          <a:xfrm>
            <a:off x="6876288" y="1536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Any look-back, one click</a:t>
            </a:r>
          </a:p>
        </p:txBody>
      </p:sp>
      <p:sp>
        <p:nvSpPr>
          <p:cNvPr id="12" name="TextBox 11"/>
          <p:cNvSpPr txBox="1"/>
          <p:nvPr/>
        </p:nvSpPr>
        <p:spPr>
          <a:xfrm>
            <a:off x="6876288" y="1856231"/>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Every click re-scored at 2, 10 or 30 minutes; the sensitivity test becomes a control</a:t>
            </a:r>
          </a:p>
        </p:txBody>
      </p:sp>
      <p:sp>
        <p:nvSpPr>
          <p:cNvPr id="13" name="Oval 12"/>
          <p:cNvSpPr/>
          <p:nvPr/>
        </p:nvSpPr>
        <p:spPr>
          <a:xfrm>
            <a:off x="6400800" y="2697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2</a:t>
            </a:r>
          </a:p>
        </p:txBody>
      </p:sp>
      <p:sp>
        <p:nvSpPr>
          <p:cNvPr id="14" name="TextBox 13"/>
          <p:cNvSpPr txBox="1"/>
          <p:nvPr/>
        </p:nvSpPr>
        <p:spPr>
          <a:xfrm>
            <a:off x="6876288" y="2679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Ranked by money, with a status</a:t>
            </a:r>
          </a:p>
        </p:txBody>
      </p:sp>
      <p:sp>
        <p:nvSpPr>
          <p:cNvPr id="15" name="TextBox 14"/>
          <p:cNvSpPr txBox="1"/>
          <p:nvPr/>
        </p:nvSpPr>
        <p:spPr>
          <a:xfrm>
            <a:off x="6876288" y="2999232"/>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Hold, Review or OK per publisher, by commission on flagged orders; AOV and rate are inputs</a:t>
            </a:r>
          </a:p>
        </p:txBody>
      </p:sp>
      <p:sp>
        <p:nvSpPr>
          <p:cNvPr id="16" name="Oval 15"/>
          <p:cNvSpPr/>
          <p:nvPr/>
        </p:nvSpPr>
        <p:spPr>
          <a:xfrm>
            <a:off x="6400800" y="3840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3</a:t>
            </a:r>
          </a:p>
        </p:txBody>
      </p:sp>
      <p:sp>
        <p:nvSpPr>
          <p:cNvPr id="17" name="TextBox 16"/>
          <p:cNvSpPr txBox="1"/>
          <p:nvPr/>
        </p:nvSpPr>
        <p:spPr>
          <a:xfrm>
            <a:off x="6876288" y="3822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Every flag has a journey</a:t>
            </a:r>
          </a:p>
        </p:txBody>
      </p:sp>
      <p:sp>
        <p:nvSpPr>
          <p:cNvPr id="18" name="TextBox 17"/>
          <p:cNvSpPr txBox="1"/>
          <p:nvPr/>
        </p:nvSpPr>
        <p:spPr>
          <a:xfrm>
            <a:off x="6876288" y="4142232"/>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The sites before and after each click, so a reviewer sees the evidence, not a score</a:t>
            </a:r>
          </a:p>
        </p:txBody>
      </p:sp>
      <p:sp>
        <p:nvSpPr>
          <p:cNvPr id="19" name="TextBox 18"/>
          <p:cNvSpPr txBox="1"/>
          <p:nvPr/>
        </p:nvSpPr>
        <p:spPr>
          <a:xfrm>
            <a:off x="548640" y="5230368"/>
            <a:ext cx="1109441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One of impact:150372's 32 orders: the click "lands" on the order confirmation page</a:t>
            </a:r>
          </a:p>
        </p:txBody>
      </p:sp>
      <p:pic>
        <p:nvPicPr>
          <p:cNvPr id="20" name="Picture 19" descr="dashboard_journey.png"/>
          <p:cNvPicPr>
            <a:picLocks noChangeAspect="1"/>
          </p:cNvPicPr>
          <p:nvPr/>
        </p:nvPicPr>
        <p:blipFill>
          <a:blip r:embed="rId4"/>
          <a:stretch>
            <a:fillRect/>
          </a:stretch>
        </p:blipFill>
        <p:spPr>
          <a:xfrm>
            <a:off x="548640" y="5522976"/>
            <a:ext cx="9430252" cy="69764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Results by brand</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15</a:t>
            </a:r>
          </a:p>
        </p:txBody>
      </p:sp>
      <p:graphicFrame>
        <p:nvGraphicFramePr>
          <p:cNvPr id="8" name="Table 7"/>
          <p:cNvGraphicFramePr>
            <a:graphicFrameLocks noGrp="1"/>
          </p:cNvGraphicFramePr>
          <p:nvPr/>
        </p:nvGraphicFramePr>
        <p:xfrm>
          <a:off x="548640" y="1554480"/>
          <a:ext cx="11091671" cy="2606040"/>
        </p:xfrm>
        <a:graphic>
          <a:graphicData uri="http://schemas.openxmlformats.org/drawingml/2006/table">
            <a:tbl>
              <a:tblPr firstRow="0" bandRow="0">
                <a:tableStyleId>{2D5ABB26-0587-4C30-8999-92F81FD0307C}</a:tableStyleId>
              </a:tblPr>
              <a:tblGrid>
                <a:gridCol w="1234440"/>
                <a:gridCol w="1051560"/>
                <a:gridCol w="960120"/>
                <a:gridCol w="1097280"/>
                <a:gridCol w="1097280"/>
                <a:gridCol w="1234440"/>
                <a:gridCol w="1371600"/>
                <a:gridCol w="1188720"/>
                <a:gridCol w="1856231"/>
              </a:tblGrid>
              <a:tr h="548640">
                <a:tc>
                  <a:txBody>
                    <a:bodyPr/>
                    <a:lstStyle/>
                    <a:p>
                      <a:pPr algn="l">
                        <a:lnSpc>
                          <a:spcPct val="100000"/>
                        </a:lnSpc>
                        <a:spcAft>
                          <a:spcPts val="0"/>
                        </a:spcAft>
                      </a:pPr>
                      <a:r>
                        <a:rPr sz="1100" i="0" b="1">
                          <a:solidFill>
                            <a:srgbClr val="FFFFFF"/>
                          </a:solidFill>
                          <a:latin typeface="Arial"/>
                        </a:rPr>
                        <a:t>Brand</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Network</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visits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Visits from affiliate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affiliate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clicks / day</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95% CI</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Conservative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converting clicks / day</a:t>
                      </a:r>
                    </a:p>
                  </a:txBody>
                  <a:tcPr marL="73152" marR="73152" marT="27432" marB="27432" anchor="ctr">
                    <a:lnL w="0">
                      <a:noFill/>
                    </a:lnL>
                    <a:lnR w="0">
                      <a:noFill/>
                    </a:lnR>
                    <a:lnT w="0">
                      <a:noFill/>
                    </a:lnT>
                    <a:lnB w="0">
                      <a:noFill/>
                    </a:lnB>
                    <a:solidFill>
                      <a:srgbClr val="0B2A4A"/>
                    </a:solidFill>
                  </a:tcPr>
                </a:tc>
              </a:tr>
              <a:tr h="411480">
                <a:tc>
                  <a:txBody>
                    <a:bodyPr/>
                    <a:lstStyle/>
                    <a:p>
                      <a:pPr algn="l">
                        <a:lnSpc>
                          <a:spcPct val="100000"/>
                        </a:lnSpc>
                        <a:spcAft>
                          <a:spcPts val="0"/>
                        </a:spcAft>
                      </a:pPr>
                      <a:r>
                        <a:rPr sz="1200" i="0" b="1">
                          <a:solidFill>
                            <a:srgbClr val="1E2833"/>
                          </a:solidFill>
                          <a:latin typeface="Arial"/>
                        </a:rPr>
                        <a:t>Saatva</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Partnerize</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25</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16.0%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 ¹</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1">
                          <a:solidFill>
                            <a:srgbClr val="1E2833"/>
                          </a:solidFill>
                          <a:latin typeface="Arial"/>
                        </a:rPr>
                        <a:t>16.7K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6.1K–36.4K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6.5K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84–334 ²</a:t>
                      </a:r>
                    </a:p>
                  </a:txBody>
                  <a:tcPr marL="73152" marR="73152" marT="27432" marB="27432" anchor="ctr">
                    <a:lnL w="0">
                      <a:noFill/>
                    </a:lnL>
                    <a:lnR w="0">
                      <a:noFill/>
                    </a:lnR>
                    <a:lnT w="0">
                      <a:noFill/>
                    </a:lnT>
                    <a:lnB w="9525">
                      <a:solidFill>
                        <a:srgbClr val="E3E8EE"/>
                      </a:solidFill>
                    </a:lnB>
                    <a:solidFill>
                      <a:srgbClr val="F6EFE8"/>
                    </a:solidFill>
                  </a:tcPr>
                </a:tc>
              </a:tr>
              <a:tr h="411480">
                <a:tc>
                  <a:txBody>
                    <a:bodyPr/>
                    <a:lstStyle/>
                    <a:p>
                      <a:pPr algn="l">
                        <a:lnSpc>
                          <a:spcPct val="100000"/>
                        </a:lnSpc>
                        <a:spcAft>
                          <a:spcPts val="0"/>
                        </a:spcAft>
                      </a:pPr>
                      <a:r>
                        <a:rPr sz="1200" i="0" b="1">
                          <a:solidFill>
                            <a:srgbClr val="1E2833"/>
                          </a:solidFill>
                          <a:latin typeface="Arial"/>
                        </a:rPr>
                        <a:t>Nectar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11.1K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3.0K–28.5K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4.4K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56–223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Helix</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10.5%</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DreamCloud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Walmart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16,401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6,449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7.0M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6.9M–7.2M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121K (1.72%)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4343400"/>
            <a:ext cx="11094415" cy="1463040"/>
          </a:xfrm>
          <a:prstGeom prst="rect">
            <a:avLst/>
          </a:prstGeom>
          <a:noFill/>
        </p:spPr>
        <p:txBody>
          <a:bodyPr wrap="square" lIns="0" rIns="0" tIns="0" bIns="0" anchor="t">
            <a:noAutofit/>
          </a:bodyPr>
          <a:lstStyle/>
          <a:p>
            <a:pPr algn="l">
              <a:lnSpc>
                <a:spcPct val="110000"/>
              </a:lnSpc>
              <a:spcAft>
                <a:spcPts val="300"/>
              </a:spcAft>
            </a:pPr>
            <a:r>
              <a:rPr sz="1150" i="0" b="0">
                <a:solidFill>
                  <a:srgbClr val="647282"/>
                </a:solidFill>
                <a:latin typeface="Arial"/>
              </a:rPr>
              <a:t>¹ Five landings plus one Partnerize click that never loaded the site.</a:t>
            </a:r>
          </a:p>
          <a:p>
            <a:pPr algn="l">
              <a:lnSpc>
                <a:spcPct val="110000"/>
              </a:lnSpc>
              <a:spcAft>
                <a:spcPts val="300"/>
              </a:spcAft>
            </a:pPr>
            <a:r>
              <a:rPr sz="1150" i="0" b="0">
                <a:solidFill>
                  <a:srgbClr val="647282"/>
                </a:solidFill>
                <a:latin typeface="Arial"/>
              </a:rPr>
              <a:t>² No mattress order, registration or financing application followed an affiliate click that day; the range applies a 0.5–2% category conversion rate.</a:t>
            </a:r>
          </a:p>
          <a:p>
            <a:pPr algn="l">
              <a:lnSpc>
                <a:spcPct val="110000"/>
              </a:lnSpc>
              <a:spcAft>
                <a:spcPts val="300"/>
              </a:spcAft>
            </a:pPr>
            <a:r>
              <a:rPr sz="1150" i="0" b="0">
                <a:solidFill>
                  <a:srgbClr val="647282"/>
                </a:solidFill>
                <a:latin typeface="Arial"/>
              </a:rPr>
              <a:t>Conservative: the Walmart-calibrated factor for the mattress brands, the population ratio for Walmart. 95% CI: Poisson sampling error of the panel count only.</a:t>
            </a:r>
          </a:p>
          <a:p>
            <a:pPr algn="l">
              <a:lnSpc>
                <a:spcPct val="110000"/>
              </a:lnSpc>
              <a:spcAft>
                <a:spcPts val="1000"/>
              </a:spcAft>
            </a:pPr>
            <a:r>
              <a:rPr sz="1150" i="0" b="0">
                <a:solidFill>
                  <a:srgbClr val="647282"/>
                </a:solidFill>
                <a:latin typeface="Arial"/>
              </a:rPr>
              <a:t>Seasonality: calibrated on August traffic. Google Trends puts mattress search interest around 1 May at 1.5–2.8× August; moved to that day, mattress estimates roughly double (Saatva ~33K a day).</a:t>
            </a:r>
          </a:p>
          <a:p>
            <a:pPr algn="l">
              <a:lnSpc>
                <a:spcPct val="110000"/>
              </a:lnSpc>
              <a:spcAft>
                <a:spcPts val="0"/>
              </a:spcAft>
            </a:pPr>
            <a:r>
              <a:rPr sz="1150" i="0" b="0">
                <a:solidFill>
                  <a:srgbClr val="647282"/>
                </a:solidFill>
                <a:latin typeface="Arial"/>
              </a:rPr>
              <a:t>Sources: Similarweb website pages (Aug 2026); Google Trends (US, daily); DataReportal, Digital 2026 (324M US internet users); Grips Intelligence retailer pages (mattress conversion rates).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Data validation</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16</a:t>
            </a:r>
          </a:p>
        </p:txBody>
      </p:sp>
      <p:graphicFrame>
        <p:nvGraphicFramePr>
          <p:cNvPr id="8" name="Table 7"/>
          <p:cNvGraphicFramePr>
            <a:graphicFrameLocks noGrp="1"/>
          </p:cNvGraphicFramePr>
          <p:nvPr/>
        </p:nvGraphicFramePr>
        <p:xfrm>
          <a:off x="548640" y="1554480"/>
          <a:ext cx="11091672" cy="4251960"/>
        </p:xfrm>
        <a:graphic>
          <a:graphicData uri="http://schemas.openxmlformats.org/drawingml/2006/table">
            <a:tbl>
              <a:tblPr firstRow="0" bandRow="0">
                <a:tableStyleId>{2D5ABB26-0587-4C30-8999-92F81FD0307C}</a:tableStyleId>
              </a:tblPr>
              <a:tblGrid>
                <a:gridCol w="2194560"/>
                <a:gridCol w="4937760"/>
                <a:gridCol w="3959352"/>
              </a:tblGrid>
              <a:tr h="411480">
                <a:tc>
                  <a:txBody>
                    <a:bodyPr/>
                    <a:lstStyle/>
                    <a:p>
                      <a:pPr algn="l">
                        <a:lnSpc>
                          <a:spcPct val="100000"/>
                        </a:lnSpc>
                        <a:spcAft>
                          <a:spcPts val="0"/>
                        </a:spcAft>
                      </a:pPr>
                      <a:r>
                        <a:rPr sz="1100" i="0" b="1">
                          <a:solidFill>
                            <a:srgbClr val="FFFFFF"/>
                          </a:solidFill>
                          <a:latin typeface="Arial"/>
                        </a:rPr>
                        <a:t>Check</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Finding</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Handling</a:t>
                      </a:r>
                    </a:p>
                  </a:txBody>
                  <a:tcPr marL="73152" marR="73152" marT="27432" marB="27432" anchor="ctr">
                    <a:lnL w="0">
                      <a:noFill/>
                    </a:lnL>
                    <a:lnR w="0">
                      <a:noFill/>
                    </a:lnR>
                    <a:lnT w="0">
                      <a:noFill/>
                    </a:lnT>
                    <a:lnB w="0">
                      <a:noFill/>
                    </a:lnB>
                    <a:solidFill>
                      <a:srgbClr val="0B2A4A"/>
                    </a:solidFill>
                  </a:tcPr>
                </a:tc>
              </a:tr>
              <a:tr h="548640">
                <a:tc>
                  <a:txBody>
                    <a:bodyPr/>
                    <a:lstStyle/>
                    <a:p>
                      <a:pPr algn="l">
                        <a:lnSpc>
                          <a:spcPct val="100000"/>
                        </a:lnSpc>
                        <a:spcAft>
                          <a:spcPts val="0"/>
                        </a:spcAft>
                      </a:pPr>
                      <a:r>
                        <a:rPr sz="1200" i="0" b="1">
                          <a:solidFill>
                            <a:srgbClr val="1E2833"/>
                          </a:solidFill>
                          <a:latin typeface="Arial"/>
                        </a:rPr>
                        <a:t>Period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One day only: 1 May 2026, 00:00–23:59 UTC</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estimates; same-day attribution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Double-recorded events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14.7% of rows repeat the same user, second and URL</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Deduplicated</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Mirror user IDs</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Some people recorded under two USER_IDs, one a partial copy; inflated brand visits 14–28% and orders 20%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IDs sharing ≥3 identical events merged (2,426 IDs)</a:t>
                      </a:r>
                    </a:p>
                  </a:txBody>
                  <a:tcPr marL="73152" marR="73152" marT="27432" marB="27432" anchor="ctr">
                    <a:lnL w="0">
                      <a:noFill/>
                    </a:lnL>
                    <a:lnR w="0">
                      <a:noFill/>
                    </a:lnR>
                    <a:lnT w="0">
                      <a:noFill/>
                    </a:lnT>
                    <a:lnB w="9525">
                      <a:solidFill>
                        <a:srgbClr val="E3E8EE"/>
                      </a:solidFill>
                    </a:lnB>
                    <a:solidFill>
                      <a:srgbClr val="F6EFE8"/>
                    </a:solidFill>
                  </a:tcPr>
                </a:tc>
              </a:tr>
              <a:tr h="548640">
                <a:tc>
                  <a:txBody>
                    <a:bodyPr/>
                    <a:lstStyle/>
                    <a:p>
                      <a:pPr algn="l">
                        <a:lnSpc>
                          <a:spcPct val="100000"/>
                        </a:lnSpc>
                        <a:spcAft>
                          <a:spcPts val="0"/>
                        </a:spcAft>
                      </a:pPr>
                      <a:r>
                        <a:rPr sz="1200" i="0" b="1">
                          <a:solidFill>
                            <a:srgbClr val="1E2833"/>
                          </a:solidFill>
                          <a:latin typeface="Arial"/>
                        </a:rPr>
                        <a:t>Non-page rows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iframes and tags appear as rows (sgtm.saatva.com, Shopify pixels)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Visits use main-site pages only</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Sessions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~2.5 parallel SESSION_IDs per user per day, one per tab</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Analysis per person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Country</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country field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Non-US if ≥20% of events on non-US country domains: 88.5% US</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Hourly profile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Step changes at 12:00 and 18:00 UTC, likely a collection artefact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totals only</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Hijacking indicators and Walmart outcomes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17</a:t>
            </a:r>
          </a:p>
        </p:txBody>
      </p:sp>
      <p:graphicFrame>
        <p:nvGraphicFramePr>
          <p:cNvPr id="8" name="Table 7"/>
          <p:cNvGraphicFramePr>
            <a:graphicFrameLocks noGrp="1"/>
          </p:cNvGraphicFramePr>
          <p:nvPr/>
        </p:nvGraphicFramePr>
        <p:xfrm>
          <a:off x="548640" y="1508760"/>
          <a:ext cx="11091672" cy="4251960"/>
        </p:xfrm>
        <a:graphic>
          <a:graphicData uri="http://schemas.openxmlformats.org/drawingml/2006/table">
            <a:tbl>
              <a:tblPr firstRow="0" bandRow="0">
                <a:tableStyleId>{2D5ABB26-0587-4C30-8999-92F81FD0307C}</a:tableStyleId>
              </a:tblPr>
              <a:tblGrid>
                <a:gridCol w="2514600"/>
                <a:gridCol w="4206240"/>
                <a:gridCol w="914400"/>
                <a:gridCol w="1188720"/>
                <a:gridCol w="1051560"/>
                <a:gridCol w="1216152"/>
              </a:tblGrid>
              <a:tr h="384048">
                <a:tc>
                  <a:txBody>
                    <a:bodyPr/>
                    <a:lstStyle/>
                    <a:p>
                      <a:pPr algn="l">
                        <a:lnSpc>
                          <a:spcPct val="100000"/>
                        </a:lnSpc>
                        <a:spcAft>
                          <a:spcPts val="0"/>
                        </a:spcAft>
                      </a:pPr>
                      <a:r>
                        <a:rPr sz="1100" i="0" b="1">
                          <a:solidFill>
                            <a:srgbClr val="FFFFFF"/>
                          </a:solidFill>
                          <a:latin typeface="Arial"/>
                        </a:rPr>
                        <a:t>Indicator</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Definition</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Tier</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Conv. rate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orders</a:t>
                      </a:r>
                    </a:p>
                  </a:txBody>
                  <a:tcPr marL="73152" marR="73152" marT="27432" marB="27432" anchor="ctr">
                    <a:lnL w="0">
                      <a:noFill/>
                    </a:lnL>
                    <a:lnR w="0">
                      <a:noFill/>
                    </a:lnR>
                    <a:lnT w="0">
                      <a:noFill/>
                    </a:lnT>
                    <a:lnB w="0">
                      <a:noFill/>
                    </a:lnB>
                    <a:solidFill>
                      <a:srgbClr val="0B2A4A"/>
                    </a:solidFill>
                  </a:tcPr>
                </a:tc>
              </a:tr>
              <a:tr h="429768">
                <a:tc>
                  <a:txBody>
                    <a:bodyPr/>
                    <a:lstStyle/>
                    <a:p>
                      <a:pPr algn="l">
                        <a:lnSpc>
                          <a:spcPct val="100000"/>
                        </a:lnSpc>
                        <a:spcAft>
                          <a:spcPts val="0"/>
                        </a:spcAft>
                      </a:pPr>
                      <a:r>
                        <a:rPr sz="1200" i="0" b="1">
                          <a:solidFill>
                            <a:srgbClr val="1E2833"/>
                          </a:solidFill>
                          <a:latin typeface="Arial"/>
                        </a:rPr>
                        <a:t>Click without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Network click, but the brand's site never loads</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Injected at cart / checkout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In the brand's cart or checkout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6.9%</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12.6%</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50.5%</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Already on site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On the brand's site, untagged,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16.3%</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3.0%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28.8%</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Publisher-bought search ad</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Google/Bing ad click id on the affiliate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Brand search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search for the brand within 60 s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Coupon / cash-back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coupon or cash-back site or extension within 60 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Multi-brand burst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 other advertisers within ±2 min, no engagement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Review</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visible referrer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activity in the 30 min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Weak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1.8%</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indicator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73.0%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5989320"/>
            <a:ext cx="11094415" cy="274320"/>
          </a:xfrm>
          <a:prstGeom prst="rect">
            <a:avLst/>
          </a:prstGeom>
          <a:noFill/>
        </p:spPr>
        <p:txBody>
          <a:bodyPr wrap="square" lIns="0" rIns="0" tIns="0" bIns="0" anchor="t">
            <a:noAutofit/>
          </a:bodyPr>
          <a:lstStyle/>
          <a:p>
            <a:pPr algn="l">
              <a:lnSpc>
                <a:spcPct val="110000"/>
              </a:lnSpc>
              <a:spcAft>
                <a:spcPts val="0"/>
              </a:spcAft>
            </a:pPr>
            <a:r>
              <a:rPr sz="1150" i="0" b="0">
                <a:solidFill>
                  <a:srgbClr val="647282"/>
                </a:solidFill>
                <a:latin typeface="Arial"/>
              </a:rPr>
              <a:t>Code, SQL and result tables: </a:t>
            </a:r>
            <a:r>
              <a:rPr sz="1150" i="0" b="1">
                <a:solidFill>
                  <a:srgbClr val="006BA1"/>
                </a:solidFill>
                <a:latin typeface="Arial"/>
              </a:rPr>
              <a:t>github.com/Hagaygro/partnerize-assignment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B2A4A"/>
      </a:dk2>
      <a:lt2>
        <a:srgbClr val="F3F6F9"/>
      </a:lt2>
      <a:accent1>
        <a:srgbClr val="368EF8"/>
      </a:accent1>
      <a:accent2>
        <a:srgbClr val="FF9438"/>
      </a:accent2>
      <a:accent3>
        <a:srgbClr val="B5793F"/>
      </a:accent3>
      <a:accent4>
        <a:srgbClr val="006BA1"/>
      </a:accent4>
      <a:accent5>
        <a:srgbClr val="647282"/>
      </a:accent5>
      <a:accent6>
        <a:srgbClr val="B7C1CC"/>
      </a:accent6>
      <a:hlink>
        <a:srgbClr val="0000FF"/>
      </a:hlink>
      <a:folHlink>
        <a:srgbClr val="800080"/>
      </a:folHlink>
    </a:clrScheme>
    <a:fontScheme name="Office">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