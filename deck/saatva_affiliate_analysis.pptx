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Similarweb ranks affiliate as Saatva's #1 channel (23.7% of traffic), and the panel points the same way: 16% of Saatva's visits start with an affiliate click, against 4–11% for the other mattress brands. That is 4 of 25 visits, so the panel alone cannot separate Saatva from its rivals; the external source carries the claim. Second, scaled to the US, that is about 16.7K affiliate clicks a day. The range is wide, 6.1K–36.4K, because it rests on six panel clicks. No mattress order followed an affiliate click in the panel day, so orders are an assumption, not a finding: at a 0.5–2% category conversion rate, roughly 84–334 a day. Third, where the data has volume (Walmart), the clicks that carry a hijack signal take 51–79% of the affiliate-credited orders, though they are only 26–41% of ordinary shoppers' clicks; most of the remaining click volume is click flooding by a few dozen people. Saatva's own clicks already show the same hijacking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Saatva's 16% is 4 of 25 visits, with a 95% interval of 6–35% that overlaps every rival, so the panel shows the direction and Similarweb confirms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(slide 5).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recorded clicks and 121K converting clicks a day. 71% of those clicks come from 58 panel people who click 13–15 times an hour and almost never order (click flooding, backup slide 14); without them Walmart has about 2.0M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It fits each of them within 0.89–1.27×; that is a fit check on the same figures, not an independent test.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Click-flooding clicks (backup slide 14) are left out: they are most of the volume and almost never convert, so they would make the flagged share look smaller than it is. Among ordinary shoppers' clicks, flagged clicks are 26–41% of clicks but take 51–79% of the affiliate-credited orders, depending on how strict the look-back window is, from 2 to 30 minutes. Counted over all clicks, the same flags are 13–24%. Clicks fired after the shopper had already viewed the cart convert at 13%, against 0.4% for clicks with no signal, and the order follows a median 2.3 minutes later: these clicks look like they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 6: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on this evidence, were happening anyway; with 56 shoppers that is a strong lead, not proof.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The first step needs no new data access beyond Saatva's own: match 30 days of Partnerize clicks to saatva.com landings.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estimate rests on a stated assumption, and each assumption has a next step that would replace it with data. The panel and its scale factor carry the volumes; the same-day window and the benchmark conversion carry the mattress orders; the hijacking indicators are behavioural proxies. The most valuable next step is the cheapest: Saatva's own Partnerize click and order logs cover every click, not a one-day sample, and matching them to saatva.com landings tests the strongest indicator without any threshold. With more time I would also break the panel down by device, and build the competitor comparison from 90 days.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a panel shows this, because a brand's own analytics stop at its own domain. Across ~20 mattress brands, 246 US panel users shopped for a mattress that day. 229 reached a brand site, 69 a product page, 18 a cart and 2 ordered: a long, considered journey, which is why a same-day window finds almost no orders. Visitors of each of the four brands looked at about two brands; 44% of Saatva's visitors also opened another brand, mostly Mattress Firm and Nectar. For Saatva's program, that makes comparison content (Saatva vs Nectar, best-mattress lists) the place to win the click, which is where the recruiting recommendation points. One day and a few hundred shoppers: read the shape, not the rates. Review sites look rare here partly because the panel does not record search engines (slide 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here is a panel number, so the panel was checked like any data source. It holds 784K user ids in one day, 88.5% US; the top 10% of users produce 56.7% of all events. It is not a uniform sample of browsing: PayPal, MSN, Walmart and the New York Times are large, while Google, YouTube, Facebook and Amazon are almost absent. So shares of 'all browsing' are meaningless, only within-site measures are valid, and each audience needs its own calibration, which is why the mattress brands are not scaled on Walmart. It also explains a signal: search engines are not recorded, so 'brand search before the click' can never fire, and a click with no visible referrer may simply come from a site the panel does not see; it is kept as weak. Recruitment bias: panels are often recruited through browser extensions, so coupon-extension users may be over-represented, and they do carry more flagged clicks. Dropping them entirely moves the share of Walmart's affiliate orders from flagged clicks from 79.3% to 75.7%, and every activity tier shows the same pattern. The hijacking result is not a panel artefact.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fraud pattern, beside hijacking. 58 US panel people, 6% of Walmart's affiliate clickers, make 4,594 of its 6,449 affiliate clicks and 4 of its affiliate orders. The line sits at 20 clicks a day, where behaviour changes: below it people click under twice an hour across 13–15 sites; above it 13–15 times an hour across 6–9 sites. The top one loops go.sylikes.com, rd.bizrate.com and a walmart.com product page about once a minute for 24 hours. Three publishers take 98% of these clicks. In a CPA program this costs little directly, but it inflates click counts and EPC rankings, any per-click payout, and it plants cookies that can win the last click later. Without it Walmart has about 2.0M affiliate clicks a day, not 7.0M; the threshold moves that between 1.7M and 2.7M. No Saatva or other mattress-brand user crosses the line in this 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in the funnel does the affiliate click arrive? A genuine referral starts the visit: the shopper reads a publisher's page and clicks through. A hijacked click arrives at the bottom, once the shopper is already in the cart or at checkout. At Walmart, 78% of affiliate clicks start the visit, but they carry only 31% of the credited orders and convert at 0.7%. Clicks that fire after the cart are 3% of clicks and 42% of the orders, converting at 18–31%. The commission follows the last click, so it flows to the bottom of the funnel, where the publisher did the least. Stage = the furthest point on walmart.com in the 30 minutes before the click, since any earlier affiliate click.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#1 channel;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  ·  Similarweb: #1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 assumed</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51–79%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26–41% of shoppers'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leans on affiliate more than its rivals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4 of 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 Small counts: the 95% intervals overlap (Saatva 6–35%), so the ranking rests on Similarweb.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(assumed)</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Not observed: 0.5–2% category conversion applied to the clicks</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recorded clicks a day (~2.0M without click flooding),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fits each site within </a:t>
            </a:r>
            <a:r>
              <a:rPr sz="1300" i="0" b="1">
                <a:solidFill>
                  <a:srgbClr val="1E2833"/>
                </a:solidFill>
                <a:latin typeface="Arial"/>
              </a:rPr>
              <a:t>0.89–1.27×</a:t>
            </a:r>
            <a:r>
              <a:rPr sz="1300" i="0" b="0">
                <a:solidFill>
                  <a:srgbClr val="1E2833"/>
                </a:solidFill>
                <a:latin typeface="Arial"/>
              </a:rPr>
              <a:t> (calibrated on the same sites, so a fit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26–41% of shoppers' clicks take 51–79%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shoppers'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3142244" y="1658355"/>
            <a:ext cx="274320" cy="1803928"/>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4272808"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41%</a:t>
            </a:r>
          </a:p>
        </p:txBody>
      </p:sp>
      <p:sp>
        <p:nvSpPr>
          <p:cNvPr id="16" name="Round Same Side Corner Rectangle 15"/>
          <p:cNvSpPr/>
          <p:nvPr/>
        </p:nvSpPr>
        <p:spPr>
          <a:xfrm rot="5400000">
            <a:off x="3963009" y="1166774"/>
            <a:ext cx="274320" cy="344545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14339"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3012765" y="2811962"/>
            <a:ext cx="274320" cy="1544970"/>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013850"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35%</a:t>
            </a:r>
          </a:p>
        </p:txBody>
      </p:sp>
      <p:sp>
        <p:nvSpPr>
          <p:cNvPr id="21" name="Round Same Side Corner Rectangle 20"/>
          <p:cNvSpPr/>
          <p:nvPr/>
        </p:nvSpPr>
        <p:spPr>
          <a:xfrm rot="5400000">
            <a:off x="3798417" y="2355494"/>
            <a:ext cx="274320" cy="311627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58515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71%</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819643" y="4029212"/>
            <a:ext cx="274320" cy="1158727"/>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627607"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26%</a:t>
            </a:r>
          </a:p>
        </p:txBody>
      </p:sp>
      <p:sp>
        <p:nvSpPr>
          <p:cNvPr id="26" name="Round Same Side Corner Rectangle 25"/>
          <p:cNvSpPr/>
          <p:nvPr/>
        </p:nvSpPr>
        <p:spPr>
          <a:xfrm rot="5400000">
            <a:off x="3348532" y="3829507"/>
            <a:ext cx="274320" cy="2216505"/>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685385"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51%</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 Click flooding excluded; over all clicks, 13–24% are flagged.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No sign that a click fired at the cart adds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if they add no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Shoppers compare ~2 brands (slide 12); rivals get Mattress Clarity, buyersguide.org, Truemed</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show no added orders (slide 7);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slide 16)</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Start this week:</a:t>
            </a:r>
            <a:r>
              <a:rPr sz="1500" i="0" b="0">
                <a:solidFill>
                  <a:srgbClr val="FFFFFF"/>
                </a:solidFill>
                <a:latin typeface="Arial"/>
              </a:rPr>
              <a:t> match 30 days of Partnerize clicks to saatva.com landings; no threshold to tune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ASSUMPTIONS AND NEXT STEPS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What the numbers rest on, and how to firm them up</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Assumptions</a:t>
            </a:r>
          </a:p>
        </p:txBody>
      </p:sp>
      <p:sp>
        <p:nvSpPr>
          <p:cNvPr id="10" name="Oval 9"/>
          <p:cNvSpPr/>
          <p:nvPr/>
        </p:nvSpPr>
        <p:spPr>
          <a:xfrm>
            <a:off x="548640" y="214884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1051560" y="212140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The panel stands for US browsing, per audience</a:t>
            </a:r>
          </a:p>
        </p:txBody>
      </p:sp>
      <p:sp>
        <p:nvSpPr>
          <p:cNvPr id="12" name="TextBox 11"/>
          <p:cNvSpPr txBox="1"/>
          <p:nvPr/>
        </p:nvSpPr>
        <p:spPr>
          <a:xfrm>
            <a:off x="1051560" y="241401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Scaled by a factor calibrated on Similarweb (Aug 2026); US = under 20% of events on non-US domains</a:t>
            </a:r>
          </a:p>
        </p:txBody>
      </p:sp>
      <p:sp>
        <p:nvSpPr>
          <p:cNvPr id="13" name="Oval 12"/>
          <p:cNvSpPr/>
          <p:nvPr/>
        </p:nvSpPr>
        <p:spPr>
          <a:xfrm>
            <a:off x="548640" y="297180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1051560" y="294436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Season: August traffic stands in for 1 May</a:t>
            </a:r>
          </a:p>
        </p:txBody>
      </p:sp>
      <p:sp>
        <p:nvSpPr>
          <p:cNvPr id="15" name="TextBox 14"/>
          <p:cNvSpPr txBox="1"/>
          <p:nvPr/>
        </p:nvSpPr>
        <p:spPr>
          <a:xfrm>
            <a:off x="1051560" y="323697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Google Trends puts mattress interest then at 1.5–2.8×, so volumes may be ~2× low</a:t>
            </a:r>
          </a:p>
        </p:txBody>
      </p:sp>
      <p:sp>
        <p:nvSpPr>
          <p:cNvPr id="16" name="Oval 15"/>
          <p:cNvSpPr/>
          <p:nvPr/>
        </p:nvSpPr>
        <p:spPr>
          <a:xfrm>
            <a:off x="548640" y="379476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1051560" y="376732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Orders: same day, last affiliate click</a:t>
            </a:r>
          </a:p>
        </p:txBody>
      </p:sp>
      <p:sp>
        <p:nvSpPr>
          <p:cNvPr id="18" name="TextBox 17"/>
          <p:cNvSpPr txBox="1"/>
          <p:nvPr/>
        </p:nvSpPr>
        <p:spPr>
          <a:xfrm>
            <a:off x="1051560" y="405993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No mattress order seen; 0.5–2% category conversion applied, not observed</a:t>
            </a:r>
          </a:p>
        </p:txBody>
      </p:sp>
      <p:sp>
        <p:nvSpPr>
          <p:cNvPr id="19" name="Oval 18"/>
          <p:cNvSpPr/>
          <p:nvPr/>
        </p:nvSpPr>
        <p:spPr>
          <a:xfrm>
            <a:off x="548640" y="461772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4</a:t>
            </a:r>
          </a:p>
        </p:txBody>
      </p:sp>
      <p:sp>
        <p:nvSpPr>
          <p:cNvPr id="20" name="TextBox 19"/>
          <p:cNvSpPr txBox="1"/>
          <p:nvPr/>
        </p:nvSpPr>
        <p:spPr>
          <a:xfrm>
            <a:off x="1051560" y="459028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Hijacking: behavioural proxies</a:t>
            </a:r>
          </a:p>
        </p:txBody>
      </p:sp>
      <p:sp>
        <p:nvSpPr>
          <p:cNvPr id="21" name="TextBox 20"/>
          <p:cNvSpPr txBox="1"/>
          <p:nvPr/>
        </p:nvSpPr>
        <p:spPr>
          <a:xfrm>
            <a:off x="1051560" y="488289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30-min look-back (tested at 2 and 10); flooding at 20+ clicks a day (tested at 10 and 50)</a:t>
            </a:r>
          </a:p>
        </p:txBody>
      </p:sp>
      <p:sp>
        <p:nvSpPr>
          <p:cNvPr id="22" name="Oval 21"/>
          <p:cNvSpPr/>
          <p:nvPr/>
        </p:nvSpPr>
        <p:spPr>
          <a:xfrm>
            <a:off x="548640" y="5440680"/>
            <a:ext cx="310896" cy="310896"/>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5</a:t>
            </a:r>
          </a:p>
        </p:txBody>
      </p:sp>
      <p:sp>
        <p:nvSpPr>
          <p:cNvPr id="23" name="TextBox 22"/>
          <p:cNvSpPr txBox="1"/>
          <p:nvPr/>
        </p:nvSpPr>
        <p:spPr>
          <a:xfrm>
            <a:off x="1051560" y="541324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Money: public averages</a:t>
            </a:r>
          </a:p>
        </p:txBody>
      </p:sp>
      <p:sp>
        <p:nvSpPr>
          <p:cNvPr id="24" name="TextBox 23"/>
          <p:cNvSpPr txBox="1"/>
          <p:nvPr/>
        </p:nvSpPr>
        <p:spPr>
          <a:xfrm>
            <a:off x="1051560" y="570585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Saatva $860 order, 3–10% commission; Walmart $100–125, 1–4%</a:t>
            </a:r>
          </a:p>
        </p:txBody>
      </p:sp>
      <p:sp>
        <p:nvSpPr>
          <p:cNvPr id="25" name="Oval 24"/>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6" name="TextBox 25"/>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Next steps</a:t>
            </a:r>
          </a:p>
        </p:txBody>
      </p:sp>
      <p:sp>
        <p:nvSpPr>
          <p:cNvPr id="27" name="Oval 26"/>
          <p:cNvSpPr/>
          <p:nvPr/>
        </p:nvSpPr>
        <p:spPr>
          <a:xfrm>
            <a:off x="6324447" y="214884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28" name="TextBox 27"/>
          <p:cNvSpPr txBox="1"/>
          <p:nvPr/>
        </p:nvSpPr>
        <p:spPr>
          <a:xfrm>
            <a:off x="6827367" y="212140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Saatva's own Partnerize logs</a:t>
            </a:r>
          </a:p>
        </p:txBody>
      </p:sp>
      <p:sp>
        <p:nvSpPr>
          <p:cNvPr id="29" name="TextBox 28"/>
          <p:cNvSpPr txBox="1"/>
          <p:nvPr/>
        </p:nvSpPr>
        <p:spPr>
          <a:xfrm>
            <a:off x="6827367" y="241401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Every click, not a sample; match click ids to saatva.com landings first</a:t>
            </a:r>
          </a:p>
        </p:txBody>
      </p:sp>
      <p:sp>
        <p:nvSpPr>
          <p:cNvPr id="30" name="Oval 29"/>
          <p:cNvSpPr/>
          <p:nvPr/>
        </p:nvSpPr>
        <p:spPr>
          <a:xfrm>
            <a:off x="6324447" y="297180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31" name="TextBox 30"/>
          <p:cNvSpPr txBox="1"/>
          <p:nvPr/>
        </p:nvSpPr>
        <p:spPr>
          <a:xfrm>
            <a:off x="6827367" y="294436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30–90 days of data</a:t>
            </a:r>
          </a:p>
        </p:txBody>
      </p:sp>
      <p:sp>
        <p:nvSpPr>
          <p:cNvPr id="32" name="TextBox 31"/>
          <p:cNvSpPr txBox="1"/>
          <p:nvPr/>
        </p:nvSpPr>
        <p:spPr>
          <a:xfrm>
            <a:off x="6827367" y="323697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Multi-day journeys for a considered purchase; enough clicks to rank the rivals</a:t>
            </a:r>
          </a:p>
        </p:txBody>
      </p:sp>
      <p:sp>
        <p:nvSpPr>
          <p:cNvPr id="33" name="Oval 32"/>
          <p:cNvSpPr/>
          <p:nvPr/>
        </p:nvSpPr>
        <p:spPr>
          <a:xfrm>
            <a:off x="6324447" y="379476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34" name="TextBox 33"/>
          <p:cNvSpPr txBox="1"/>
          <p:nvPr/>
        </p:nvSpPr>
        <p:spPr>
          <a:xfrm>
            <a:off x="6827367" y="376732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A holdout test on cart-stage clicks</a:t>
            </a:r>
          </a:p>
        </p:txBody>
      </p:sp>
      <p:sp>
        <p:nvSpPr>
          <p:cNvPr id="35" name="TextBox 34"/>
          <p:cNvSpPr txBox="1"/>
          <p:nvPr/>
        </p:nvSpPr>
        <p:spPr>
          <a:xfrm>
            <a:off x="6827367" y="405993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No commission for a random half of publishers; measures incrementality directly</a:t>
            </a:r>
          </a:p>
        </p:txBody>
      </p:sp>
      <p:sp>
        <p:nvSpPr>
          <p:cNvPr id="36" name="Oval 35"/>
          <p:cNvSpPr/>
          <p:nvPr/>
        </p:nvSpPr>
        <p:spPr>
          <a:xfrm>
            <a:off x="6324447" y="461772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4</a:t>
            </a:r>
          </a:p>
        </p:txBody>
      </p:sp>
      <p:sp>
        <p:nvSpPr>
          <p:cNvPr id="37" name="TextBox 36"/>
          <p:cNvSpPr txBox="1"/>
          <p:nvPr/>
        </p:nvSpPr>
        <p:spPr>
          <a:xfrm>
            <a:off x="6827367" y="459028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Validate the indicators</a:t>
            </a:r>
          </a:p>
        </p:txBody>
      </p:sp>
      <p:sp>
        <p:nvSpPr>
          <p:cNvPr id="38" name="TextBox 37"/>
          <p:cNvSpPr txBox="1"/>
          <p:nvPr/>
        </p:nvSpPr>
        <p:spPr>
          <a:xfrm>
            <a:off x="6827367" y="488289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Against reversals and confirmed fraud; tune the thresholds</a:t>
            </a:r>
          </a:p>
        </p:txBody>
      </p:sp>
      <p:sp>
        <p:nvSpPr>
          <p:cNvPr id="39" name="Oval 38"/>
          <p:cNvSpPr/>
          <p:nvPr/>
        </p:nvSpPr>
        <p:spPr>
          <a:xfrm>
            <a:off x="6324447" y="5440680"/>
            <a:ext cx="310896" cy="310896"/>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5</a:t>
            </a:r>
          </a:p>
        </p:txBody>
      </p:sp>
      <p:sp>
        <p:nvSpPr>
          <p:cNvPr id="40" name="TextBox 39"/>
          <p:cNvSpPr txBox="1"/>
          <p:nvPr/>
        </p:nvSpPr>
        <p:spPr>
          <a:xfrm>
            <a:off x="6827367" y="5413248"/>
            <a:ext cx="4769967"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Same-period traffic figures</a:t>
            </a:r>
          </a:p>
        </p:txBody>
      </p:sp>
      <p:sp>
        <p:nvSpPr>
          <p:cNvPr id="41" name="TextBox 40"/>
          <p:cNvSpPr txBox="1"/>
          <p:nvPr/>
        </p:nvSpPr>
        <p:spPr>
          <a:xfrm>
            <a:off x="6827367" y="5705856"/>
            <a:ext cx="4769967" cy="45720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Paid Similarweb or Partnerize benchmarks for May, by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3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1000"/>
              </a:spcAft>
            </a:pPr>
            <a:r>
              <a:rPr sz="1150" i="0" b="0">
                <a:solidFill>
                  <a:srgbClr val="647282"/>
                </a:solidFill>
                <a:latin typeface="Arial"/>
              </a:rPr>
              <a:t>Seasonality: calibrated on August traffic. Google Trends puts mattress search interest around 1 May at 1.5–2.8× August; moved to that day, mattress estimates roughly double (Saatva ~33K a day).</a:t>
            </a:r>
          </a:p>
          <a:p>
            <a:pPr algn="l">
              <a:lnSpc>
                <a:spcPct val="110000"/>
              </a:lnSpc>
              <a:spcAft>
                <a:spcPts val="0"/>
              </a:spcAft>
            </a:pPr>
            <a:r>
              <a:rPr sz="1150" i="0" b="0">
                <a:solidFill>
                  <a:srgbClr val="647282"/>
                </a:solidFill>
                <a:latin typeface="Arial"/>
              </a:rPr>
              <a:t>Sources: Similarweb website pages (Aug 2026); Google Trends (US, daily); DataReportal, Digital 2026 (324M US internet users); Grips Intelligence retailer pages (mattress conversion rates).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 · RESULTS · THE SHOPPER'S JOURNEY</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Mattress shoppers compare about two brands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sp>
        <p:nvSpPr>
          <p:cNvPr id="8" name="TextBox 7"/>
          <p:cNvSpPr txBox="1"/>
          <p:nvPr/>
        </p:nvSpPr>
        <p:spPr>
          <a:xfrm>
            <a:off x="548640" y="1508760"/>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US mattress shoppers in the panel, by the furthest step reached</a:t>
            </a:r>
          </a:p>
        </p:txBody>
      </p:sp>
      <p:sp>
        <p:nvSpPr>
          <p:cNvPr id="9" name="TextBox 8"/>
          <p:cNvSpPr txBox="1"/>
          <p:nvPr/>
        </p:nvSpPr>
        <p:spPr>
          <a:xfrm>
            <a:off x="548640" y="195681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Shopped for a mattress</a:t>
            </a:r>
          </a:p>
        </p:txBody>
      </p:sp>
      <p:sp>
        <p:nvSpPr>
          <p:cNvPr id="10" name="Round Same Side Corner Rectangle 9"/>
          <p:cNvSpPr/>
          <p:nvPr/>
        </p:nvSpPr>
        <p:spPr>
          <a:xfrm rot="5400000">
            <a:off x="4169663" y="448056"/>
            <a:ext cx="347472" cy="3291840"/>
          </a:xfrm>
          <a:prstGeom prst="round2SameRect">
            <a:avLst>
              <a:gd name="adj1" fmla="val 14000"/>
              <a:gd name="adj2" fmla="val 0"/>
            </a:avLst>
          </a:prstGeom>
          <a:solidFill>
            <a:srgbClr val="368EF8"/>
          </a:solidFill>
          <a:ln>
            <a:noFill/>
          </a:ln>
        </p:spPr>
        <p:txBody>
          <a:bodyPr rtlCol="0" anchor="ctr"/>
          <a:lstStyle/>
          <a:p>
            <a:pPr algn="ctr"/>
          </a:p>
        </p:txBody>
      </p:sp>
      <p:sp>
        <p:nvSpPr>
          <p:cNvPr id="11" name="TextBox 10"/>
          <p:cNvSpPr txBox="1"/>
          <p:nvPr/>
        </p:nvSpPr>
        <p:spPr>
          <a:xfrm>
            <a:off x="6080760" y="195681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246</a:t>
            </a:r>
          </a:p>
        </p:txBody>
      </p:sp>
      <p:sp>
        <p:nvSpPr>
          <p:cNvPr id="12" name="TextBox 11"/>
          <p:cNvSpPr txBox="1"/>
          <p:nvPr/>
        </p:nvSpPr>
        <p:spPr>
          <a:xfrm>
            <a:off x="548640" y="2523744"/>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Visited a brand site</a:t>
            </a:r>
          </a:p>
        </p:txBody>
      </p:sp>
      <p:sp>
        <p:nvSpPr>
          <p:cNvPr id="13" name="Round Same Side Corner Rectangle 12"/>
          <p:cNvSpPr/>
          <p:nvPr/>
        </p:nvSpPr>
        <p:spPr>
          <a:xfrm rot="5400000">
            <a:off x="4055921" y="1128726"/>
            <a:ext cx="347472" cy="3064355"/>
          </a:xfrm>
          <a:prstGeom prst="round2SameRect">
            <a:avLst>
              <a:gd name="adj1" fmla="val 14000"/>
              <a:gd name="adj2" fmla="val 0"/>
            </a:avLst>
          </a:prstGeom>
          <a:solidFill>
            <a:srgbClr val="368EF8"/>
          </a:solidFill>
          <a:ln>
            <a:noFill/>
          </a:ln>
        </p:spPr>
        <p:txBody>
          <a:bodyPr rtlCol="0" anchor="ctr"/>
          <a:lstStyle/>
          <a:p>
            <a:pPr algn="ctr"/>
          </a:p>
        </p:txBody>
      </p:sp>
      <p:sp>
        <p:nvSpPr>
          <p:cNvPr id="14" name="TextBox 13"/>
          <p:cNvSpPr txBox="1"/>
          <p:nvPr/>
        </p:nvSpPr>
        <p:spPr>
          <a:xfrm>
            <a:off x="5853275" y="2523744"/>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229</a:t>
            </a:r>
          </a:p>
        </p:txBody>
      </p:sp>
      <p:sp>
        <p:nvSpPr>
          <p:cNvPr id="15" name="TextBox 14"/>
          <p:cNvSpPr txBox="1"/>
          <p:nvPr/>
        </p:nvSpPr>
        <p:spPr>
          <a:xfrm>
            <a:off x="548640" y="3090672"/>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a product page</a:t>
            </a:r>
          </a:p>
        </p:txBody>
      </p:sp>
      <p:sp>
        <p:nvSpPr>
          <p:cNvPr id="16" name="Round Same Side Corner Rectangle 15"/>
          <p:cNvSpPr/>
          <p:nvPr/>
        </p:nvSpPr>
        <p:spPr>
          <a:xfrm rot="5400000">
            <a:off x="2985404" y="2766171"/>
            <a:ext cx="347472" cy="923320"/>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3712240" y="3090672"/>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69</a:t>
            </a:r>
          </a:p>
        </p:txBody>
      </p:sp>
      <p:sp>
        <p:nvSpPr>
          <p:cNvPr id="18" name="TextBox 17"/>
          <p:cNvSpPr txBox="1"/>
          <p:nvPr/>
        </p:nvSpPr>
        <p:spPr>
          <a:xfrm>
            <a:off x="548640" y="3657600"/>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cart</a:t>
            </a:r>
          </a:p>
        </p:txBody>
      </p:sp>
      <p:sp>
        <p:nvSpPr>
          <p:cNvPr id="19" name="Rectangle 18"/>
          <p:cNvSpPr/>
          <p:nvPr/>
        </p:nvSpPr>
        <p:spPr>
          <a:xfrm>
            <a:off x="2697480" y="3621024"/>
            <a:ext cx="240866" cy="347472"/>
          </a:xfrm>
          <a:prstGeom prst="rect">
            <a:avLst/>
          </a:prstGeom>
          <a:solidFill>
            <a:srgbClr val="368EF8"/>
          </a:solidFill>
          <a:ln>
            <a:noFill/>
          </a:ln>
        </p:spPr>
        <p:txBody>
          <a:bodyPr rtlCol="0" anchor="ctr"/>
          <a:lstStyle/>
          <a:p>
            <a:pPr algn="ctr"/>
          </a:p>
        </p:txBody>
      </p:sp>
      <p:sp>
        <p:nvSpPr>
          <p:cNvPr id="20" name="TextBox 19"/>
          <p:cNvSpPr txBox="1"/>
          <p:nvPr/>
        </p:nvSpPr>
        <p:spPr>
          <a:xfrm>
            <a:off x="3029786" y="3657600"/>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18</a:t>
            </a:r>
          </a:p>
        </p:txBody>
      </p:sp>
      <p:sp>
        <p:nvSpPr>
          <p:cNvPr id="21" name="TextBox 20"/>
          <p:cNvSpPr txBox="1"/>
          <p:nvPr/>
        </p:nvSpPr>
        <p:spPr>
          <a:xfrm>
            <a:off x="548640" y="4224528"/>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22" name="Rectangle 21"/>
          <p:cNvSpPr/>
          <p:nvPr/>
        </p:nvSpPr>
        <p:spPr>
          <a:xfrm>
            <a:off x="2697480" y="4187952"/>
            <a:ext cx="133814" cy="347472"/>
          </a:xfrm>
          <a:prstGeom prst="rect">
            <a:avLst/>
          </a:prstGeom>
          <a:solidFill>
            <a:srgbClr val="368EF8"/>
          </a:solidFill>
          <a:ln>
            <a:noFill/>
          </a:ln>
        </p:spPr>
        <p:txBody>
          <a:bodyPr rtlCol="0" anchor="ctr"/>
          <a:lstStyle/>
          <a:p>
            <a:pPr algn="ctr"/>
          </a:p>
        </p:txBody>
      </p:sp>
      <p:sp>
        <p:nvSpPr>
          <p:cNvPr id="23" name="TextBox 22"/>
          <p:cNvSpPr txBox="1"/>
          <p:nvPr/>
        </p:nvSpPr>
        <p:spPr>
          <a:xfrm>
            <a:off x="2922734" y="4224528"/>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10</a:t>
            </a:r>
          </a:p>
        </p:txBody>
      </p:sp>
      <p:sp>
        <p:nvSpPr>
          <p:cNvPr id="24" name="TextBox 23"/>
          <p:cNvSpPr txBox="1"/>
          <p:nvPr/>
        </p:nvSpPr>
        <p:spPr>
          <a:xfrm>
            <a:off x="548640" y="479145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Ordered</a:t>
            </a:r>
          </a:p>
        </p:txBody>
      </p:sp>
      <p:sp>
        <p:nvSpPr>
          <p:cNvPr id="25" name="Rectangle 24"/>
          <p:cNvSpPr/>
          <p:nvPr/>
        </p:nvSpPr>
        <p:spPr>
          <a:xfrm>
            <a:off x="2697480" y="4754880"/>
            <a:ext cx="26762" cy="347472"/>
          </a:xfrm>
          <a:prstGeom prst="rect">
            <a:avLst/>
          </a:prstGeom>
          <a:solidFill>
            <a:srgbClr val="368EF8"/>
          </a:solidFill>
          <a:ln>
            <a:noFill/>
          </a:ln>
        </p:spPr>
        <p:txBody>
          <a:bodyPr rtlCol="0" anchor="ctr"/>
          <a:lstStyle/>
          <a:p>
            <a:pPr algn="ctr"/>
          </a:p>
        </p:txBody>
      </p:sp>
      <p:sp>
        <p:nvSpPr>
          <p:cNvPr id="26" name="TextBox 25"/>
          <p:cNvSpPr txBox="1"/>
          <p:nvPr/>
        </p:nvSpPr>
        <p:spPr>
          <a:xfrm>
            <a:off x="2815682" y="479145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a:t>
            </a:r>
          </a:p>
        </p:txBody>
      </p:sp>
      <p:cxnSp>
        <p:nvCxnSpPr>
          <p:cNvPr id="27" name="Connector 26"/>
          <p:cNvCxnSpPr/>
          <p:nvPr/>
        </p:nvCxnSpPr>
        <p:spPr>
          <a:xfrm>
            <a:off x="2697480" y="1810512"/>
            <a:ext cx="0" cy="3383280"/>
          </a:xfrm>
          <a:prstGeom prst="line">
            <a:avLst/>
          </a:prstGeom>
          <a:ln w="9525">
            <a:solidFill>
              <a:srgbClr val="1E2833"/>
            </a:solidFill>
          </a:ln>
        </p:spPr>
      </p:cxnSp>
      <p:sp>
        <p:nvSpPr>
          <p:cNvPr id="28" name="TextBox 27"/>
          <p:cNvSpPr txBox="1"/>
          <p:nvPr/>
        </p:nvSpPr>
        <p:spPr>
          <a:xfrm>
            <a:off x="7315200" y="1508760"/>
            <a:ext cx="4327855"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Visitors who also opened another mattress brand</a:t>
            </a:r>
          </a:p>
        </p:txBody>
      </p:sp>
      <p:sp>
        <p:nvSpPr>
          <p:cNvPr id="29" name="TextBox 28"/>
          <p:cNvSpPr txBox="1"/>
          <p:nvPr/>
        </p:nvSpPr>
        <p:spPr>
          <a:xfrm>
            <a:off x="7315200"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Saatva</a:t>
            </a:r>
          </a:p>
        </p:txBody>
      </p:sp>
      <p:sp>
        <p:nvSpPr>
          <p:cNvPr id="30" name="Round Same Side Corner Rectangle 29"/>
          <p:cNvSpPr/>
          <p:nvPr/>
        </p:nvSpPr>
        <p:spPr>
          <a:xfrm rot="5400000">
            <a:off x="8937345" y="1623974"/>
            <a:ext cx="292608" cy="885139"/>
          </a:xfrm>
          <a:prstGeom prst="round2SameRect">
            <a:avLst>
              <a:gd name="adj1" fmla="val 14000"/>
              <a:gd name="adj2" fmla="val 0"/>
            </a:avLst>
          </a:prstGeom>
          <a:solidFill>
            <a:srgbClr val="B5793F"/>
          </a:solidFill>
          <a:ln>
            <a:noFill/>
          </a:ln>
        </p:spPr>
        <p:txBody>
          <a:bodyPr rtlCol="0" anchor="ctr"/>
          <a:lstStyle/>
          <a:p>
            <a:pPr algn="ctr"/>
          </a:p>
        </p:txBody>
      </p:sp>
      <p:sp>
        <p:nvSpPr>
          <p:cNvPr id="31" name="TextBox 30"/>
          <p:cNvSpPr txBox="1"/>
          <p:nvPr/>
        </p:nvSpPr>
        <p:spPr>
          <a:xfrm>
            <a:off x="9617659"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44%</a:t>
            </a:r>
          </a:p>
        </p:txBody>
      </p:sp>
      <p:sp>
        <p:nvSpPr>
          <p:cNvPr id="32" name="TextBox 31"/>
          <p:cNvSpPr txBox="1"/>
          <p:nvPr/>
        </p:nvSpPr>
        <p:spPr>
          <a:xfrm>
            <a:off x="731520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Nectar</a:t>
            </a:r>
          </a:p>
        </p:txBody>
      </p:sp>
      <p:sp>
        <p:nvSpPr>
          <p:cNvPr id="33" name="Round Same Side Corner Rectangle 32"/>
          <p:cNvSpPr/>
          <p:nvPr/>
        </p:nvSpPr>
        <p:spPr>
          <a:xfrm rot="5400000">
            <a:off x="9027871" y="2100376"/>
            <a:ext cx="292608" cy="1066190"/>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979871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53%</a:t>
            </a:r>
          </a:p>
        </p:txBody>
      </p:sp>
      <p:sp>
        <p:nvSpPr>
          <p:cNvPr id="35" name="TextBox 34"/>
          <p:cNvSpPr txBox="1"/>
          <p:nvPr/>
        </p:nvSpPr>
        <p:spPr>
          <a:xfrm>
            <a:off x="7315200"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DreamCloud</a:t>
            </a:r>
          </a:p>
        </p:txBody>
      </p:sp>
      <p:sp>
        <p:nvSpPr>
          <p:cNvPr id="36" name="Round Same Side Corner Rectangle 35"/>
          <p:cNvSpPr/>
          <p:nvPr/>
        </p:nvSpPr>
        <p:spPr>
          <a:xfrm rot="5400000">
            <a:off x="9068104" y="2627071"/>
            <a:ext cx="292608" cy="1146657"/>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9879177"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57%</a:t>
            </a:r>
          </a:p>
        </p:txBody>
      </p:sp>
      <p:sp>
        <p:nvSpPr>
          <p:cNvPr id="38" name="TextBox 37"/>
          <p:cNvSpPr txBox="1"/>
          <p:nvPr/>
        </p:nvSpPr>
        <p:spPr>
          <a:xfrm>
            <a:off x="7315200"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Helix</a:t>
            </a:r>
          </a:p>
        </p:txBody>
      </p:sp>
      <p:sp>
        <p:nvSpPr>
          <p:cNvPr id="39" name="Round Same Side Corner Rectangle 38"/>
          <p:cNvSpPr/>
          <p:nvPr/>
        </p:nvSpPr>
        <p:spPr>
          <a:xfrm rot="5400000">
            <a:off x="8997696" y="3264408"/>
            <a:ext cx="292608" cy="1005840"/>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9738359"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50%</a:t>
            </a:r>
          </a:p>
        </p:txBody>
      </p:sp>
      <p:sp>
        <p:nvSpPr>
          <p:cNvPr id="41" name="Rectangle 40"/>
          <p:cNvSpPr/>
          <p:nvPr/>
        </p:nvSpPr>
        <p:spPr>
          <a:xfrm>
            <a:off x="7315200" y="4343400"/>
            <a:ext cx="4327855" cy="1737360"/>
          </a:xfrm>
          <a:prstGeom prst="rect">
            <a:avLst/>
          </a:prstGeom>
          <a:solidFill>
            <a:srgbClr val="F6EFE8"/>
          </a:solidFill>
          <a:ln>
            <a:noFill/>
          </a:ln>
        </p:spPr>
        <p:txBody>
          <a:bodyPr rtlCol="0" anchor="ctr"/>
          <a:lstStyle/>
          <a:p>
            <a:pPr algn="ctr"/>
          </a:p>
        </p:txBody>
      </p:sp>
      <p:sp>
        <p:nvSpPr>
          <p:cNvPr id="42" name="TextBox 41"/>
          <p:cNvSpPr txBox="1"/>
          <p:nvPr/>
        </p:nvSpPr>
        <p:spPr>
          <a:xfrm>
            <a:off x="7543800" y="4480560"/>
            <a:ext cx="38706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Who Saatva's visitors also look at</a:t>
            </a:r>
          </a:p>
        </p:txBody>
      </p:sp>
      <p:sp>
        <p:nvSpPr>
          <p:cNvPr id="43" name="TextBox 42"/>
          <p:cNvSpPr txBox="1"/>
          <p:nvPr/>
        </p:nvSpPr>
        <p:spPr>
          <a:xfrm>
            <a:off x="7543800" y="4773168"/>
            <a:ext cx="3870655" cy="594360"/>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Mattress Firm (4),  Nectar (4),  DreamCloud (3)</a:t>
            </a:r>
          </a:p>
        </p:txBody>
      </p:sp>
      <p:sp>
        <p:nvSpPr>
          <p:cNvPr id="44" name="TextBox 43"/>
          <p:cNvSpPr txBox="1"/>
          <p:nvPr/>
        </p:nvSpPr>
        <p:spPr>
          <a:xfrm>
            <a:off x="7543800" y="5468112"/>
            <a:ext cx="3870655" cy="54864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Comparison content is where Saatva wins or loses the shopper</a:t>
            </a:r>
          </a:p>
        </p:txBody>
      </p:sp>
      <p:sp>
        <p:nvSpPr>
          <p:cNvPr id="45" name="TextBox 44"/>
          <p:cNvSpPr txBox="1"/>
          <p:nvPr/>
        </p:nvSpPr>
        <p:spPr>
          <a:xfrm>
            <a:off x="548640" y="5806440"/>
            <a:ext cx="640080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users, 1 May 2026. Saatva: 27 visitors, 13 reached a product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 · METHOD · KNOW THE PANEL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panel sees some sites, not the whole web</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sp>
        <p:nvSpPr>
          <p:cNvPr id="8" name="TextBox 7"/>
          <p:cNvSpPr txBox="1"/>
          <p:nvPr/>
        </p:nvSpPr>
        <p:spPr>
          <a:xfrm>
            <a:off x="548640" y="1508760"/>
            <a:ext cx="603504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Panel users on 1 May, selected sites</a:t>
            </a:r>
          </a:p>
        </p:txBody>
      </p:sp>
      <p:sp>
        <p:nvSpPr>
          <p:cNvPr id="9" name="TextBox 8"/>
          <p:cNvSpPr txBox="1"/>
          <p:nvPr/>
        </p:nvSpPr>
        <p:spPr>
          <a:xfrm>
            <a:off x="548640" y="1865376"/>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PayPal</a:t>
            </a:r>
          </a:p>
        </p:txBody>
      </p:sp>
      <p:sp>
        <p:nvSpPr>
          <p:cNvPr id="10" name="Round Same Side Corner Rectangle 9"/>
          <p:cNvSpPr/>
          <p:nvPr/>
        </p:nvSpPr>
        <p:spPr>
          <a:xfrm rot="5400000">
            <a:off x="4219956" y="169163"/>
            <a:ext cx="246888" cy="3657599"/>
          </a:xfrm>
          <a:prstGeom prst="round2SameRect">
            <a:avLst>
              <a:gd name="adj1" fmla="val 14000"/>
              <a:gd name="adj2" fmla="val 0"/>
            </a:avLst>
          </a:prstGeom>
          <a:solidFill>
            <a:srgbClr val="B7C1CC"/>
          </a:solidFill>
          <a:ln>
            <a:noFill/>
          </a:ln>
        </p:spPr>
        <p:txBody>
          <a:bodyPr rtlCol="0" anchor="ctr"/>
          <a:lstStyle/>
          <a:p>
            <a:pPr algn="ctr"/>
          </a:p>
        </p:txBody>
      </p:sp>
      <p:sp>
        <p:nvSpPr>
          <p:cNvPr id="11" name="TextBox 10"/>
          <p:cNvSpPr txBox="1"/>
          <p:nvPr/>
        </p:nvSpPr>
        <p:spPr>
          <a:xfrm>
            <a:off x="6263640" y="1865376"/>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20,567</a:t>
            </a:r>
          </a:p>
        </p:txBody>
      </p:sp>
      <p:sp>
        <p:nvSpPr>
          <p:cNvPr id="12" name="TextBox 11"/>
          <p:cNvSpPr txBox="1"/>
          <p:nvPr/>
        </p:nvSpPr>
        <p:spPr>
          <a:xfrm>
            <a:off x="548640" y="225856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MSN</a:t>
            </a:r>
          </a:p>
        </p:txBody>
      </p:sp>
      <p:sp>
        <p:nvSpPr>
          <p:cNvPr id="13" name="Round Same Side Corner Rectangle 12"/>
          <p:cNvSpPr/>
          <p:nvPr/>
        </p:nvSpPr>
        <p:spPr>
          <a:xfrm rot="5400000">
            <a:off x="3746550" y="1035761"/>
            <a:ext cx="246888" cy="2710788"/>
          </a:xfrm>
          <a:prstGeom prst="round2SameRect">
            <a:avLst>
              <a:gd name="adj1" fmla="val 14000"/>
              <a:gd name="adj2" fmla="val 0"/>
            </a:avLst>
          </a:prstGeom>
          <a:solidFill>
            <a:srgbClr val="B7C1CC"/>
          </a:solidFill>
          <a:ln>
            <a:noFill/>
          </a:ln>
        </p:spPr>
        <p:txBody>
          <a:bodyPr rtlCol="0" anchor="ctr"/>
          <a:lstStyle/>
          <a:p>
            <a:pPr algn="ctr"/>
          </a:p>
        </p:txBody>
      </p:sp>
      <p:sp>
        <p:nvSpPr>
          <p:cNvPr id="14" name="TextBox 13"/>
          <p:cNvSpPr txBox="1"/>
          <p:nvPr/>
        </p:nvSpPr>
        <p:spPr>
          <a:xfrm>
            <a:off x="5316828" y="2258568"/>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15,243</a:t>
            </a:r>
          </a:p>
        </p:txBody>
      </p:sp>
      <p:sp>
        <p:nvSpPr>
          <p:cNvPr id="15" name="TextBox 14"/>
          <p:cNvSpPr txBox="1"/>
          <p:nvPr/>
        </p:nvSpPr>
        <p:spPr>
          <a:xfrm>
            <a:off x="548640" y="265176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Walmart</a:t>
            </a:r>
          </a:p>
        </p:txBody>
      </p:sp>
      <p:sp>
        <p:nvSpPr>
          <p:cNvPr id="16" name="Round Same Side Corner Rectangle 15"/>
          <p:cNvSpPr/>
          <p:nvPr/>
        </p:nvSpPr>
        <p:spPr>
          <a:xfrm rot="5400000">
            <a:off x="3629443" y="1546060"/>
            <a:ext cx="246888" cy="2476575"/>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5082615" y="2651760"/>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13,926</a:t>
            </a:r>
          </a:p>
        </p:txBody>
      </p:sp>
      <p:sp>
        <p:nvSpPr>
          <p:cNvPr id="18" name="TextBox 17"/>
          <p:cNvSpPr txBox="1"/>
          <p:nvPr/>
        </p:nvSpPr>
        <p:spPr>
          <a:xfrm>
            <a:off x="548640" y="304495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NYT</a:t>
            </a:r>
          </a:p>
        </p:txBody>
      </p:sp>
      <p:sp>
        <p:nvSpPr>
          <p:cNvPr id="19" name="Round Same Side Corner Rectangle 18"/>
          <p:cNvSpPr/>
          <p:nvPr/>
        </p:nvSpPr>
        <p:spPr>
          <a:xfrm rot="5400000">
            <a:off x="3570935" y="1997760"/>
            <a:ext cx="246888" cy="2359558"/>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965598" y="3044952"/>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13,268</a:t>
            </a:r>
          </a:p>
        </p:txBody>
      </p:sp>
      <p:sp>
        <p:nvSpPr>
          <p:cNvPr id="21" name="TextBox 20"/>
          <p:cNvSpPr txBox="1"/>
          <p:nvPr/>
        </p:nvSpPr>
        <p:spPr>
          <a:xfrm>
            <a:off x="548640" y="343814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Capital One Shopping</a:t>
            </a:r>
          </a:p>
        </p:txBody>
      </p:sp>
      <p:sp>
        <p:nvSpPr>
          <p:cNvPr id="22" name="Round Same Side Corner Rectangle 21"/>
          <p:cNvSpPr/>
          <p:nvPr/>
        </p:nvSpPr>
        <p:spPr>
          <a:xfrm rot="5400000">
            <a:off x="2982557" y="2979330"/>
            <a:ext cx="246888" cy="1182802"/>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3788842" y="3438144"/>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6,651</a:t>
            </a:r>
          </a:p>
        </p:txBody>
      </p:sp>
      <p:sp>
        <p:nvSpPr>
          <p:cNvPr id="24" name="TextBox 23"/>
          <p:cNvSpPr txBox="1"/>
          <p:nvPr/>
        </p:nvSpPr>
        <p:spPr>
          <a:xfrm>
            <a:off x="548640" y="3831335"/>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Amazon</a:t>
            </a:r>
          </a:p>
        </p:txBody>
      </p:sp>
      <p:sp>
        <p:nvSpPr>
          <p:cNvPr id="25" name="TextBox 24"/>
          <p:cNvSpPr txBox="1"/>
          <p:nvPr/>
        </p:nvSpPr>
        <p:spPr>
          <a:xfrm>
            <a:off x="2606040" y="3831335"/>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12  · not covered</a:t>
            </a:r>
          </a:p>
        </p:txBody>
      </p:sp>
      <p:sp>
        <p:nvSpPr>
          <p:cNvPr id="26" name="TextBox 25"/>
          <p:cNvSpPr txBox="1"/>
          <p:nvPr/>
        </p:nvSpPr>
        <p:spPr>
          <a:xfrm>
            <a:off x="548640" y="422452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Google</a:t>
            </a:r>
          </a:p>
        </p:txBody>
      </p:sp>
      <p:sp>
        <p:nvSpPr>
          <p:cNvPr id="27" name="TextBox 26"/>
          <p:cNvSpPr txBox="1"/>
          <p:nvPr/>
        </p:nvSpPr>
        <p:spPr>
          <a:xfrm>
            <a:off x="2606040" y="4224528"/>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7  · not covered</a:t>
            </a:r>
          </a:p>
        </p:txBody>
      </p:sp>
      <p:sp>
        <p:nvSpPr>
          <p:cNvPr id="28" name="TextBox 27"/>
          <p:cNvSpPr txBox="1"/>
          <p:nvPr/>
        </p:nvSpPr>
        <p:spPr>
          <a:xfrm>
            <a:off x="548640" y="461772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Facebook</a:t>
            </a:r>
          </a:p>
        </p:txBody>
      </p:sp>
      <p:sp>
        <p:nvSpPr>
          <p:cNvPr id="29" name="TextBox 28"/>
          <p:cNvSpPr txBox="1"/>
          <p:nvPr/>
        </p:nvSpPr>
        <p:spPr>
          <a:xfrm>
            <a:off x="2606040" y="4617720"/>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3  · not covered</a:t>
            </a:r>
          </a:p>
        </p:txBody>
      </p:sp>
      <p:sp>
        <p:nvSpPr>
          <p:cNvPr id="30" name="TextBox 29"/>
          <p:cNvSpPr txBox="1"/>
          <p:nvPr/>
        </p:nvSpPr>
        <p:spPr>
          <a:xfrm>
            <a:off x="548640" y="501091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YouTube</a:t>
            </a:r>
          </a:p>
        </p:txBody>
      </p:sp>
      <p:sp>
        <p:nvSpPr>
          <p:cNvPr id="31" name="TextBox 30"/>
          <p:cNvSpPr txBox="1"/>
          <p:nvPr/>
        </p:nvSpPr>
        <p:spPr>
          <a:xfrm>
            <a:off x="2606040" y="5010912"/>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2  · not covered</a:t>
            </a:r>
          </a:p>
        </p:txBody>
      </p:sp>
      <p:sp>
        <p:nvSpPr>
          <p:cNvPr id="32" name="TextBox 31"/>
          <p:cNvSpPr txBox="1"/>
          <p:nvPr/>
        </p:nvSpPr>
        <p:spPr>
          <a:xfrm>
            <a:off x="548640" y="540410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Target</a:t>
            </a:r>
          </a:p>
        </p:txBody>
      </p:sp>
      <p:sp>
        <p:nvSpPr>
          <p:cNvPr id="33" name="TextBox 32"/>
          <p:cNvSpPr txBox="1"/>
          <p:nvPr/>
        </p:nvSpPr>
        <p:spPr>
          <a:xfrm>
            <a:off x="2606040" y="5404104"/>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0  · not covered</a:t>
            </a:r>
          </a:p>
        </p:txBody>
      </p:sp>
      <p:cxnSp>
        <p:nvCxnSpPr>
          <p:cNvPr id="34" name="Connector 33"/>
          <p:cNvCxnSpPr/>
          <p:nvPr/>
        </p:nvCxnSpPr>
        <p:spPr>
          <a:xfrm>
            <a:off x="2514600" y="1783079"/>
            <a:ext cx="0" cy="3950209"/>
          </a:xfrm>
          <a:prstGeom prst="line">
            <a:avLst/>
          </a:prstGeom>
          <a:ln w="9525">
            <a:solidFill>
              <a:srgbClr val="1E2833"/>
            </a:solidFill>
          </a:ln>
        </p:spPr>
      </p:cxnSp>
      <p:sp>
        <p:nvSpPr>
          <p:cNvPr id="35" name="Rectangle 34"/>
          <p:cNvSpPr/>
          <p:nvPr/>
        </p:nvSpPr>
        <p:spPr>
          <a:xfrm>
            <a:off x="7406640" y="1508760"/>
            <a:ext cx="4236415" cy="1325880"/>
          </a:xfrm>
          <a:prstGeom prst="rect">
            <a:avLst/>
          </a:prstGeom>
          <a:solidFill>
            <a:srgbClr val="F3F6F9"/>
          </a:solidFill>
          <a:ln>
            <a:noFill/>
          </a:ln>
        </p:spPr>
        <p:txBody>
          <a:bodyPr rtlCol="0" anchor="ctr"/>
          <a:lstStyle/>
          <a:p>
            <a:pPr algn="ctr"/>
          </a:p>
        </p:txBody>
      </p:sp>
      <p:sp>
        <p:nvSpPr>
          <p:cNvPr id="36" name="TextBox 35"/>
          <p:cNvSpPr txBox="1"/>
          <p:nvPr/>
        </p:nvSpPr>
        <p:spPr>
          <a:xfrm>
            <a:off x="7680960" y="1673351"/>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784K users</a:t>
            </a:r>
          </a:p>
        </p:txBody>
      </p:sp>
      <p:sp>
        <p:nvSpPr>
          <p:cNvPr id="37" name="TextBox 36"/>
          <p:cNvSpPr txBox="1"/>
          <p:nvPr/>
        </p:nvSpPr>
        <p:spPr>
          <a:xfrm>
            <a:off x="7680960" y="2240280"/>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88.5% US · top 10% make 57% of events</a:t>
            </a:r>
          </a:p>
        </p:txBody>
      </p:sp>
      <p:sp>
        <p:nvSpPr>
          <p:cNvPr id="38" name="Rectangle 37"/>
          <p:cNvSpPr/>
          <p:nvPr/>
        </p:nvSpPr>
        <p:spPr>
          <a:xfrm>
            <a:off x="7406640" y="2990088"/>
            <a:ext cx="4236415" cy="1325880"/>
          </a:xfrm>
          <a:prstGeom prst="rect">
            <a:avLst/>
          </a:prstGeom>
          <a:solidFill>
            <a:srgbClr val="F3F6F9"/>
          </a:solidFill>
          <a:ln>
            <a:noFill/>
          </a:ln>
        </p:spPr>
        <p:txBody>
          <a:bodyPr rtlCol="0" anchor="ctr"/>
          <a:lstStyle/>
          <a:p>
            <a:pPr algn="ctr"/>
          </a:p>
        </p:txBody>
      </p:sp>
      <p:sp>
        <p:nvSpPr>
          <p:cNvPr id="39" name="TextBox 38"/>
          <p:cNvSpPr txBox="1"/>
          <p:nvPr/>
        </p:nvSpPr>
        <p:spPr>
          <a:xfrm>
            <a:off x="7680960" y="3154680"/>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No search engines</a:t>
            </a:r>
          </a:p>
        </p:txBody>
      </p:sp>
      <p:sp>
        <p:nvSpPr>
          <p:cNvPr id="40" name="TextBox 39"/>
          <p:cNvSpPr txBox="1"/>
          <p:nvPr/>
        </p:nvSpPr>
        <p:spPr>
          <a:xfrm>
            <a:off x="7680960" y="3721608"/>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"Brand search" can't fire; "no referrer" stays weak</a:t>
            </a:r>
          </a:p>
        </p:txBody>
      </p:sp>
      <p:sp>
        <p:nvSpPr>
          <p:cNvPr id="41" name="Rectangle 40"/>
          <p:cNvSpPr/>
          <p:nvPr/>
        </p:nvSpPr>
        <p:spPr>
          <a:xfrm>
            <a:off x="7406640" y="4471416"/>
            <a:ext cx="4236415" cy="1325880"/>
          </a:xfrm>
          <a:prstGeom prst="rect">
            <a:avLst/>
          </a:prstGeom>
          <a:solidFill>
            <a:srgbClr val="FFF1E5"/>
          </a:solidFill>
          <a:ln>
            <a:noFill/>
          </a:ln>
        </p:spPr>
        <p:txBody>
          <a:bodyPr rtlCol="0" anchor="ctr"/>
          <a:lstStyle/>
          <a:p>
            <a:pPr algn="ctr"/>
          </a:p>
        </p:txBody>
      </p:sp>
      <p:sp>
        <p:nvSpPr>
          <p:cNvPr id="42" name="TextBox 41"/>
          <p:cNvSpPr txBox="1"/>
          <p:nvPr/>
        </p:nvSpPr>
        <p:spPr>
          <a:xfrm>
            <a:off x="7680960" y="4636008"/>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79% → 76%</a:t>
            </a:r>
          </a:p>
        </p:txBody>
      </p:sp>
      <p:sp>
        <p:nvSpPr>
          <p:cNvPr id="43" name="TextBox 42"/>
          <p:cNvSpPr txBox="1"/>
          <p:nvPr/>
        </p:nvSpPr>
        <p:spPr>
          <a:xfrm>
            <a:off x="7680960" y="5202936"/>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Walmart orders from flagged clicks, with coupon-extension users dropped</a:t>
            </a:r>
          </a:p>
        </p:txBody>
      </p:sp>
      <p:sp>
        <p:nvSpPr>
          <p:cNvPr id="44" name="TextBox 43"/>
          <p:cNvSpPr txBox="1"/>
          <p:nvPr/>
        </p:nvSpPr>
        <p:spPr>
          <a:xfrm>
            <a:off x="548640" y="5989320"/>
            <a:ext cx="667512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Same pattern in every activity tier: 50–85% of orders from flagged clicks.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 · CLICK FLOODING · WALMART</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58 people make 71% of the clicks and 4% of the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14</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person's clicks that day</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395728"/>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 a day</a:t>
            </a:r>
          </a:p>
        </p:txBody>
      </p:sp>
      <p:sp>
        <p:nvSpPr>
          <p:cNvPr id="14" name="TextBox 13"/>
          <p:cNvSpPr txBox="1"/>
          <p:nvPr/>
        </p:nvSpPr>
        <p:spPr>
          <a:xfrm>
            <a:off x="548640" y="2651760"/>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835 people</a:t>
            </a:r>
          </a:p>
        </p:txBody>
      </p:sp>
      <p:sp>
        <p:nvSpPr>
          <p:cNvPr id="15" name="Round Same Side Corner Rectangle 14"/>
          <p:cNvSpPr/>
          <p:nvPr/>
        </p:nvSpPr>
        <p:spPr>
          <a:xfrm rot="5400000">
            <a:off x="2949166" y="1942873"/>
            <a:ext cx="228600" cy="1097733"/>
          </a:xfrm>
          <a:prstGeom prst="round2SameRect">
            <a:avLst>
              <a:gd name="adj1" fmla="val 14000"/>
              <a:gd name="adj2" fmla="val 0"/>
            </a:avLst>
          </a:prstGeom>
          <a:solidFill>
            <a:srgbClr val="B7C1CC"/>
          </a:solidFill>
          <a:ln>
            <a:noFill/>
          </a:ln>
        </p:spPr>
        <p:txBody>
          <a:bodyPr rtlCol="0" anchor="ctr"/>
          <a:lstStyle/>
          <a:p>
            <a:pPr algn="ctr"/>
          </a:p>
        </p:txBody>
      </p:sp>
      <p:sp>
        <p:nvSpPr>
          <p:cNvPr id="16" name="TextBox 15"/>
          <p:cNvSpPr txBox="1"/>
          <p:nvPr/>
        </p:nvSpPr>
        <p:spPr>
          <a:xfrm>
            <a:off x="3703773"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17%</a:t>
            </a:r>
          </a:p>
        </p:txBody>
      </p:sp>
      <p:sp>
        <p:nvSpPr>
          <p:cNvPr id="17" name="Round Same Side Corner Rectangle 16"/>
          <p:cNvSpPr/>
          <p:nvPr/>
        </p:nvSpPr>
        <p:spPr>
          <a:xfrm rot="5400000">
            <a:off x="4476235" y="680980"/>
            <a:ext cx="228600" cy="4151870"/>
          </a:xfrm>
          <a:prstGeom prst="round2SameRect">
            <a:avLst>
              <a:gd name="adj1" fmla="val 14000"/>
              <a:gd name="adj2" fmla="val 0"/>
            </a:avLst>
          </a:prstGeom>
          <a:solidFill>
            <a:srgbClr val="FF9438"/>
          </a:solidFill>
          <a:ln>
            <a:noFill/>
          </a:ln>
        </p:spPr>
        <p:txBody>
          <a:bodyPr rtlCol="0" anchor="ctr"/>
          <a:lstStyle/>
          <a:p>
            <a:pPr algn="ctr"/>
          </a:p>
        </p:txBody>
      </p:sp>
      <p:sp>
        <p:nvSpPr>
          <p:cNvPr id="18" name="TextBox 17"/>
          <p:cNvSpPr txBox="1"/>
          <p:nvPr/>
        </p:nvSpPr>
        <p:spPr>
          <a:xfrm>
            <a:off x="6757910"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65%</a:t>
            </a:r>
          </a:p>
        </p:txBody>
      </p:sp>
      <p:sp>
        <p:nvSpPr>
          <p:cNvPr id="19" name="TextBox 18"/>
          <p:cNvSpPr txBox="1"/>
          <p:nvPr/>
        </p:nvSpPr>
        <p:spPr>
          <a:xfrm>
            <a:off x="548640" y="310896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4–9</a:t>
            </a:r>
          </a:p>
        </p:txBody>
      </p:sp>
      <p:sp>
        <p:nvSpPr>
          <p:cNvPr id="20" name="TextBox 19"/>
          <p:cNvSpPr txBox="1"/>
          <p:nvPr/>
        </p:nvSpPr>
        <p:spPr>
          <a:xfrm>
            <a:off x="548640" y="3364991"/>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90 people</a:t>
            </a:r>
          </a:p>
        </p:txBody>
      </p:sp>
      <p:sp>
        <p:nvSpPr>
          <p:cNvPr id="21" name="Round Same Side Corner Rectangle 20"/>
          <p:cNvSpPr/>
          <p:nvPr/>
        </p:nvSpPr>
        <p:spPr>
          <a:xfrm rot="5400000">
            <a:off x="2642476" y="2962795"/>
            <a:ext cx="228600" cy="484352"/>
          </a:xfrm>
          <a:prstGeom prst="round2SameRect">
            <a:avLst>
              <a:gd name="adj1" fmla="val 14000"/>
              <a:gd name="adj2" fmla="val 0"/>
            </a:avLst>
          </a:prstGeom>
          <a:solidFill>
            <a:srgbClr val="B7C1CC"/>
          </a:solidFill>
          <a:ln>
            <a:noFill/>
          </a:ln>
        </p:spPr>
        <p:txBody>
          <a:bodyPr rtlCol="0" anchor="ctr"/>
          <a:lstStyle/>
          <a:p>
            <a:pPr algn="ctr"/>
          </a:p>
        </p:txBody>
      </p:sp>
      <p:sp>
        <p:nvSpPr>
          <p:cNvPr id="22" name="TextBox 21"/>
          <p:cNvSpPr txBox="1"/>
          <p:nvPr/>
        </p:nvSpPr>
        <p:spPr>
          <a:xfrm>
            <a:off x="3090392"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8%</a:t>
            </a:r>
          </a:p>
        </p:txBody>
      </p:sp>
      <p:sp>
        <p:nvSpPr>
          <p:cNvPr id="23" name="Round Same Side Corner Rectangle 22"/>
          <p:cNvSpPr/>
          <p:nvPr/>
        </p:nvSpPr>
        <p:spPr>
          <a:xfrm rot="5400000">
            <a:off x="3265272" y="2605175"/>
            <a:ext cx="228600" cy="1729945"/>
          </a:xfrm>
          <a:prstGeom prst="round2SameRect">
            <a:avLst>
              <a:gd name="adj1" fmla="val 14000"/>
              <a:gd name="adj2" fmla="val 0"/>
            </a:avLst>
          </a:prstGeom>
          <a:solidFill>
            <a:srgbClr val="FF9438"/>
          </a:solidFill>
          <a:ln>
            <a:noFill/>
          </a:ln>
        </p:spPr>
        <p:txBody>
          <a:bodyPr rtlCol="0" anchor="ctr"/>
          <a:lstStyle/>
          <a:p>
            <a:pPr algn="ctr"/>
          </a:p>
        </p:txBody>
      </p:sp>
      <p:sp>
        <p:nvSpPr>
          <p:cNvPr id="24" name="TextBox 23"/>
          <p:cNvSpPr txBox="1"/>
          <p:nvPr/>
        </p:nvSpPr>
        <p:spPr>
          <a:xfrm>
            <a:off x="4335985"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27%</a:t>
            </a:r>
          </a:p>
        </p:txBody>
      </p:sp>
      <p:sp>
        <p:nvSpPr>
          <p:cNvPr id="25" name="TextBox 24"/>
          <p:cNvSpPr txBox="1"/>
          <p:nvPr/>
        </p:nvSpPr>
        <p:spPr>
          <a:xfrm>
            <a:off x="548640" y="3822191"/>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10–19</a:t>
            </a:r>
          </a:p>
        </p:txBody>
      </p:sp>
      <p:sp>
        <p:nvSpPr>
          <p:cNvPr id="26" name="TextBox 25"/>
          <p:cNvSpPr txBox="1"/>
          <p:nvPr/>
        </p:nvSpPr>
        <p:spPr>
          <a:xfrm>
            <a:off x="548640" y="4078224"/>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20 people</a:t>
            </a:r>
          </a:p>
        </p:txBody>
      </p:sp>
      <p:sp>
        <p:nvSpPr>
          <p:cNvPr id="27" name="Round Same Side Corner Rectangle 26"/>
          <p:cNvSpPr/>
          <p:nvPr/>
        </p:nvSpPr>
        <p:spPr>
          <a:xfrm rot="5400000">
            <a:off x="2529824" y="3788679"/>
            <a:ext cx="228600" cy="259049"/>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2865089"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9" name="Round Same Side Corner Rectangle 28"/>
          <p:cNvSpPr/>
          <p:nvPr/>
        </p:nvSpPr>
        <p:spPr>
          <a:xfrm rot="5400000">
            <a:off x="2544462" y="4039217"/>
            <a:ext cx="228600" cy="288324"/>
          </a:xfrm>
          <a:prstGeom prst="round2SameRect">
            <a:avLst>
              <a:gd name="adj1" fmla="val 14000"/>
              <a:gd name="adj2" fmla="val 0"/>
            </a:avLst>
          </a:prstGeom>
          <a:solidFill>
            <a:srgbClr val="FF9438"/>
          </a:solidFill>
          <a:ln>
            <a:noFill/>
          </a:ln>
        </p:spPr>
        <p:txBody>
          <a:bodyPr rtlCol="0" anchor="ctr"/>
          <a:lstStyle/>
          <a:p>
            <a:pPr algn="ctr"/>
          </a:p>
        </p:txBody>
      </p:sp>
      <p:sp>
        <p:nvSpPr>
          <p:cNvPr id="30" name="TextBox 29"/>
          <p:cNvSpPr txBox="1"/>
          <p:nvPr/>
        </p:nvSpPr>
        <p:spPr>
          <a:xfrm>
            <a:off x="2894364"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5%</a:t>
            </a:r>
          </a:p>
        </p:txBody>
      </p:sp>
      <p:sp>
        <p:nvSpPr>
          <p:cNvPr id="31" name="TextBox 30"/>
          <p:cNvSpPr txBox="1"/>
          <p:nvPr/>
        </p:nvSpPr>
        <p:spPr>
          <a:xfrm>
            <a:off x="548640" y="4535423"/>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20–49</a:t>
            </a:r>
          </a:p>
        </p:txBody>
      </p:sp>
      <p:sp>
        <p:nvSpPr>
          <p:cNvPr id="32" name="TextBox 31"/>
          <p:cNvSpPr txBox="1"/>
          <p:nvPr/>
        </p:nvSpPr>
        <p:spPr>
          <a:xfrm>
            <a:off x="548640" y="4791455"/>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18 people</a:t>
            </a:r>
          </a:p>
        </p:txBody>
      </p:sp>
      <p:sp>
        <p:nvSpPr>
          <p:cNvPr id="33" name="Round Same Side Corner Rectangle 32"/>
          <p:cNvSpPr/>
          <p:nvPr/>
        </p:nvSpPr>
        <p:spPr>
          <a:xfrm rot="5400000">
            <a:off x="2694087" y="4337648"/>
            <a:ext cx="228600" cy="587575"/>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3193615"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9%</a:t>
            </a:r>
          </a:p>
        </p:txBody>
      </p:sp>
      <p:sp>
        <p:nvSpPr>
          <p:cNvPr id="35" name="Rectangle 34"/>
          <p:cNvSpPr/>
          <p:nvPr/>
        </p:nvSpPr>
        <p:spPr>
          <a:xfrm>
            <a:off x="2514600" y="4782312"/>
            <a:ext cx="18288" cy="228600"/>
          </a:xfrm>
          <a:prstGeom prst="rect">
            <a:avLst/>
          </a:prstGeom>
          <a:solidFill>
            <a:srgbClr val="FF9438"/>
          </a:solidFill>
          <a:ln>
            <a:noFill/>
          </a:ln>
        </p:spPr>
        <p:txBody>
          <a:bodyPr rtlCol="0" anchor="ctr"/>
          <a:lstStyle/>
          <a:p>
            <a:pPr algn="ctr"/>
          </a:p>
        </p:txBody>
      </p:sp>
      <p:sp>
        <p:nvSpPr>
          <p:cNvPr id="36" name="TextBox 35"/>
          <p:cNvSpPr txBox="1"/>
          <p:nvPr/>
        </p:nvSpPr>
        <p:spPr>
          <a:xfrm>
            <a:off x="2606040"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0%</a:t>
            </a:r>
          </a:p>
        </p:txBody>
      </p:sp>
      <p:sp>
        <p:nvSpPr>
          <p:cNvPr id="37" name="TextBox 36"/>
          <p:cNvSpPr txBox="1"/>
          <p:nvPr/>
        </p:nvSpPr>
        <p:spPr>
          <a:xfrm>
            <a:off x="548640" y="5248656"/>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50 or more</a:t>
            </a:r>
          </a:p>
        </p:txBody>
      </p:sp>
      <p:sp>
        <p:nvSpPr>
          <p:cNvPr id="38" name="TextBox 37"/>
          <p:cNvSpPr txBox="1"/>
          <p:nvPr/>
        </p:nvSpPr>
        <p:spPr>
          <a:xfrm>
            <a:off x="548640" y="5504688"/>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40 people</a:t>
            </a:r>
          </a:p>
        </p:txBody>
      </p:sp>
      <p:sp>
        <p:nvSpPr>
          <p:cNvPr id="39" name="Round Same Side Corner Rectangle 38"/>
          <p:cNvSpPr/>
          <p:nvPr/>
        </p:nvSpPr>
        <p:spPr>
          <a:xfrm rot="5400000">
            <a:off x="4386344" y="3358623"/>
            <a:ext cx="228600" cy="3972088"/>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657812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62%</a:t>
            </a:r>
          </a:p>
        </p:txBody>
      </p:sp>
      <p:sp>
        <p:nvSpPr>
          <p:cNvPr id="41" name="Round Same Side Corner Rectangle 40"/>
          <p:cNvSpPr/>
          <p:nvPr/>
        </p:nvSpPr>
        <p:spPr>
          <a:xfrm rot="5400000">
            <a:off x="2515629" y="5494514"/>
            <a:ext cx="228600" cy="230659"/>
          </a:xfrm>
          <a:prstGeom prst="round2SameRect">
            <a:avLst>
              <a:gd name="adj1" fmla="val 14000"/>
              <a:gd name="adj2" fmla="val 0"/>
            </a:avLst>
          </a:prstGeom>
          <a:solidFill>
            <a:srgbClr val="FF9438"/>
          </a:solidFill>
          <a:ln>
            <a:noFill/>
          </a:ln>
        </p:spPr>
        <p:txBody>
          <a:bodyPr rtlCol="0" anchor="ctr"/>
          <a:lstStyle/>
          <a:p>
            <a:pPr algn="ctr"/>
          </a:p>
        </p:txBody>
      </p:sp>
      <p:sp>
        <p:nvSpPr>
          <p:cNvPr id="42" name="TextBox 41"/>
          <p:cNvSpPr txBox="1"/>
          <p:nvPr/>
        </p:nvSpPr>
        <p:spPr>
          <a:xfrm>
            <a:off x="283669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4%</a:t>
            </a:r>
          </a:p>
        </p:txBody>
      </p:sp>
      <p:cxnSp>
        <p:nvCxnSpPr>
          <p:cNvPr id="43" name="Connector 42"/>
          <p:cNvCxnSpPr/>
          <p:nvPr/>
        </p:nvCxnSpPr>
        <p:spPr>
          <a:xfrm>
            <a:off x="2514600" y="2267712"/>
            <a:ext cx="0" cy="3529584"/>
          </a:xfrm>
          <a:prstGeom prst="line">
            <a:avLst/>
          </a:prstGeom>
          <a:ln w="9525">
            <a:solidFill>
              <a:srgbClr val="1E2833"/>
            </a:solidFill>
          </a:ln>
        </p:spPr>
      </p:cxnSp>
      <p:sp>
        <p:nvSpPr>
          <p:cNvPr id="44" name="Rectangle 43"/>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5" name="Oval 44"/>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6" name="TextBox 45"/>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an hour, median</a:t>
            </a:r>
          </a:p>
        </p:txBody>
      </p:sp>
      <p:sp>
        <p:nvSpPr>
          <p:cNvPr id="47" name="TextBox 46"/>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3400" i="0" b="1">
                <a:solidFill>
                  <a:srgbClr val="0B2A4A"/>
                </a:solidFill>
                <a:latin typeface="Arial"/>
              </a:rPr>
              <a:t>13–15 vs under 2</a:t>
            </a:r>
          </a:p>
        </p:txBody>
      </p:sp>
      <p:sp>
        <p:nvSpPr>
          <p:cNvPr id="48" name="TextBox 47"/>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 clicks a day vs fewer</a:t>
            </a:r>
          </a:p>
        </p:txBody>
      </p:sp>
      <p:sp>
        <p:nvSpPr>
          <p:cNvPr id="49" name="TextBox 48"/>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 6–9 sites all day, vs 13–15</a:t>
            </a:r>
          </a:p>
        </p:txBody>
      </p:sp>
      <p:sp>
        <p:nvSpPr>
          <p:cNvPr id="50" name="TextBox 49"/>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Saatva</a:t>
            </a:r>
          </a:p>
        </p:txBody>
      </p:sp>
      <p:sp>
        <p:nvSpPr>
          <p:cNvPr id="51" name="Oval 50"/>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52" name="TextBox 51"/>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Cap clicks per device per day in EPC</a:t>
            </a:r>
          </a:p>
        </p:txBody>
      </p:sp>
      <p:sp>
        <p:nvSpPr>
          <p:cNvPr id="53" name="Oval 52"/>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54" name="TextBox 53"/>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Never pay per click on these partners</a:t>
            </a:r>
          </a:p>
        </p:txBody>
      </p:sp>
      <p:sp>
        <p:nvSpPr>
          <p:cNvPr id="55" name="Oval 54"/>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6" name="TextBox 55"/>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Alert on click velocity per publisher</a:t>
            </a:r>
          </a:p>
        </p:txBody>
      </p:sp>
      <p:sp>
        <p:nvSpPr>
          <p:cNvPr id="57" name="TextBox 56"/>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1 May 2026. Threshold 20 clicks a day; at 10 or 50 the flood share is 75% or 62% of clicks. No mattress-brand user crosses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 · ATTRIBUTION HIJACKING · THE FUNNEL VIEW</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3% of clicks land after the cart and take 42% of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15</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stage the shopper had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46888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Click starts the visit</a:t>
            </a:r>
          </a:p>
        </p:txBody>
      </p:sp>
      <p:sp>
        <p:nvSpPr>
          <p:cNvPr id="14" name="Round Same Side Corner Rectangle 13"/>
          <p:cNvSpPr/>
          <p:nvPr/>
        </p:nvSpPr>
        <p:spPr>
          <a:xfrm rot="5400000">
            <a:off x="4259458" y="632581"/>
            <a:ext cx="228600" cy="3718316"/>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6324356"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78%</a:t>
            </a:r>
          </a:p>
        </p:txBody>
      </p:sp>
      <p:sp>
        <p:nvSpPr>
          <p:cNvPr id="16" name="Round Same Side Corner Rectangle 15"/>
          <p:cNvSpPr/>
          <p:nvPr/>
        </p:nvSpPr>
        <p:spPr>
          <a:xfrm rot="5400000">
            <a:off x="3127796" y="2029419"/>
            <a:ext cx="228600" cy="1454993"/>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4061033"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31%</a:t>
            </a:r>
          </a:p>
        </p:txBody>
      </p:sp>
      <p:sp>
        <p:nvSpPr>
          <p:cNvPr id="18" name="TextBox 17"/>
          <p:cNvSpPr txBox="1"/>
          <p:nvPr/>
        </p:nvSpPr>
        <p:spPr>
          <a:xfrm>
            <a:off x="548640" y="3182112"/>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Already browsing</a:t>
            </a:r>
          </a:p>
        </p:txBody>
      </p:sp>
      <p:sp>
        <p:nvSpPr>
          <p:cNvPr id="19" name="Rectangle 18"/>
          <p:cNvSpPr/>
          <p:nvPr/>
        </p:nvSpPr>
        <p:spPr>
          <a:xfrm>
            <a:off x="2514600" y="3090672"/>
            <a:ext cx="194950" cy="228600"/>
          </a:xfrm>
          <a:prstGeom prst="rect">
            <a:avLst/>
          </a:prstGeom>
          <a:solidFill>
            <a:srgbClr val="B7C1CC"/>
          </a:solidFill>
          <a:ln>
            <a:noFill/>
          </a:ln>
        </p:spPr>
        <p:txBody>
          <a:bodyPr rtlCol="0" anchor="ctr"/>
          <a:lstStyle/>
          <a:p>
            <a:pPr algn="ctr"/>
          </a:p>
        </p:txBody>
      </p:sp>
      <p:sp>
        <p:nvSpPr>
          <p:cNvPr id="20" name="TextBox 19"/>
          <p:cNvSpPr txBox="1"/>
          <p:nvPr/>
        </p:nvSpPr>
        <p:spPr>
          <a:xfrm>
            <a:off x="2800990"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1" name="Round Same Side Corner Rectangle 20"/>
          <p:cNvSpPr/>
          <p:nvPr/>
        </p:nvSpPr>
        <p:spPr>
          <a:xfrm rot="5400000">
            <a:off x="2721254" y="3149193"/>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3247948"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3" name="TextBox 22"/>
          <p:cNvSpPr txBox="1"/>
          <p:nvPr/>
        </p:nvSpPr>
        <p:spPr>
          <a:xfrm>
            <a:off x="548640" y="3895344"/>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On a product page</a:t>
            </a:r>
          </a:p>
        </p:txBody>
      </p:sp>
      <p:sp>
        <p:nvSpPr>
          <p:cNvPr id="24" name="Round Same Side Corner Rectangle 23"/>
          <p:cNvSpPr/>
          <p:nvPr/>
        </p:nvSpPr>
        <p:spPr>
          <a:xfrm rot="5400000">
            <a:off x="2747406" y="3571097"/>
            <a:ext cx="228600" cy="69421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300252"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a:t>
            </a:r>
          </a:p>
        </p:txBody>
      </p:sp>
      <p:sp>
        <p:nvSpPr>
          <p:cNvPr id="26" name="Round Same Side Corner Rectangle 25"/>
          <p:cNvSpPr/>
          <p:nvPr/>
        </p:nvSpPr>
        <p:spPr>
          <a:xfrm rot="5400000">
            <a:off x="2721254" y="3862425"/>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3247948"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8" name="TextBox 27"/>
          <p:cNvSpPr txBox="1"/>
          <p:nvPr/>
        </p:nvSpPr>
        <p:spPr>
          <a:xfrm>
            <a:off x="548640" y="4608575"/>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In the cart</a:t>
            </a:r>
          </a:p>
        </p:txBody>
      </p:sp>
      <p:sp>
        <p:nvSpPr>
          <p:cNvPr id="29" name="Rectangle 28"/>
          <p:cNvSpPr/>
          <p:nvPr/>
        </p:nvSpPr>
        <p:spPr>
          <a:xfrm>
            <a:off x="2514600" y="4517136"/>
            <a:ext cx="80832" cy="228600"/>
          </a:xfrm>
          <a:prstGeom prst="rect">
            <a:avLst/>
          </a:prstGeom>
          <a:solidFill>
            <a:srgbClr val="B7C1CC"/>
          </a:solidFill>
          <a:ln>
            <a:noFill/>
          </a:ln>
        </p:spPr>
        <p:txBody>
          <a:bodyPr rtlCol="0" anchor="ctr"/>
          <a:lstStyle/>
          <a:p>
            <a:pPr algn="ctr"/>
          </a:p>
        </p:txBody>
      </p:sp>
      <p:sp>
        <p:nvSpPr>
          <p:cNvPr id="30" name="TextBox 29"/>
          <p:cNvSpPr txBox="1"/>
          <p:nvPr/>
        </p:nvSpPr>
        <p:spPr>
          <a:xfrm>
            <a:off x="2686872"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a:t>
            </a:r>
          </a:p>
        </p:txBody>
      </p:sp>
      <p:sp>
        <p:nvSpPr>
          <p:cNvPr id="31" name="Round Same Side Corner Rectangle 30"/>
          <p:cNvSpPr/>
          <p:nvPr/>
        </p:nvSpPr>
        <p:spPr>
          <a:xfrm rot="5400000">
            <a:off x="2806842" y="4490069"/>
            <a:ext cx="228600" cy="813084"/>
          </a:xfrm>
          <a:prstGeom prst="round2SameRect">
            <a:avLst>
              <a:gd name="adj1" fmla="val 14000"/>
              <a:gd name="adj2" fmla="val 0"/>
            </a:avLst>
          </a:prstGeom>
          <a:solidFill>
            <a:srgbClr val="FF9438"/>
          </a:solidFill>
          <a:ln>
            <a:noFill/>
          </a:ln>
        </p:spPr>
        <p:txBody>
          <a:bodyPr rtlCol="0" anchor="ctr"/>
          <a:lstStyle/>
          <a:p>
            <a:pPr algn="ctr"/>
          </a:p>
        </p:txBody>
      </p:sp>
      <p:sp>
        <p:nvSpPr>
          <p:cNvPr id="32" name="TextBox 31"/>
          <p:cNvSpPr txBox="1"/>
          <p:nvPr/>
        </p:nvSpPr>
        <p:spPr>
          <a:xfrm>
            <a:off x="3419124"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17%</a:t>
            </a:r>
          </a:p>
        </p:txBody>
      </p:sp>
      <p:sp>
        <p:nvSpPr>
          <p:cNvPr id="33" name="TextBox 32"/>
          <p:cNvSpPr txBox="1"/>
          <p:nvPr/>
        </p:nvSpPr>
        <p:spPr>
          <a:xfrm>
            <a:off x="548640" y="5321808"/>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a:t>
            </a:r>
          </a:p>
        </p:txBody>
      </p:sp>
      <p:sp>
        <p:nvSpPr>
          <p:cNvPr id="34" name="Rectangle 33"/>
          <p:cNvSpPr/>
          <p:nvPr/>
        </p:nvSpPr>
        <p:spPr>
          <a:xfrm>
            <a:off x="2514600" y="5230368"/>
            <a:ext cx="66568" cy="228600"/>
          </a:xfrm>
          <a:prstGeom prst="rect">
            <a:avLst/>
          </a:prstGeom>
          <a:solidFill>
            <a:srgbClr val="B7C1CC"/>
          </a:solidFill>
          <a:ln>
            <a:noFill/>
          </a:ln>
        </p:spPr>
        <p:txBody>
          <a:bodyPr rtlCol="0" anchor="ctr"/>
          <a:lstStyle/>
          <a:p>
            <a:pPr algn="ctr"/>
          </a:p>
        </p:txBody>
      </p:sp>
      <p:sp>
        <p:nvSpPr>
          <p:cNvPr id="35" name="TextBox 34"/>
          <p:cNvSpPr txBox="1"/>
          <p:nvPr/>
        </p:nvSpPr>
        <p:spPr>
          <a:xfrm>
            <a:off x="267260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a:t>
            </a:r>
          </a:p>
        </p:txBody>
      </p:sp>
      <p:sp>
        <p:nvSpPr>
          <p:cNvPr id="36" name="Round Same Side Corner Rectangle 35"/>
          <p:cNvSpPr/>
          <p:nvPr/>
        </p:nvSpPr>
        <p:spPr>
          <a:xfrm rot="5400000">
            <a:off x="2999414" y="5010729"/>
            <a:ext cx="228600" cy="1198229"/>
          </a:xfrm>
          <a:prstGeom prst="round2SameRect">
            <a:avLst>
              <a:gd name="adj1" fmla="val 14000"/>
              <a:gd name="adj2" fmla="val 0"/>
            </a:avLst>
          </a:prstGeom>
          <a:solidFill>
            <a:srgbClr val="FF9438"/>
          </a:solidFill>
          <a:ln>
            <a:noFill/>
          </a:ln>
        </p:spPr>
        <p:txBody>
          <a:bodyPr rtlCol="0" anchor="ctr"/>
          <a:lstStyle/>
          <a:p>
            <a:pPr algn="ctr"/>
          </a:p>
        </p:txBody>
      </p:sp>
      <p:sp>
        <p:nvSpPr>
          <p:cNvPr id="37" name="TextBox 36"/>
          <p:cNvSpPr txBox="1"/>
          <p:nvPr/>
        </p:nvSpPr>
        <p:spPr>
          <a:xfrm>
            <a:off x="380426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25%</a:t>
            </a:r>
          </a:p>
        </p:txBody>
      </p:sp>
      <p:cxnSp>
        <p:nvCxnSpPr>
          <p:cNvPr id="38" name="Connector 37"/>
          <p:cNvCxnSpPr/>
          <p:nvPr/>
        </p:nvCxnSpPr>
        <p:spPr>
          <a:xfrm>
            <a:off x="2514600" y="2267712"/>
            <a:ext cx="0" cy="3529584"/>
          </a:xfrm>
          <a:prstGeom prst="line">
            <a:avLst/>
          </a:prstGeom>
          <a:ln w="9525">
            <a:solidFill>
              <a:srgbClr val="1E2833"/>
            </a:solidFill>
          </a:ln>
        </p:spPr>
      </p:cxnSp>
      <p:sp>
        <p:nvSpPr>
          <p:cNvPr id="39" name="Rectangle 38"/>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0" name="Oval 3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1" name="TextBox 4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Conversion of the click</a:t>
            </a:r>
          </a:p>
        </p:txBody>
      </p:sp>
      <p:sp>
        <p:nvSpPr>
          <p:cNvPr id="42" name="TextBox 4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31% vs 0.7%</a:t>
            </a:r>
          </a:p>
        </p:txBody>
      </p:sp>
      <p:sp>
        <p:nvSpPr>
          <p:cNvPr id="43" name="TextBox 4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 vs starting the visit</a:t>
            </a:r>
          </a:p>
        </p:txBody>
      </p:sp>
      <p:sp>
        <p:nvSpPr>
          <p:cNvPr id="44" name="TextBox 43"/>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and slide 7 finds no sign it adds orders</a:t>
            </a:r>
          </a:p>
        </p:txBody>
      </p:sp>
      <p:sp>
        <p:nvSpPr>
          <p:cNvPr id="45" name="TextBox 4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a program</a:t>
            </a:r>
          </a:p>
        </p:txBody>
      </p:sp>
      <p:sp>
        <p:nvSpPr>
          <p:cNvPr id="46" name="Oval 4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47" name="TextBox 4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Pay on the stage the click arrived at</a:t>
            </a:r>
          </a:p>
        </p:txBody>
      </p:sp>
      <p:sp>
        <p:nvSpPr>
          <p:cNvPr id="48" name="Oval 4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49" name="TextBox 4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Lock credit once a cart exists</a:t>
            </a:r>
          </a:p>
        </p:txBody>
      </p:sp>
      <p:sp>
        <p:nvSpPr>
          <p:cNvPr id="50" name="Oval 4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1" name="TextBox 5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Report the funnel stage per publisher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 · 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16</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17</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18</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